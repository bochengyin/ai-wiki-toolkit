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2" r:id="rId7"/>
    <p:sldId id="265" r:id="rId8"/>
    <p:sldId id="267" r:id="rId9"/>
    <p:sldId id="266" r:id="rId10"/>
    <p:sldId id="268" r:id="rId11"/>
    <p:sldId id="269" r:id="rId12"/>
    <p:sldId id="263"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15"/>
    <p:restoredTop sz="94654"/>
  </p:normalViewPr>
  <p:slideViewPr>
    <p:cSldViewPr snapToGrid="0">
      <p:cViewPr varScale="1">
        <p:scale>
          <a:sx n="136" d="100"/>
          <a:sy n="136" d="100"/>
        </p:scale>
        <p:origin x="45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am sure you have seen your agents have experienced some trial and error and then figure it out how it works. The initial goal of this tool is trying to accumulate the lessons it learns and don’t trail and error next time.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It could write back the memory as skills, constrains, workflow, etc…</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4F8FD-4CDB-927D-AA85-9269C0E20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B08A2-2663-A9F3-A290-D126292E1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77D52-B00A-DAA3-B785-D18DA925F66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55166D0-E408-461F-01BC-BC3477219AF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845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2935D-5EA8-12C6-7F45-FD7B828B8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4A040-ACE8-FEAE-ACAC-7FDB8E27E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AE9F67-7ED3-BB3E-6C10-231B570F15A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6381771-9FCF-0A3B-BBE0-06306D505C9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62323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8D63-EAFE-8F1C-4DC9-24671E4C4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A5D7-58D6-5B64-D5C0-439BB6EE3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D5AA7-B26A-2C1E-D822-EC688F21134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232FAA1-D06A-A7E9-00F4-5B263F8F5B2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52201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B7DA1-2CB8-38CF-C153-5D6E65D8F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C5875-26D8-5786-620A-82A583B2D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6EAB0-CDD6-FE8A-AA08-1EA65E80368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3276B83-7CB2-44FB-6401-000A0838DAC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03640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4B04-F2D6-E65E-455D-E0153B8C6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B4E39-1D5E-38D4-D6CA-AFDD7A8D6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31663-650E-ED6B-7556-E32D8816C80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1BC1B81E-9DBF-3D8F-C208-4D65F0BCE6B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72249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D1ADEEA8-C388-4770-AE4E-BC7D92E870CB}"/>
              </a:ext>
            </a:extLst>
          </p:cNvPr>
          <p:cNvSpPr>
            <a:spLocks noGrp="1"/>
          </p:cNvSpPr>
          <p:nvPr/>
        </p:nvSpPr>
        <p:spPr>
          <a:xfrm>
            <a:off x="0" y="0"/>
            <a:ext cx="12192000" cy="6858000"/>
          </a:xfrm>
          <a:prstGeom prst="rect">
            <a:avLst/>
          </a:prstGeom>
          <a:solidFill>
            <a:srgbClr val="101820"/>
          </a:solidFill>
          <a:ln w="0">
            <a:solidFill>
              <a:srgbClr val="101820"/>
            </a:solidFill>
            <a:prstDash val="solid"/>
          </a:ln>
        </p:spPr>
        <p:txBody>
          <a:bodyPr/>
          <a:lstStyle/>
          <a:p>
            <a:endParaRPr lang="en-US"/>
          </a:p>
        </p:txBody>
      </p:sp>
      <p:sp>
        <p:nvSpPr>
          <p:cNvPr id="2" name="Rectangle 1">
            <a:extLst>
              <a:ext uri="{FF2B5EF4-FFF2-40B4-BE49-F238E27FC236}">
                <a16:creationId xmlns:a16="http://schemas.microsoft.com/office/drawing/2014/main" id="{988FF4AF-3379-4EB3-9DFC-34F8EA32E2BA}"/>
              </a:ext>
            </a:extLst>
          </p:cNvPr>
          <p:cNvSpPr>
            <a:spLocks noGrp="1"/>
          </p:cNvSpPr>
          <p:nvPr/>
        </p:nvSpPr>
        <p:spPr>
          <a:xfrm>
            <a:off x="0" y="0"/>
            <a:ext cx="12192000" cy="6858000"/>
          </a:xfrm>
          <a:prstGeom prst="rect">
            <a:avLst/>
          </a:prstGeom>
          <a:solidFill>
            <a:srgbClr val="101820"/>
          </a:solidFill>
          <a:ln w="0">
            <a:solidFill>
              <a:srgbClr val="101820"/>
            </a:solidFill>
            <a:prstDash val="solid"/>
          </a:ln>
        </p:spPr>
        <p:txBody>
          <a:bodyPr/>
          <a:lstStyle/>
          <a:p>
            <a:endParaRPr lang="en-US"/>
          </a:p>
        </p:txBody>
      </p:sp>
      <p:sp>
        <p:nvSpPr>
          <p:cNvPr id="3" name="Rectangle 2">
            <a:extLst>
              <a:ext uri="{FF2B5EF4-FFF2-40B4-BE49-F238E27FC236}">
                <a16:creationId xmlns:a16="http://schemas.microsoft.com/office/drawing/2014/main" id="{3E8110C5-5EF4-4606-9A33-CC28A5EF0327}"/>
              </a:ext>
            </a:extLst>
          </p:cNvPr>
          <p:cNvSpPr>
            <a:spLocks noGrp="1"/>
          </p:cNvSpPr>
          <p:nvPr/>
        </p:nvSpPr>
        <p:spPr>
          <a:xfrm>
            <a:off x="552450" y="495300"/>
            <a:ext cx="47625" cy="514350"/>
          </a:xfrm>
          <a:prstGeom prst="rect">
            <a:avLst/>
          </a:prstGeom>
          <a:solidFill>
            <a:srgbClr val="C75C2C"/>
          </a:solidFill>
          <a:ln w="0">
            <a:solidFill>
              <a:srgbClr val="C75C2C"/>
            </a:solidFill>
            <a:prstDash val="solid"/>
          </a:ln>
        </p:spPr>
        <p:txBody>
          <a:bodyPr/>
          <a:lstStyle/>
          <a:p>
            <a:endParaRPr lang="en-US"/>
          </a:p>
        </p:txBody>
      </p:sp>
      <p:sp>
        <p:nvSpPr>
          <p:cNvPr id="4" name="Rectangle 3">
            <a:extLst>
              <a:ext uri="{FF2B5EF4-FFF2-40B4-BE49-F238E27FC236}">
                <a16:creationId xmlns:a16="http://schemas.microsoft.com/office/drawing/2014/main" id="{08C5E07E-E93D-4FC4-B0BB-BA912E8A7035}"/>
              </a:ext>
            </a:extLst>
          </p:cNvPr>
          <p:cNvSpPr>
            <a:spLocks noGrp="1"/>
          </p:cNvSpPr>
          <p:nvPr/>
        </p:nvSpPr>
        <p:spPr>
          <a:xfrm>
            <a:off x="742950" y="514350"/>
            <a:ext cx="3238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B8C5C8"/>
                </a:solidFill>
                <a:latin typeface="Aptos"/>
                <a:ea typeface="Aptos"/>
                <a:cs typeface="Aptos"/>
              </a:defRPr>
            </a:pPr>
            <a:r>
              <a:rPr sz="713" b="1">
                <a:solidFill>
                  <a:srgbClr val="B8C5C8"/>
                </a:solidFill>
                <a:latin typeface="Aptos"/>
                <a:ea typeface="Aptos"/>
                <a:cs typeface="Aptos"/>
              </a:rPr>
              <a:t>PROJECT SHOWCASE WORKSHOP</a:t>
            </a:r>
          </a:p>
        </p:txBody>
      </p:sp>
      <p:sp>
        <p:nvSpPr>
          <p:cNvPr id="5" name="Rectangle 4">
            <a:extLst>
              <a:ext uri="{FF2B5EF4-FFF2-40B4-BE49-F238E27FC236}">
                <a16:creationId xmlns:a16="http://schemas.microsoft.com/office/drawing/2014/main" id="{27CC4D32-AC3F-4834-9CF1-BCFA36C755CE}"/>
              </a:ext>
            </a:extLst>
          </p:cNvPr>
          <p:cNvSpPr>
            <a:spLocks noGrp="1"/>
          </p:cNvSpPr>
          <p:nvPr/>
        </p:nvSpPr>
        <p:spPr>
          <a:xfrm>
            <a:off x="742950" y="781050"/>
            <a:ext cx="238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DCE6E4"/>
                </a:solidFill>
                <a:latin typeface="Aptos"/>
                <a:ea typeface="Aptos"/>
                <a:cs typeface="Aptos"/>
              </a:defRPr>
            </a:pPr>
            <a:r>
              <a:rPr sz="825" b="1">
                <a:solidFill>
                  <a:srgbClr val="DCE6E4"/>
                </a:solidFill>
                <a:latin typeface="Aptos"/>
                <a:ea typeface="Aptos"/>
                <a:cs typeface="Aptos"/>
              </a:rPr>
              <a:t>ai-wiki-toolkit</a:t>
            </a:r>
          </a:p>
        </p:txBody>
      </p:sp>
      <p:sp>
        <p:nvSpPr>
          <p:cNvPr id="6" name="Rectangle 5">
            <a:extLst>
              <a:ext uri="{FF2B5EF4-FFF2-40B4-BE49-F238E27FC236}">
                <a16:creationId xmlns:a16="http://schemas.microsoft.com/office/drawing/2014/main" id="{ABAB6943-83DE-4D93-9415-41C135BB7CC1}"/>
              </a:ext>
            </a:extLst>
          </p:cNvPr>
          <p:cNvSpPr>
            <a:spLocks noGrp="1"/>
          </p:cNvSpPr>
          <p:nvPr/>
        </p:nvSpPr>
        <p:spPr>
          <a:xfrm>
            <a:off x="552450" y="1695450"/>
            <a:ext cx="7239000" cy="1600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750" b="1">
                <a:solidFill>
                  <a:srgbClr val="FFFFFF"/>
                </a:solidFill>
                <a:latin typeface="Aptos Display"/>
                <a:ea typeface="Aptos Display"/>
                <a:cs typeface="Aptos Display"/>
              </a:defRPr>
            </a:pPr>
            <a:r>
              <a:rPr sz="3750" b="1" dirty="0">
                <a:solidFill>
                  <a:srgbClr val="FFFFFF"/>
                </a:solidFill>
                <a:latin typeface="Aptos Display"/>
                <a:ea typeface="Aptos Display"/>
                <a:cs typeface="Aptos Display"/>
              </a:rPr>
              <a:t>Agents do not need more prompts. They need a memory flywheel.</a:t>
            </a:r>
          </a:p>
        </p:txBody>
      </p:sp>
      <p:sp>
        <p:nvSpPr>
          <p:cNvPr id="7" name="Rectangle 6">
            <a:extLst>
              <a:ext uri="{FF2B5EF4-FFF2-40B4-BE49-F238E27FC236}">
                <a16:creationId xmlns:a16="http://schemas.microsoft.com/office/drawing/2014/main" id="{DFE49F1C-C56D-48F8-B478-5013453F52A6}"/>
              </a:ext>
            </a:extLst>
          </p:cNvPr>
          <p:cNvSpPr>
            <a:spLocks noGrp="1"/>
          </p:cNvSpPr>
          <p:nvPr/>
        </p:nvSpPr>
        <p:spPr>
          <a:xfrm>
            <a:off x="590550" y="3676650"/>
            <a:ext cx="5715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B8C5C8"/>
                </a:solidFill>
                <a:latin typeface="Aptos"/>
                <a:ea typeface="Aptos"/>
                <a:cs typeface="Aptos"/>
              </a:defRPr>
            </a:pPr>
            <a:r>
              <a:rPr sz="1200" b="0">
                <a:solidFill>
                  <a:srgbClr val="B8C5C8"/>
                </a:solidFill>
                <a:latin typeface="Aptos"/>
                <a:ea typeface="Aptos"/>
                <a:cs typeface="Aptos"/>
              </a:rPr>
              <a:t>A repo-native memory harness that lets coding agents reuse project context, preserve review learning, and write back durable lessons after each task.</a:t>
            </a:r>
          </a:p>
        </p:txBody>
      </p:sp>
      <p:sp>
        <p:nvSpPr>
          <p:cNvPr id="8" name="Rectangle 7">
            <a:extLst>
              <a:ext uri="{FF2B5EF4-FFF2-40B4-BE49-F238E27FC236}">
                <a16:creationId xmlns:a16="http://schemas.microsoft.com/office/drawing/2014/main" id="{511D80D1-C878-4572-9620-A226B7525ADE}"/>
              </a:ext>
            </a:extLst>
          </p:cNvPr>
          <p:cNvSpPr>
            <a:spLocks noGrp="1"/>
          </p:cNvSpPr>
          <p:nvPr/>
        </p:nvSpPr>
        <p:spPr>
          <a:xfrm>
            <a:off x="7639050" y="1409700"/>
            <a:ext cx="3028950" cy="3028950"/>
          </a:xfrm>
          <a:prstGeom prst="rect">
            <a:avLst/>
          </a:prstGeom>
          <a:solidFill>
            <a:srgbClr val="13242B"/>
          </a:solidFill>
          <a:ln w="9525">
            <a:solidFill>
              <a:srgbClr val="405159"/>
            </a:solidFill>
            <a:prstDash val="solid"/>
          </a:ln>
        </p:spPr>
        <p:txBody>
          <a:bodyPr/>
          <a:lstStyle/>
          <a:p>
            <a:endParaRPr lang="en-US"/>
          </a:p>
        </p:txBody>
      </p:sp>
      <p:sp>
        <p:nvSpPr>
          <p:cNvPr id="9" name="Rectangle 8">
            <a:extLst>
              <a:ext uri="{FF2B5EF4-FFF2-40B4-BE49-F238E27FC236}">
                <a16:creationId xmlns:a16="http://schemas.microsoft.com/office/drawing/2014/main" id="{C716A655-5ACF-4A26-841D-413F367BF2AF}"/>
              </a:ext>
            </a:extLst>
          </p:cNvPr>
          <p:cNvSpPr>
            <a:spLocks noGrp="1"/>
          </p:cNvSpPr>
          <p:nvPr/>
        </p:nvSpPr>
        <p:spPr>
          <a:xfrm>
            <a:off x="7962900" y="2247900"/>
            <a:ext cx="2381250" cy="19050"/>
          </a:xfrm>
          <a:prstGeom prst="rect">
            <a:avLst/>
          </a:prstGeom>
          <a:solidFill>
            <a:srgbClr val="1E7E78"/>
          </a:solidFill>
          <a:ln w="0">
            <a:solidFill>
              <a:srgbClr val="1E7E78"/>
            </a:solidFill>
            <a:prstDash val="solid"/>
          </a:ln>
        </p:spPr>
        <p:txBody>
          <a:bodyPr/>
          <a:lstStyle/>
          <a:p>
            <a:endParaRPr lang="en-US"/>
          </a:p>
        </p:txBody>
      </p:sp>
      <p:sp>
        <p:nvSpPr>
          <p:cNvPr id="10" name="Rectangle 9">
            <a:extLst>
              <a:ext uri="{FF2B5EF4-FFF2-40B4-BE49-F238E27FC236}">
                <a16:creationId xmlns:a16="http://schemas.microsoft.com/office/drawing/2014/main" id="{95F4EBE6-5C4F-4F75-97DF-4BB8DF0DC8ED}"/>
              </a:ext>
            </a:extLst>
          </p:cNvPr>
          <p:cNvSpPr>
            <a:spLocks noGrp="1"/>
          </p:cNvSpPr>
          <p:nvPr/>
        </p:nvSpPr>
        <p:spPr>
          <a:xfrm>
            <a:off x="7962900" y="3162300"/>
            <a:ext cx="2381250" cy="19050"/>
          </a:xfrm>
          <a:prstGeom prst="rect">
            <a:avLst/>
          </a:prstGeom>
          <a:solidFill>
            <a:srgbClr val="C9A227"/>
          </a:solidFill>
          <a:ln w="0">
            <a:solidFill>
              <a:srgbClr val="C9A227"/>
            </a:solidFill>
            <a:prstDash val="solid"/>
          </a:ln>
        </p:spPr>
        <p:txBody>
          <a:bodyPr/>
          <a:lstStyle/>
          <a:p>
            <a:endParaRPr lang="en-US"/>
          </a:p>
        </p:txBody>
      </p:sp>
      <p:sp>
        <p:nvSpPr>
          <p:cNvPr id="11" name="Rectangle 10">
            <a:extLst>
              <a:ext uri="{FF2B5EF4-FFF2-40B4-BE49-F238E27FC236}">
                <a16:creationId xmlns:a16="http://schemas.microsoft.com/office/drawing/2014/main" id="{CCDC0986-B986-4CEE-A0D4-214C4D510DA2}"/>
              </a:ext>
            </a:extLst>
          </p:cNvPr>
          <p:cNvSpPr>
            <a:spLocks noGrp="1"/>
          </p:cNvSpPr>
          <p:nvPr/>
        </p:nvSpPr>
        <p:spPr>
          <a:xfrm>
            <a:off x="8724900" y="1790700"/>
            <a:ext cx="9525" cy="2114550"/>
          </a:xfrm>
          <a:prstGeom prst="rect">
            <a:avLst/>
          </a:prstGeom>
          <a:solidFill>
            <a:srgbClr val="405159"/>
          </a:solidFill>
          <a:ln w="0">
            <a:solidFill>
              <a:srgbClr val="405159"/>
            </a:solidFill>
            <a:prstDash val="solid"/>
          </a:ln>
        </p:spPr>
        <p:txBody>
          <a:bodyPr/>
          <a:lstStyle/>
          <a:p>
            <a:endParaRPr lang="en-US"/>
          </a:p>
        </p:txBody>
      </p:sp>
      <p:sp>
        <p:nvSpPr>
          <p:cNvPr id="12" name="Rectangle 11">
            <a:extLst>
              <a:ext uri="{FF2B5EF4-FFF2-40B4-BE49-F238E27FC236}">
                <a16:creationId xmlns:a16="http://schemas.microsoft.com/office/drawing/2014/main" id="{EB6090FA-903E-484E-84E9-C20FC98D9045}"/>
              </a:ext>
            </a:extLst>
          </p:cNvPr>
          <p:cNvSpPr>
            <a:spLocks noGrp="1"/>
          </p:cNvSpPr>
          <p:nvPr/>
        </p:nvSpPr>
        <p:spPr>
          <a:xfrm>
            <a:off x="9544050" y="1790700"/>
            <a:ext cx="9525" cy="2114550"/>
          </a:xfrm>
          <a:prstGeom prst="rect">
            <a:avLst/>
          </a:prstGeom>
          <a:solidFill>
            <a:srgbClr val="405159"/>
          </a:solidFill>
          <a:ln w="0">
            <a:solidFill>
              <a:srgbClr val="405159"/>
            </a:solidFill>
            <a:prstDash val="solid"/>
          </a:ln>
        </p:spPr>
        <p:txBody>
          <a:bodyPr/>
          <a:lstStyle/>
          <a:p>
            <a:endParaRPr lang="en-US"/>
          </a:p>
        </p:txBody>
      </p:sp>
      <p:sp>
        <p:nvSpPr>
          <p:cNvPr id="13" name="Rectangle 12">
            <a:extLst>
              <a:ext uri="{FF2B5EF4-FFF2-40B4-BE49-F238E27FC236}">
                <a16:creationId xmlns:a16="http://schemas.microsoft.com/office/drawing/2014/main" id="{407185A8-B57B-4B18-AA02-03D0FB8EEBBD}"/>
              </a:ext>
            </a:extLst>
          </p:cNvPr>
          <p:cNvSpPr>
            <a:spLocks noGrp="1"/>
          </p:cNvSpPr>
          <p:nvPr/>
        </p:nvSpPr>
        <p:spPr>
          <a:xfrm>
            <a:off x="7810500" y="1676400"/>
            <a:ext cx="895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FFFF"/>
                </a:solidFill>
                <a:latin typeface="Aptos"/>
                <a:ea typeface="Aptos"/>
                <a:cs typeface="Aptos"/>
              </a:defRPr>
            </a:pPr>
            <a:r>
              <a:rPr sz="900" b="1">
                <a:solidFill>
                  <a:srgbClr val="FFFFFF"/>
                </a:solidFill>
                <a:latin typeface="Aptos"/>
                <a:ea typeface="Aptos"/>
                <a:cs typeface="Aptos"/>
              </a:rPr>
              <a:t>install</a:t>
            </a:r>
          </a:p>
        </p:txBody>
      </p:sp>
      <p:sp>
        <p:nvSpPr>
          <p:cNvPr id="14" name="Rectangle 13">
            <a:extLst>
              <a:ext uri="{FF2B5EF4-FFF2-40B4-BE49-F238E27FC236}">
                <a16:creationId xmlns:a16="http://schemas.microsoft.com/office/drawing/2014/main" id="{6EBC6930-06A4-4057-A209-28498E903F5F}"/>
              </a:ext>
            </a:extLst>
          </p:cNvPr>
          <p:cNvSpPr>
            <a:spLocks noGrp="1"/>
          </p:cNvSpPr>
          <p:nvPr/>
        </p:nvSpPr>
        <p:spPr>
          <a:xfrm>
            <a:off x="8705850" y="1676400"/>
            <a:ext cx="800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FFFF"/>
                </a:solidFill>
                <a:latin typeface="Aptos"/>
                <a:ea typeface="Aptos"/>
                <a:cs typeface="Aptos"/>
              </a:defRPr>
            </a:pPr>
            <a:r>
              <a:rPr sz="900" b="1">
                <a:solidFill>
                  <a:srgbClr val="FFFFFF"/>
                </a:solidFill>
                <a:latin typeface="Aptos"/>
                <a:ea typeface="Aptos"/>
                <a:cs typeface="Aptos"/>
              </a:rPr>
              <a:t>route</a:t>
            </a:r>
          </a:p>
        </p:txBody>
      </p:sp>
      <p:sp>
        <p:nvSpPr>
          <p:cNvPr id="15" name="Rectangle 14">
            <a:extLst>
              <a:ext uri="{FF2B5EF4-FFF2-40B4-BE49-F238E27FC236}">
                <a16:creationId xmlns:a16="http://schemas.microsoft.com/office/drawing/2014/main" id="{0DAFE590-4AA5-4915-840F-C9E1DCBE8D68}"/>
              </a:ext>
            </a:extLst>
          </p:cNvPr>
          <p:cNvSpPr>
            <a:spLocks noGrp="1"/>
          </p:cNvSpPr>
          <p:nvPr/>
        </p:nvSpPr>
        <p:spPr>
          <a:xfrm>
            <a:off x="9582150" y="1676400"/>
            <a:ext cx="895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FFFF"/>
                </a:solidFill>
                <a:latin typeface="Aptos"/>
                <a:ea typeface="Aptos"/>
                <a:cs typeface="Aptos"/>
              </a:defRPr>
            </a:pPr>
            <a:r>
              <a:rPr sz="900" b="1">
                <a:solidFill>
                  <a:srgbClr val="FFFFFF"/>
                </a:solidFill>
                <a:latin typeface="Aptos"/>
                <a:ea typeface="Aptos"/>
                <a:cs typeface="Aptos"/>
              </a:rPr>
              <a:t>reuse</a:t>
            </a:r>
          </a:p>
        </p:txBody>
      </p:sp>
      <p:sp>
        <p:nvSpPr>
          <p:cNvPr id="16" name="Rectangle 15">
            <a:extLst>
              <a:ext uri="{FF2B5EF4-FFF2-40B4-BE49-F238E27FC236}">
                <a16:creationId xmlns:a16="http://schemas.microsoft.com/office/drawing/2014/main" id="{51C020F4-2A6E-4AD2-8FD1-B4A45EEE9D19}"/>
              </a:ext>
            </a:extLst>
          </p:cNvPr>
          <p:cNvSpPr>
            <a:spLocks noGrp="1"/>
          </p:cNvSpPr>
          <p:nvPr/>
        </p:nvSpPr>
        <p:spPr>
          <a:xfrm>
            <a:off x="8305800" y="4057650"/>
            <a:ext cx="1695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FFFF"/>
                </a:solidFill>
                <a:latin typeface="Aptos"/>
                <a:ea typeface="Aptos"/>
                <a:cs typeface="Aptos"/>
              </a:defRPr>
            </a:pPr>
            <a:r>
              <a:rPr sz="900" b="1">
                <a:solidFill>
                  <a:srgbClr val="FFFFFF"/>
                </a:solidFill>
                <a:latin typeface="Aptos"/>
                <a:ea typeface="Aptos"/>
                <a:cs typeface="Aptos"/>
              </a:rPr>
              <a:t>write-back</a:t>
            </a:r>
          </a:p>
        </p:txBody>
      </p:sp>
      <p:sp>
        <p:nvSpPr>
          <p:cNvPr id="17" name="Oval 16">
            <a:extLst>
              <a:ext uri="{FF2B5EF4-FFF2-40B4-BE49-F238E27FC236}">
                <a16:creationId xmlns:a16="http://schemas.microsoft.com/office/drawing/2014/main" id="{4361D1B9-8016-4C54-AA5A-76F5C1C4C1C4}"/>
              </a:ext>
            </a:extLst>
          </p:cNvPr>
          <p:cNvSpPr>
            <a:spLocks noGrp="1"/>
          </p:cNvSpPr>
          <p:nvPr/>
        </p:nvSpPr>
        <p:spPr>
          <a:xfrm>
            <a:off x="8429625" y="2114550"/>
            <a:ext cx="400050" cy="400050"/>
          </a:xfrm>
          <a:prstGeom prst="ellipse">
            <a:avLst/>
          </a:prstGeom>
          <a:solidFill>
            <a:srgbClr val="C75C2C"/>
          </a:solidFill>
          <a:ln w="0">
            <a:solidFill>
              <a:srgbClr val="C75C2C"/>
            </a:solidFill>
            <a:prstDash val="solid"/>
          </a:ln>
        </p:spPr>
        <p:txBody>
          <a:bodyPr/>
          <a:lstStyle/>
          <a:p>
            <a:endParaRPr lang="en-US"/>
          </a:p>
        </p:txBody>
      </p:sp>
      <p:sp>
        <p:nvSpPr>
          <p:cNvPr id="18" name="Oval 17">
            <a:extLst>
              <a:ext uri="{FF2B5EF4-FFF2-40B4-BE49-F238E27FC236}">
                <a16:creationId xmlns:a16="http://schemas.microsoft.com/office/drawing/2014/main" id="{8BF7288F-4E66-490F-8A86-22CF776BB514}"/>
              </a:ext>
            </a:extLst>
          </p:cNvPr>
          <p:cNvSpPr>
            <a:spLocks noGrp="1"/>
          </p:cNvSpPr>
          <p:nvPr/>
        </p:nvSpPr>
        <p:spPr>
          <a:xfrm>
            <a:off x="9248775" y="3028950"/>
            <a:ext cx="400050" cy="400050"/>
          </a:xfrm>
          <a:prstGeom prst="ellipse">
            <a:avLst/>
          </a:prstGeom>
          <a:solidFill>
            <a:srgbClr val="1E7E78"/>
          </a:solidFill>
          <a:ln w="0">
            <a:solidFill>
              <a:srgbClr val="1E7E78"/>
            </a:solidFill>
            <a:prstDash val="solid"/>
          </a:ln>
        </p:spPr>
        <p:txBody>
          <a:bodyPr/>
          <a:lstStyle/>
          <a:p>
            <a:endParaRPr lang="en-US"/>
          </a:p>
        </p:txBody>
      </p:sp>
      <p:sp>
        <p:nvSpPr>
          <p:cNvPr id="19" name="Oval 18">
            <a:extLst>
              <a:ext uri="{FF2B5EF4-FFF2-40B4-BE49-F238E27FC236}">
                <a16:creationId xmlns:a16="http://schemas.microsoft.com/office/drawing/2014/main" id="{3EDC9B3F-D855-428F-95E5-B7B446F7E947}"/>
              </a:ext>
            </a:extLst>
          </p:cNvPr>
          <p:cNvSpPr>
            <a:spLocks noGrp="1"/>
          </p:cNvSpPr>
          <p:nvPr/>
        </p:nvSpPr>
        <p:spPr>
          <a:xfrm>
            <a:off x="8839200" y="2552700"/>
            <a:ext cx="400050" cy="400050"/>
          </a:xfrm>
          <a:prstGeom prst="ellipse">
            <a:avLst/>
          </a:prstGeom>
          <a:solidFill>
            <a:srgbClr val="C9A227"/>
          </a:solidFill>
          <a:ln w="0">
            <a:solidFill>
              <a:srgbClr val="C9A227"/>
            </a:solidFill>
            <a:prstDash val="solid"/>
          </a:ln>
        </p:spPr>
        <p:txBody>
          <a:bodyPr/>
          <a:lstStyle/>
          <a:p>
            <a:endParaRPr lang="en-US"/>
          </a:p>
        </p:txBody>
      </p:sp>
      <p:sp>
        <p:nvSpPr>
          <p:cNvPr id="20" name="Rectangle 19">
            <a:extLst>
              <a:ext uri="{FF2B5EF4-FFF2-40B4-BE49-F238E27FC236}">
                <a16:creationId xmlns:a16="http://schemas.microsoft.com/office/drawing/2014/main" id="{C22FAC0A-C6BF-4096-9969-041F3D937E43}"/>
              </a:ext>
            </a:extLst>
          </p:cNvPr>
          <p:cNvSpPr>
            <a:spLocks noGrp="1"/>
          </p:cNvSpPr>
          <p:nvPr/>
        </p:nvSpPr>
        <p:spPr>
          <a:xfrm>
            <a:off x="8420100" y="2667000"/>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EAF2EF"/>
                </a:solidFill>
                <a:latin typeface="Aptos"/>
                <a:ea typeface="Aptos"/>
                <a:cs typeface="Aptos"/>
              </a:defRPr>
            </a:pPr>
            <a:r>
              <a:rPr sz="975" b="1">
                <a:solidFill>
                  <a:srgbClr val="EAF2EF"/>
                </a:solidFill>
                <a:latin typeface="Aptos"/>
                <a:ea typeface="Aptos"/>
                <a:cs typeface="Aptos"/>
              </a:rPr>
              <a:t>repo memory</a:t>
            </a:r>
          </a:p>
        </p:txBody>
      </p:sp>
      <p:sp>
        <p:nvSpPr>
          <p:cNvPr id="21" name="Rectangle 20">
            <a:extLst>
              <a:ext uri="{FF2B5EF4-FFF2-40B4-BE49-F238E27FC236}">
                <a16:creationId xmlns:a16="http://schemas.microsoft.com/office/drawing/2014/main" id="{E14E5A58-3906-4EFB-BD91-82707ECC069B}"/>
              </a:ext>
            </a:extLst>
          </p:cNvPr>
          <p:cNvSpPr>
            <a:spLocks noGrp="1"/>
          </p:cNvSpPr>
          <p:nvPr/>
        </p:nvSpPr>
        <p:spPr>
          <a:xfrm>
            <a:off x="552450" y="4857750"/>
            <a:ext cx="10096500" cy="9525"/>
          </a:xfrm>
          <a:prstGeom prst="rect">
            <a:avLst/>
          </a:prstGeom>
          <a:solidFill>
            <a:srgbClr val="405159"/>
          </a:solidFill>
          <a:ln w="0">
            <a:solidFill>
              <a:srgbClr val="405159"/>
            </a:solidFill>
            <a:prstDash val="solid"/>
          </a:ln>
        </p:spPr>
        <p:txBody>
          <a:bodyPr/>
          <a:lstStyle/>
          <a:p>
            <a:endParaRPr lang="en-US"/>
          </a:p>
        </p:txBody>
      </p:sp>
      <p:sp>
        <p:nvSpPr>
          <p:cNvPr id="22" name="Rectangle 21">
            <a:extLst>
              <a:ext uri="{FF2B5EF4-FFF2-40B4-BE49-F238E27FC236}">
                <a16:creationId xmlns:a16="http://schemas.microsoft.com/office/drawing/2014/main" id="{2B1D83B2-40A0-4F76-B1F4-4EB7C4138245}"/>
              </a:ext>
            </a:extLst>
          </p:cNvPr>
          <p:cNvSpPr>
            <a:spLocks noGrp="1"/>
          </p:cNvSpPr>
          <p:nvPr/>
        </p:nvSpPr>
        <p:spPr>
          <a:xfrm>
            <a:off x="590550" y="5105400"/>
            <a:ext cx="400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C75C2C"/>
                </a:solidFill>
                <a:latin typeface="Aptos Display"/>
                <a:ea typeface="Aptos Display"/>
                <a:cs typeface="Aptos Display"/>
              </a:defRPr>
            </a:pPr>
            <a:r>
              <a:rPr sz="1800" b="1">
                <a:solidFill>
                  <a:srgbClr val="C75C2C"/>
                </a:solidFill>
                <a:latin typeface="Aptos Display"/>
                <a:ea typeface="Aptos Display"/>
                <a:cs typeface="Aptos Display"/>
              </a:rPr>
              <a:t>01</a:t>
            </a:r>
          </a:p>
        </p:txBody>
      </p:sp>
      <p:sp>
        <p:nvSpPr>
          <p:cNvPr id="23" name="Rectangle 22">
            <a:extLst>
              <a:ext uri="{FF2B5EF4-FFF2-40B4-BE49-F238E27FC236}">
                <a16:creationId xmlns:a16="http://schemas.microsoft.com/office/drawing/2014/main" id="{AD464F1F-D6F4-4941-BB6D-F2E7E0BFA4D1}"/>
              </a:ext>
            </a:extLst>
          </p:cNvPr>
          <p:cNvSpPr>
            <a:spLocks noGrp="1"/>
          </p:cNvSpPr>
          <p:nvPr/>
        </p:nvSpPr>
        <p:spPr>
          <a:xfrm>
            <a:off x="1104900" y="5105400"/>
            <a:ext cx="1790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FFFF"/>
                </a:solidFill>
                <a:latin typeface="Aptos"/>
                <a:ea typeface="Aptos"/>
                <a:cs typeface="Aptos"/>
              </a:defRPr>
            </a:pPr>
            <a:r>
              <a:rPr sz="825" b="1">
                <a:solidFill>
                  <a:srgbClr val="FFFFFF"/>
                </a:solidFill>
                <a:latin typeface="Aptos"/>
                <a:ea typeface="Aptos"/>
                <a:cs typeface="Aptos"/>
              </a:rPr>
              <a:t>Why it exists</a:t>
            </a:r>
          </a:p>
        </p:txBody>
      </p:sp>
      <p:sp>
        <p:nvSpPr>
          <p:cNvPr id="24" name="Rectangle 23">
            <a:extLst>
              <a:ext uri="{FF2B5EF4-FFF2-40B4-BE49-F238E27FC236}">
                <a16:creationId xmlns:a16="http://schemas.microsoft.com/office/drawing/2014/main" id="{4A0F5776-9B0F-49BB-A308-B514A21FB649}"/>
              </a:ext>
            </a:extLst>
          </p:cNvPr>
          <p:cNvSpPr>
            <a:spLocks noGrp="1"/>
          </p:cNvSpPr>
          <p:nvPr/>
        </p:nvSpPr>
        <p:spPr>
          <a:xfrm>
            <a:off x="1104900" y="5314950"/>
            <a:ext cx="1790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AAB8BB"/>
                </a:solidFill>
                <a:latin typeface="Aptos"/>
                <a:ea typeface="Aptos"/>
                <a:cs typeface="Aptos"/>
              </a:defRPr>
            </a:pPr>
            <a:r>
              <a:rPr sz="675" b="0">
                <a:solidFill>
                  <a:srgbClr val="AAB8BB"/>
                </a:solidFill>
                <a:latin typeface="Aptos"/>
                <a:ea typeface="Aptos"/>
                <a:cs typeface="Aptos"/>
              </a:rPr>
              <a:t>project knowledge stops compounding</a:t>
            </a:r>
          </a:p>
        </p:txBody>
      </p:sp>
      <p:sp>
        <p:nvSpPr>
          <p:cNvPr id="25" name="Rectangle 24">
            <a:extLst>
              <a:ext uri="{FF2B5EF4-FFF2-40B4-BE49-F238E27FC236}">
                <a16:creationId xmlns:a16="http://schemas.microsoft.com/office/drawing/2014/main" id="{4736B02D-12CF-4894-ADEA-113BBC1FEB89}"/>
              </a:ext>
            </a:extLst>
          </p:cNvPr>
          <p:cNvSpPr>
            <a:spLocks noGrp="1"/>
          </p:cNvSpPr>
          <p:nvPr/>
        </p:nvSpPr>
        <p:spPr>
          <a:xfrm>
            <a:off x="3086100" y="5067300"/>
            <a:ext cx="9525" cy="723900"/>
          </a:xfrm>
          <a:prstGeom prst="rect">
            <a:avLst/>
          </a:prstGeom>
          <a:solidFill>
            <a:srgbClr val="405159"/>
          </a:solidFill>
          <a:ln w="0">
            <a:solidFill>
              <a:srgbClr val="405159"/>
            </a:solidFill>
            <a:prstDash val="solid"/>
          </a:ln>
        </p:spPr>
        <p:txBody>
          <a:bodyPr/>
          <a:lstStyle/>
          <a:p>
            <a:endParaRPr lang="en-US"/>
          </a:p>
        </p:txBody>
      </p:sp>
      <p:sp>
        <p:nvSpPr>
          <p:cNvPr id="26" name="Rectangle 25">
            <a:extLst>
              <a:ext uri="{FF2B5EF4-FFF2-40B4-BE49-F238E27FC236}">
                <a16:creationId xmlns:a16="http://schemas.microsoft.com/office/drawing/2014/main" id="{ED451917-A752-46CB-9460-2BF68541B83D}"/>
              </a:ext>
            </a:extLst>
          </p:cNvPr>
          <p:cNvSpPr>
            <a:spLocks noGrp="1"/>
          </p:cNvSpPr>
          <p:nvPr/>
        </p:nvSpPr>
        <p:spPr>
          <a:xfrm>
            <a:off x="3276600" y="5105400"/>
            <a:ext cx="400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E7E78"/>
                </a:solidFill>
                <a:latin typeface="Aptos Display"/>
                <a:ea typeface="Aptos Display"/>
                <a:cs typeface="Aptos Display"/>
              </a:defRPr>
            </a:pPr>
            <a:r>
              <a:rPr sz="1800" b="1">
                <a:solidFill>
                  <a:srgbClr val="1E7E78"/>
                </a:solidFill>
                <a:latin typeface="Aptos Display"/>
                <a:ea typeface="Aptos Display"/>
                <a:cs typeface="Aptos Display"/>
              </a:rPr>
              <a:t>02</a:t>
            </a:r>
          </a:p>
        </p:txBody>
      </p:sp>
      <p:sp>
        <p:nvSpPr>
          <p:cNvPr id="27" name="Rectangle 26">
            <a:extLst>
              <a:ext uri="{FF2B5EF4-FFF2-40B4-BE49-F238E27FC236}">
                <a16:creationId xmlns:a16="http://schemas.microsoft.com/office/drawing/2014/main" id="{291E1C22-E8E0-4FA1-B9D9-2C35428AEEEF}"/>
              </a:ext>
            </a:extLst>
          </p:cNvPr>
          <p:cNvSpPr>
            <a:spLocks noGrp="1"/>
          </p:cNvSpPr>
          <p:nvPr/>
        </p:nvSpPr>
        <p:spPr>
          <a:xfrm>
            <a:off x="3790950" y="5105400"/>
            <a:ext cx="1790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FFFF"/>
                </a:solidFill>
                <a:latin typeface="Aptos"/>
                <a:ea typeface="Aptos"/>
                <a:cs typeface="Aptos"/>
              </a:defRPr>
            </a:pPr>
            <a:r>
              <a:rPr sz="825" b="1">
                <a:solidFill>
                  <a:srgbClr val="FFFFFF"/>
                </a:solidFill>
                <a:latin typeface="Aptos"/>
                <a:ea typeface="Aptos"/>
                <a:cs typeface="Aptos"/>
              </a:rPr>
              <a:t>How it works</a:t>
            </a:r>
          </a:p>
        </p:txBody>
      </p:sp>
      <p:sp>
        <p:nvSpPr>
          <p:cNvPr id="28" name="Rectangle 27">
            <a:extLst>
              <a:ext uri="{FF2B5EF4-FFF2-40B4-BE49-F238E27FC236}">
                <a16:creationId xmlns:a16="http://schemas.microsoft.com/office/drawing/2014/main" id="{CBCE123E-D7FD-482A-AC38-16DCA5CFE667}"/>
              </a:ext>
            </a:extLst>
          </p:cNvPr>
          <p:cNvSpPr>
            <a:spLocks noGrp="1"/>
          </p:cNvSpPr>
          <p:nvPr/>
        </p:nvSpPr>
        <p:spPr>
          <a:xfrm>
            <a:off x="3790950" y="5314950"/>
            <a:ext cx="1790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AAB8BB"/>
                </a:solidFill>
                <a:latin typeface="Aptos"/>
                <a:ea typeface="Aptos"/>
                <a:cs typeface="Aptos"/>
              </a:defRPr>
            </a:pPr>
            <a:r>
              <a:rPr sz="675" b="0">
                <a:solidFill>
                  <a:srgbClr val="AAB8BB"/>
                </a:solidFill>
                <a:latin typeface="Aptos"/>
                <a:ea typeface="Aptos"/>
                <a:cs typeface="Aptos"/>
              </a:rPr>
              <a:t>git-native files plus prompt wiring</a:t>
            </a:r>
          </a:p>
        </p:txBody>
      </p:sp>
      <p:sp>
        <p:nvSpPr>
          <p:cNvPr id="29" name="Rectangle 28">
            <a:extLst>
              <a:ext uri="{FF2B5EF4-FFF2-40B4-BE49-F238E27FC236}">
                <a16:creationId xmlns:a16="http://schemas.microsoft.com/office/drawing/2014/main" id="{626E6CBE-F80A-4801-B22B-F13F7A84A627}"/>
              </a:ext>
            </a:extLst>
          </p:cNvPr>
          <p:cNvSpPr>
            <a:spLocks noGrp="1"/>
          </p:cNvSpPr>
          <p:nvPr/>
        </p:nvSpPr>
        <p:spPr>
          <a:xfrm>
            <a:off x="5772150" y="5067300"/>
            <a:ext cx="9525" cy="723900"/>
          </a:xfrm>
          <a:prstGeom prst="rect">
            <a:avLst/>
          </a:prstGeom>
          <a:solidFill>
            <a:srgbClr val="405159"/>
          </a:solidFill>
          <a:ln w="0">
            <a:solidFill>
              <a:srgbClr val="405159"/>
            </a:solidFill>
            <a:prstDash val="solid"/>
          </a:ln>
        </p:spPr>
        <p:txBody>
          <a:bodyPr/>
          <a:lstStyle/>
          <a:p>
            <a:endParaRPr lang="en-US"/>
          </a:p>
        </p:txBody>
      </p:sp>
      <p:sp>
        <p:nvSpPr>
          <p:cNvPr id="30" name="Rectangle 29">
            <a:extLst>
              <a:ext uri="{FF2B5EF4-FFF2-40B4-BE49-F238E27FC236}">
                <a16:creationId xmlns:a16="http://schemas.microsoft.com/office/drawing/2014/main" id="{81442895-6760-472D-853C-1F20F8F7D850}"/>
              </a:ext>
            </a:extLst>
          </p:cNvPr>
          <p:cNvSpPr>
            <a:spLocks noGrp="1"/>
          </p:cNvSpPr>
          <p:nvPr/>
        </p:nvSpPr>
        <p:spPr>
          <a:xfrm>
            <a:off x="5962650" y="5105400"/>
            <a:ext cx="400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C75C2C"/>
                </a:solidFill>
                <a:latin typeface="Aptos Display"/>
                <a:ea typeface="Aptos Display"/>
                <a:cs typeface="Aptos Display"/>
              </a:defRPr>
            </a:pPr>
            <a:r>
              <a:rPr sz="1800" b="1">
                <a:solidFill>
                  <a:srgbClr val="C75C2C"/>
                </a:solidFill>
                <a:latin typeface="Aptos Display"/>
                <a:ea typeface="Aptos Display"/>
                <a:cs typeface="Aptos Display"/>
              </a:rPr>
              <a:t>03</a:t>
            </a:r>
          </a:p>
        </p:txBody>
      </p:sp>
      <p:sp>
        <p:nvSpPr>
          <p:cNvPr id="31" name="Rectangle 30">
            <a:extLst>
              <a:ext uri="{FF2B5EF4-FFF2-40B4-BE49-F238E27FC236}">
                <a16:creationId xmlns:a16="http://schemas.microsoft.com/office/drawing/2014/main" id="{7ECE73B6-2FDC-4F18-B9B9-670CF90A7956}"/>
              </a:ext>
            </a:extLst>
          </p:cNvPr>
          <p:cNvSpPr>
            <a:spLocks noGrp="1"/>
          </p:cNvSpPr>
          <p:nvPr/>
        </p:nvSpPr>
        <p:spPr>
          <a:xfrm>
            <a:off x="6477000" y="5105400"/>
            <a:ext cx="1790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FFFF"/>
                </a:solidFill>
                <a:latin typeface="Aptos"/>
                <a:ea typeface="Aptos"/>
                <a:cs typeface="Aptos"/>
              </a:defRPr>
            </a:pPr>
            <a:r>
              <a:rPr sz="825" b="1">
                <a:solidFill>
                  <a:srgbClr val="FFFFFF"/>
                </a:solidFill>
                <a:latin typeface="Aptos"/>
                <a:ea typeface="Aptos"/>
                <a:cs typeface="Aptos"/>
              </a:rPr>
              <a:t>Live demo</a:t>
            </a:r>
          </a:p>
        </p:txBody>
      </p:sp>
      <p:sp>
        <p:nvSpPr>
          <p:cNvPr id="32" name="Rectangle 31">
            <a:extLst>
              <a:ext uri="{FF2B5EF4-FFF2-40B4-BE49-F238E27FC236}">
                <a16:creationId xmlns:a16="http://schemas.microsoft.com/office/drawing/2014/main" id="{62E4B12D-4D1F-4E09-A860-D8D80F84F622}"/>
              </a:ext>
            </a:extLst>
          </p:cNvPr>
          <p:cNvSpPr>
            <a:spLocks noGrp="1"/>
          </p:cNvSpPr>
          <p:nvPr/>
        </p:nvSpPr>
        <p:spPr>
          <a:xfrm>
            <a:off x="6477000" y="5314950"/>
            <a:ext cx="1790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AAB8BB"/>
                </a:solidFill>
                <a:latin typeface="Aptos"/>
                <a:ea typeface="Aptos"/>
                <a:cs typeface="Aptos"/>
              </a:defRPr>
            </a:pPr>
            <a:r>
              <a:rPr sz="675" b="0">
                <a:solidFill>
                  <a:srgbClr val="AAB8BB"/>
                </a:solidFill>
                <a:latin typeface="Aptos"/>
                <a:ea typeface="Aptos"/>
                <a:cs typeface="Aptos"/>
              </a:rPr>
              <a:t>install -&gt; route -&gt; task -&gt; write-back</a:t>
            </a:r>
          </a:p>
        </p:txBody>
      </p:sp>
      <p:sp>
        <p:nvSpPr>
          <p:cNvPr id="33" name="Rectangle 32">
            <a:extLst>
              <a:ext uri="{FF2B5EF4-FFF2-40B4-BE49-F238E27FC236}">
                <a16:creationId xmlns:a16="http://schemas.microsoft.com/office/drawing/2014/main" id="{D871D420-3D4A-4CB8-8578-3688D620E0B7}"/>
              </a:ext>
            </a:extLst>
          </p:cNvPr>
          <p:cNvSpPr>
            <a:spLocks noGrp="1"/>
          </p:cNvSpPr>
          <p:nvPr/>
        </p:nvSpPr>
        <p:spPr>
          <a:xfrm>
            <a:off x="8458200" y="5067300"/>
            <a:ext cx="9525" cy="723900"/>
          </a:xfrm>
          <a:prstGeom prst="rect">
            <a:avLst/>
          </a:prstGeom>
          <a:solidFill>
            <a:srgbClr val="405159"/>
          </a:solidFill>
          <a:ln w="0">
            <a:solidFill>
              <a:srgbClr val="405159"/>
            </a:solidFill>
            <a:prstDash val="solid"/>
          </a:ln>
        </p:spPr>
        <p:txBody>
          <a:bodyPr/>
          <a:lstStyle/>
          <a:p>
            <a:endParaRPr lang="en-US"/>
          </a:p>
        </p:txBody>
      </p:sp>
      <p:sp>
        <p:nvSpPr>
          <p:cNvPr id="34" name="Rectangle 33">
            <a:extLst>
              <a:ext uri="{FF2B5EF4-FFF2-40B4-BE49-F238E27FC236}">
                <a16:creationId xmlns:a16="http://schemas.microsoft.com/office/drawing/2014/main" id="{89428C83-7102-4DE8-B7E8-D93C309462CD}"/>
              </a:ext>
            </a:extLst>
          </p:cNvPr>
          <p:cNvSpPr>
            <a:spLocks noGrp="1"/>
          </p:cNvSpPr>
          <p:nvPr/>
        </p:nvSpPr>
        <p:spPr>
          <a:xfrm>
            <a:off x="8648700" y="5105400"/>
            <a:ext cx="400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E7E78"/>
                </a:solidFill>
                <a:latin typeface="Aptos Display"/>
                <a:ea typeface="Aptos Display"/>
                <a:cs typeface="Aptos Display"/>
              </a:defRPr>
            </a:pPr>
            <a:r>
              <a:rPr sz="1800" b="1">
                <a:solidFill>
                  <a:srgbClr val="1E7E78"/>
                </a:solidFill>
                <a:latin typeface="Aptos Display"/>
                <a:ea typeface="Aptos Display"/>
                <a:cs typeface="Aptos Display"/>
              </a:rPr>
              <a:t>04</a:t>
            </a:r>
          </a:p>
        </p:txBody>
      </p:sp>
      <p:sp>
        <p:nvSpPr>
          <p:cNvPr id="35" name="Rectangle 34">
            <a:extLst>
              <a:ext uri="{FF2B5EF4-FFF2-40B4-BE49-F238E27FC236}">
                <a16:creationId xmlns:a16="http://schemas.microsoft.com/office/drawing/2014/main" id="{9263CEDB-2865-498A-ADAD-1D2323C85D13}"/>
              </a:ext>
            </a:extLst>
          </p:cNvPr>
          <p:cNvSpPr>
            <a:spLocks noGrp="1"/>
          </p:cNvSpPr>
          <p:nvPr/>
        </p:nvSpPr>
        <p:spPr>
          <a:xfrm>
            <a:off x="9163050" y="5105400"/>
            <a:ext cx="1790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FFFF"/>
                </a:solidFill>
                <a:latin typeface="Aptos"/>
                <a:ea typeface="Aptos"/>
                <a:cs typeface="Aptos"/>
              </a:defRPr>
            </a:pPr>
            <a:r>
              <a:rPr sz="825" b="1">
                <a:solidFill>
                  <a:srgbClr val="FFFFFF"/>
                </a:solidFill>
                <a:latin typeface="Aptos"/>
                <a:ea typeface="Aptos"/>
                <a:cs typeface="Aptos"/>
              </a:rPr>
              <a:t>Technical tradeoffs</a:t>
            </a:r>
          </a:p>
        </p:txBody>
      </p:sp>
      <p:sp>
        <p:nvSpPr>
          <p:cNvPr id="36" name="Rectangle 35">
            <a:extLst>
              <a:ext uri="{FF2B5EF4-FFF2-40B4-BE49-F238E27FC236}">
                <a16:creationId xmlns:a16="http://schemas.microsoft.com/office/drawing/2014/main" id="{EF4D119C-0D68-4CD4-BEF6-E1EEABCF8B40}"/>
              </a:ext>
            </a:extLst>
          </p:cNvPr>
          <p:cNvSpPr>
            <a:spLocks noGrp="1"/>
          </p:cNvSpPr>
          <p:nvPr/>
        </p:nvSpPr>
        <p:spPr>
          <a:xfrm>
            <a:off x="9163050" y="5314950"/>
            <a:ext cx="1790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AAB8BB"/>
                </a:solidFill>
                <a:latin typeface="Aptos"/>
                <a:ea typeface="Aptos"/>
                <a:cs typeface="Aptos"/>
              </a:defRPr>
            </a:pPr>
            <a:r>
              <a:rPr sz="675" b="0">
                <a:solidFill>
                  <a:srgbClr val="AAB8BB"/>
                </a:solidFill>
                <a:latin typeface="Aptos"/>
                <a:ea typeface="Aptos"/>
                <a:cs typeface="Aptos"/>
              </a:rPr>
              <a:t>ownership boundaries over hidden state</a:t>
            </a:r>
          </a:p>
        </p:txBody>
      </p:sp>
      <p:sp>
        <p:nvSpPr>
          <p:cNvPr id="37" name="Rectangle 36">
            <a:extLst>
              <a:ext uri="{FF2B5EF4-FFF2-40B4-BE49-F238E27FC236}">
                <a16:creationId xmlns:a16="http://schemas.microsoft.com/office/drawing/2014/main" id="{72A7C8E3-28EC-4BD7-B82F-4A90E909B7E8}"/>
              </a:ext>
            </a:extLst>
          </p:cNvPr>
          <p:cNvSpPr>
            <a:spLocks noGrp="1"/>
          </p:cNvSpPr>
          <p:nvPr/>
        </p:nvSpPr>
        <p:spPr>
          <a:xfrm>
            <a:off x="552450" y="6343650"/>
            <a:ext cx="9715500" cy="9525"/>
          </a:xfrm>
          <a:prstGeom prst="rect">
            <a:avLst/>
          </a:prstGeom>
          <a:solidFill>
            <a:srgbClr val="37454C"/>
          </a:solidFill>
          <a:ln w="0">
            <a:solidFill>
              <a:srgbClr val="37454C"/>
            </a:solidFill>
            <a:prstDash val="solid"/>
          </a:ln>
        </p:spPr>
        <p:txBody>
          <a:bodyPr/>
          <a:lstStyle/>
          <a:p>
            <a:endParaRPr lang="en-US"/>
          </a:p>
        </p:txBody>
      </p:sp>
      <p:sp>
        <p:nvSpPr>
          <p:cNvPr id="38" name="Rectangle 37">
            <a:extLst>
              <a:ext uri="{FF2B5EF4-FFF2-40B4-BE49-F238E27FC236}">
                <a16:creationId xmlns:a16="http://schemas.microsoft.com/office/drawing/2014/main" id="{0415876E-74D3-43A4-8A58-D45E62B70295}"/>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4A3A8"/>
                </a:solidFill>
                <a:latin typeface="Aptos"/>
                <a:ea typeface="Aptos"/>
                <a:cs typeface="Aptos"/>
              </a:defRPr>
            </a:pPr>
            <a:r>
              <a:rPr sz="638" b="0">
                <a:solidFill>
                  <a:srgbClr val="94A3A8"/>
                </a:solidFill>
                <a:latin typeface="Aptos"/>
                <a:ea typeface="Aptos"/>
                <a:cs typeface="Aptos"/>
              </a:rPr>
              <a:t>ai-wiki-toolkit | live workshop</a:t>
            </a:r>
          </a:p>
        </p:txBody>
      </p:sp>
      <p:sp>
        <p:nvSpPr>
          <p:cNvPr id="39" name="Rectangle 38">
            <a:extLst>
              <a:ext uri="{FF2B5EF4-FFF2-40B4-BE49-F238E27FC236}">
                <a16:creationId xmlns:a16="http://schemas.microsoft.com/office/drawing/2014/main" id="{3CBBB65E-7820-4C65-9E90-DCADEE5891C9}"/>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94A3A8"/>
                </a:solidFill>
                <a:latin typeface="Aptos"/>
                <a:ea typeface="Aptos"/>
                <a:cs typeface="Aptos"/>
              </a:defRPr>
            </a:pPr>
            <a:r>
              <a:rPr sz="900" b="1">
                <a:solidFill>
                  <a:srgbClr val="94A3A8"/>
                </a:solidFill>
                <a:latin typeface="Aptos"/>
                <a:ea typeface="Aptos"/>
                <a:cs typeface="Aptos"/>
              </a:rPr>
              <a:t>01</a:t>
            </a:r>
          </a:p>
        </p:txBody>
      </p:sp>
    </p:spTree>
    <p:extLst>
      <p:ext uri="{BB962C8B-B14F-4D97-AF65-F5344CB8AC3E}">
        <p14:creationId xmlns:p14="http://schemas.microsoft.com/office/powerpoint/2010/main" val="357583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DEEEA587-78E1-4DF8-BC1B-F68406BAC92A}"/>
              </a:ext>
            </a:extLst>
          </p:cNvPr>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lang="en-US"/>
          </a:p>
        </p:txBody>
      </p:sp>
      <p:sp>
        <p:nvSpPr>
          <p:cNvPr id="2" name="kicker-marker">
            <a:extLst>
              <a:ext uri="{FF2B5EF4-FFF2-40B4-BE49-F238E27FC236}">
                <a16:creationId xmlns:a16="http://schemas.microsoft.com/office/drawing/2014/main" id="{2AF9D36C-7EA4-46CC-AA2C-CED50FBDEA94}"/>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B69D6632-4682-4B51-B854-F89BEFF6A7F1}"/>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1E3D9A98-4AFC-4BDE-A5A7-C9E5585F064C}"/>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THE PROBLEM</a:t>
            </a:r>
          </a:p>
        </p:txBody>
      </p:sp>
      <p:sp>
        <p:nvSpPr>
          <p:cNvPr id="5" name="Rectangle 4">
            <a:extLst>
              <a:ext uri="{FF2B5EF4-FFF2-40B4-BE49-F238E27FC236}">
                <a16:creationId xmlns:a16="http://schemas.microsoft.com/office/drawing/2014/main" id="{5FD6F2B2-F864-4506-BA91-3E3FB8965937}"/>
              </a:ext>
            </a:extLst>
          </p:cNvPr>
          <p:cNvSpPr>
            <a:spLocks noGrp="1"/>
          </p:cNvSpPr>
          <p:nvPr/>
        </p:nvSpPr>
        <p:spPr>
          <a:xfrm>
            <a:off x="552450" y="819150"/>
            <a:ext cx="81915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625" b="1">
                <a:solidFill>
                  <a:srgbClr val="172126"/>
                </a:solidFill>
                <a:latin typeface="Aptos Display"/>
                <a:ea typeface="Aptos Display"/>
                <a:cs typeface="Aptos Display"/>
              </a:defRPr>
            </a:pPr>
            <a:r>
              <a:rPr sz="2625" b="1" dirty="0">
                <a:solidFill>
                  <a:srgbClr val="172126"/>
                </a:solidFill>
                <a:latin typeface="Aptos Display"/>
                <a:ea typeface="Aptos Display"/>
                <a:cs typeface="Aptos Display"/>
              </a:rPr>
              <a:t>Agent work </a:t>
            </a:r>
            <a:r>
              <a:rPr lang="en-AU" sz="2625" b="1" dirty="0">
                <a:solidFill>
                  <a:srgbClr val="172126"/>
                </a:solidFill>
                <a:latin typeface="Aptos Display"/>
                <a:ea typeface="Aptos Display"/>
                <a:cs typeface="Aptos Display"/>
              </a:rPr>
              <a:t>repeats trial and error</a:t>
            </a:r>
            <a:r>
              <a:rPr sz="2625" b="1" dirty="0">
                <a:solidFill>
                  <a:srgbClr val="172126"/>
                </a:solidFill>
                <a:latin typeface="Aptos Display"/>
                <a:ea typeface="Aptos Display"/>
                <a:cs typeface="Aptos Display"/>
              </a:rPr>
              <a:t> because useful project knowledge </a:t>
            </a:r>
            <a:r>
              <a:rPr lang="en-AU" sz="2625" b="1" dirty="0">
                <a:solidFill>
                  <a:srgbClr val="172126"/>
                </a:solidFill>
                <a:latin typeface="Aptos Display"/>
                <a:ea typeface="Aptos Display"/>
                <a:cs typeface="Aptos Display"/>
              </a:rPr>
              <a:t>disappear</a:t>
            </a:r>
            <a:r>
              <a:rPr sz="2625" b="1" dirty="0">
                <a:solidFill>
                  <a:srgbClr val="172126"/>
                </a:solidFill>
                <a:latin typeface="Aptos Display"/>
                <a:ea typeface="Aptos Display"/>
                <a:cs typeface="Aptos Display"/>
              </a:rPr>
              <a:t> between tasks.</a:t>
            </a:r>
            <a:r>
              <a:rPr lang="en-AU" sz="2625" b="1" dirty="0">
                <a:solidFill>
                  <a:srgbClr val="172126"/>
                </a:solidFill>
                <a:latin typeface="Aptos Display"/>
                <a:ea typeface="Aptos Display"/>
                <a:cs typeface="Aptos Display"/>
              </a:rPr>
              <a:t> </a:t>
            </a:r>
            <a:endParaRPr sz="2625" b="1" dirty="0">
              <a:solidFill>
                <a:srgbClr val="172126"/>
              </a:solidFill>
              <a:latin typeface="Aptos Display"/>
              <a:ea typeface="Aptos Display"/>
              <a:cs typeface="Aptos Display"/>
            </a:endParaRPr>
          </a:p>
        </p:txBody>
      </p:sp>
      <p:sp>
        <p:nvSpPr>
          <p:cNvPr id="6" name="Rectangle 5">
            <a:extLst>
              <a:ext uri="{FF2B5EF4-FFF2-40B4-BE49-F238E27FC236}">
                <a16:creationId xmlns:a16="http://schemas.microsoft.com/office/drawing/2014/main" id="{3E1B7280-8A7D-4E7A-9C6C-E02C4E440A95}"/>
              </a:ext>
            </a:extLst>
          </p:cNvPr>
          <p:cNvSpPr>
            <a:spLocks noGrp="1"/>
          </p:cNvSpPr>
          <p:nvPr/>
        </p:nvSpPr>
        <p:spPr>
          <a:xfrm>
            <a:off x="552450" y="1809750"/>
            <a:ext cx="5905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6706F"/>
                </a:solidFill>
                <a:latin typeface="Aptos"/>
                <a:ea typeface="Aptos"/>
                <a:cs typeface="Aptos"/>
              </a:defRPr>
            </a:pPr>
            <a:r>
              <a:rPr sz="975" b="0" dirty="0">
                <a:solidFill>
                  <a:srgbClr val="66706F"/>
                </a:solidFill>
                <a:latin typeface="Aptos"/>
                <a:ea typeface="Aptos"/>
                <a:cs typeface="Aptos"/>
              </a:rPr>
              <a:t>The hard part is not finding one answer. It is making the next task inherit what the last task learned.</a:t>
            </a:r>
          </a:p>
        </p:txBody>
      </p:sp>
      <p:sp>
        <p:nvSpPr>
          <p:cNvPr id="7" name="Oval 6">
            <a:extLst>
              <a:ext uri="{FF2B5EF4-FFF2-40B4-BE49-F238E27FC236}">
                <a16:creationId xmlns:a16="http://schemas.microsoft.com/office/drawing/2014/main" id="{489EAA35-57BD-4E33-B46E-644A6DD72921}"/>
              </a:ext>
            </a:extLst>
          </p:cNvPr>
          <p:cNvSpPr>
            <a:spLocks noGrp="1"/>
          </p:cNvSpPr>
          <p:nvPr/>
        </p:nvSpPr>
        <p:spPr>
          <a:xfrm>
            <a:off x="3514725" y="2724150"/>
            <a:ext cx="1638300" cy="1638300"/>
          </a:xfrm>
          <a:prstGeom prst="ellipse">
            <a:avLst/>
          </a:prstGeom>
          <a:solidFill>
            <a:srgbClr val="D8E3DD"/>
          </a:solidFill>
          <a:ln w="9525">
            <a:solidFill>
              <a:srgbClr val="1E7E78"/>
            </a:solidFill>
            <a:prstDash val="solid"/>
          </a:ln>
        </p:spPr>
        <p:txBody>
          <a:bodyPr/>
          <a:lstStyle/>
          <a:p>
            <a:endParaRPr lang="en-US"/>
          </a:p>
        </p:txBody>
      </p:sp>
      <p:sp>
        <p:nvSpPr>
          <p:cNvPr id="8" name="Rectangle 7">
            <a:extLst>
              <a:ext uri="{FF2B5EF4-FFF2-40B4-BE49-F238E27FC236}">
                <a16:creationId xmlns:a16="http://schemas.microsoft.com/office/drawing/2014/main" id="{AA76AB27-E590-4846-A1CF-6DA9BB294E9B}"/>
              </a:ext>
            </a:extLst>
          </p:cNvPr>
          <p:cNvSpPr>
            <a:spLocks noGrp="1"/>
          </p:cNvSpPr>
          <p:nvPr/>
        </p:nvSpPr>
        <p:spPr>
          <a:xfrm>
            <a:off x="3743325" y="3048000"/>
            <a:ext cx="1181100" cy="9525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500" b="1">
                <a:solidFill>
                  <a:srgbClr val="172126"/>
                </a:solidFill>
                <a:latin typeface="Aptos Display"/>
                <a:ea typeface="Aptos Display"/>
                <a:cs typeface="Aptos Display"/>
              </a:defRPr>
            </a:pPr>
            <a:r>
              <a:rPr sz="1500" b="1">
                <a:solidFill>
                  <a:srgbClr val="172126"/>
                </a:solidFill>
                <a:latin typeface="Aptos Display"/>
                <a:ea typeface="Aptos Display"/>
                <a:cs typeface="Aptos Display"/>
              </a:rPr>
              <a:t>useful</a:t>
            </a:r>
          </a:p>
          <a:p>
            <a:pPr algn="ctr">
              <a:defRPr sz="1500" b="1">
                <a:solidFill>
                  <a:srgbClr val="172126"/>
                </a:solidFill>
                <a:latin typeface="Aptos Display"/>
                <a:ea typeface="Aptos Display"/>
                <a:cs typeface="Aptos Display"/>
              </a:defRPr>
            </a:pPr>
            <a:r>
              <a:rPr sz="1500" b="1">
                <a:solidFill>
                  <a:srgbClr val="172126"/>
                </a:solidFill>
                <a:latin typeface="Aptos Display"/>
                <a:ea typeface="Aptos Display"/>
                <a:cs typeface="Aptos Display"/>
              </a:rPr>
              <a:t>knowledge</a:t>
            </a:r>
          </a:p>
          <a:p>
            <a:pPr algn="ctr">
              <a:defRPr sz="1500" b="1">
                <a:solidFill>
                  <a:srgbClr val="172126"/>
                </a:solidFill>
                <a:latin typeface="Aptos Display"/>
                <a:ea typeface="Aptos Display"/>
                <a:cs typeface="Aptos Display"/>
              </a:defRPr>
            </a:pPr>
            <a:r>
              <a:rPr sz="1500" b="1">
                <a:solidFill>
                  <a:srgbClr val="172126"/>
                </a:solidFill>
                <a:latin typeface="Aptos Display"/>
                <a:ea typeface="Aptos Display"/>
                <a:cs typeface="Aptos Display"/>
              </a:rPr>
              <a:t>exists</a:t>
            </a:r>
          </a:p>
        </p:txBody>
      </p:sp>
      <p:sp>
        <p:nvSpPr>
          <p:cNvPr id="9" name="Rectangle 8">
            <a:extLst>
              <a:ext uri="{FF2B5EF4-FFF2-40B4-BE49-F238E27FC236}">
                <a16:creationId xmlns:a16="http://schemas.microsoft.com/office/drawing/2014/main" id="{DF257D16-4263-4B72-9B6C-E9448D763F29}"/>
              </a:ext>
            </a:extLst>
          </p:cNvPr>
          <p:cNvSpPr>
            <a:spLocks noGrp="1"/>
          </p:cNvSpPr>
          <p:nvPr/>
        </p:nvSpPr>
        <p:spPr>
          <a:xfrm>
            <a:off x="876300" y="2609850"/>
            <a:ext cx="1409700" cy="666750"/>
          </a:xfrm>
          <a:prstGeom prst="rect">
            <a:avLst/>
          </a:prstGeom>
          <a:solidFill>
            <a:srgbClr val="E9D4C4"/>
          </a:solidFill>
          <a:ln w="9525">
            <a:solidFill>
              <a:srgbClr val="D0C5B8"/>
            </a:solidFill>
            <a:prstDash val="solid"/>
          </a:ln>
        </p:spPr>
        <p:txBody>
          <a:bodyPr/>
          <a:lstStyle/>
          <a:p>
            <a:endParaRPr lang="en-US"/>
          </a:p>
        </p:txBody>
      </p:sp>
      <p:sp>
        <p:nvSpPr>
          <p:cNvPr id="10" name="Rectangle 9">
            <a:extLst>
              <a:ext uri="{FF2B5EF4-FFF2-40B4-BE49-F238E27FC236}">
                <a16:creationId xmlns:a16="http://schemas.microsoft.com/office/drawing/2014/main" id="{53B1B76C-794F-45F2-B69E-92759337535D}"/>
              </a:ext>
            </a:extLst>
          </p:cNvPr>
          <p:cNvSpPr>
            <a:spLocks noGrp="1"/>
          </p:cNvSpPr>
          <p:nvPr/>
        </p:nvSpPr>
        <p:spPr>
          <a:xfrm>
            <a:off x="876300" y="2609850"/>
            <a:ext cx="47625" cy="666750"/>
          </a:xfrm>
          <a:prstGeom prst="rect">
            <a:avLst/>
          </a:prstGeom>
          <a:solidFill>
            <a:srgbClr val="C75C2C"/>
          </a:solidFill>
          <a:ln w="0">
            <a:solidFill>
              <a:srgbClr val="C75C2C"/>
            </a:solidFill>
            <a:prstDash val="solid"/>
          </a:ln>
        </p:spPr>
        <p:txBody>
          <a:bodyPr/>
          <a:lstStyle/>
          <a:p>
            <a:endParaRPr lang="en-US"/>
          </a:p>
        </p:txBody>
      </p:sp>
      <p:sp>
        <p:nvSpPr>
          <p:cNvPr id="11" name="Rectangle 10">
            <a:extLst>
              <a:ext uri="{FF2B5EF4-FFF2-40B4-BE49-F238E27FC236}">
                <a16:creationId xmlns:a16="http://schemas.microsoft.com/office/drawing/2014/main" id="{4283AA77-A5F6-4F0C-905C-C6F421A9750E}"/>
              </a:ext>
            </a:extLst>
          </p:cNvPr>
          <p:cNvSpPr>
            <a:spLocks noGrp="1"/>
          </p:cNvSpPr>
          <p:nvPr/>
        </p:nvSpPr>
        <p:spPr>
          <a:xfrm>
            <a:off x="1047750" y="2743200"/>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dirty="0">
                <a:solidFill>
                  <a:srgbClr val="172126"/>
                </a:solidFill>
                <a:latin typeface="Aptos"/>
                <a:ea typeface="Aptos"/>
                <a:cs typeface="Aptos"/>
              </a:rPr>
              <a:t>Chats</a:t>
            </a:r>
          </a:p>
        </p:txBody>
      </p:sp>
      <p:sp>
        <p:nvSpPr>
          <p:cNvPr id="12" name="Rectangle 11">
            <a:extLst>
              <a:ext uri="{FF2B5EF4-FFF2-40B4-BE49-F238E27FC236}">
                <a16:creationId xmlns:a16="http://schemas.microsoft.com/office/drawing/2014/main" id="{E326B1DE-63E9-4DAE-A3C9-907FF4F44DC2}"/>
              </a:ext>
            </a:extLst>
          </p:cNvPr>
          <p:cNvSpPr>
            <a:spLocks noGrp="1"/>
          </p:cNvSpPr>
          <p:nvPr/>
        </p:nvSpPr>
        <p:spPr>
          <a:xfrm>
            <a:off x="1047750" y="2981325"/>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dirty="0">
                <a:solidFill>
                  <a:srgbClr val="66706F"/>
                </a:solidFill>
                <a:latin typeface="Aptos"/>
                <a:ea typeface="Aptos"/>
                <a:cs typeface="Aptos"/>
              </a:rPr>
              <a:t>temporary context</a:t>
            </a:r>
          </a:p>
        </p:txBody>
      </p:sp>
      <p:sp>
        <p:nvSpPr>
          <p:cNvPr id="13" name="Rectangle 12">
            <a:extLst>
              <a:ext uri="{FF2B5EF4-FFF2-40B4-BE49-F238E27FC236}">
                <a16:creationId xmlns:a16="http://schemas.microsoft.com/office/drawing/2014/main" id="{C629245F-D902-4F70-9872-4278503EF39B}"/>
              </a:ext>
            </a:extLst>
          </p:cNvPr>
          <p:cNvSpPr>
            <a:spLocks noGrp="1"/>
          </p:cNvSpPr>
          <p:nvPr/>
        </p:nvSpPr>
        <p:spPr>
          <a:xfrm>
            <a:off x="1581150" y="2943225"/>
            <a:ext cx="2752725" cy="9525"/>
          </a:xfrm>
          <a:prstGeom prst="rect">
            <a:avLst/>
          </a:prstGeom>
          <a:solidFill>
            <a:srgbClr val="BBAE9D"/>
          </a:solidFill>
          <a:ln w="0">
            <a:solidFill>
              <a:srgbClr val="BBAE9D"/>
            </a:solidFill>
            <a:prstDash val="solid"/>
          </a:ln>
        </p:spPr>
        <p:txBody>
          <a:bodyPr/>
          <a:lstStyle/>
          <a:p>
            <a:endParaRPr lang="en-US"/>
          </a:p>
        </p:txBody>
      </p:sp>
      <p:sp>
        <p:nvSpPr>
          <p:cNvPr id="14" name="Rectangle 13">
            <a:extLst>
              <a:ext uri="{FF2B5EF4-FFF2-40B4-BE49-F238E27FC236}">
                <a16:creationId xmlns:a16="http://schemas.microsoft.com/office/drawing/2014/main" id="{A3281822-0E17-473D-8570-D5189F73125F}"/>
              </a:ext>
            </a:extLst>
          </p:cNvPr>
          <p:cNvSpPr>
            <a:spLocks noGrp="1"/>
          </p:cNvSpPr>
          <p:nvPr/>
        </p:nvSpPr>
        <p:spPr>
          <a:xfrm>
            <a:off x="2190750" y="4533900"/>
            <a:ext cx="1409700" cy="666750"/>
          </a:xfrm>
          <a:prstGeom prst="rect">
            <a:avLst/>
          </a:prstGeom>
          <a:solidFill>
            <a:srgbClr val="F9F6F0"/>
          </a:solidFill>
          <a:ln w="9525">
            <a:solidFill>
              <a:srgbClr val="D0C5B8"/>
            </a:solidFill>
            <a:prstDash val="solid"/>
          </a:ln>
        </p:spPr>
        <p:txBody>
          <a:bodyPr/>
          <a:lstStyle/>
          <a:p>
            <a:endParaRPr lang="en-US"/>
          </a:p>
        </p:txBody>
      </p:sp>
      <p:sp>
        <p:nvSpPr>
          <p:cNvPr id="15" name="Rectangle 14">
            <a:extLst>
              <a:ext uri="{FF2B5EF4-FFF2-40B4-BE49-F238E27FC236}">
                <a16:creationId xmlns:a16="http://schemas.microsoft.com/office/drawing/2014/main" id="{D2E5F17C-E7B3-4B4D-AED2-CD848D7A85A1}"/>
              </a:ext>
            </a:extLst>
          </p:cNvPr>
          <p:cNvSpPr>
            <a:spLocks noGrp="1"/>
          </p:cNvSpPr>
          <p:nvPr/>
        </p:nvSpPr>
        <p:spPr>
          <a:xfrm>
            <a:off x="2190750" y="4533900"/>
            <a:ext cx="47625" cy="666750"/>
          </a:xfrm>
          <a:prstGeom prst="rect">
            <a:avLst/>
          </a:prstGeom>
          <a:solidFill>
            <a:srgbClr val="C75C2C"/>
          </a:solidFill>
          <a:ln w="0">
            <a:solidFill>
              <a:srgbClr val="C75C2C"/>
            </a:solidFill>
            <a:prstDash val="solid"/>
          </a:ln>
        </p:spPr>
        <p:txBody>
          <a:bodyPr/>
          <a:lstStyle/>
          <a:p>
            <a:endParaRPr lang="en-US"/>
          </a:p>
        </p:txBody>
      </p:sp>
      <p:sp>
        <p:nvSpPr>
          <p:cNvPr id="16" name="Rectangle 15">
            <a:extLst>
              <a:ext uri="{FF2B5EF4-FFF2-40B4-BE49-F238E27FC236}">
                <a16:creationId xmlns:a16="http://schemas.microsoft.com/office/drawing/2014/main" id="{C4B99A9C-CCFB-42DD-85B2-67573B8B8EC9}"/>
              </a:ext>
            </a:extLst>
          </p:cNvPr>
          <p:cNvSpPr>
            <a:spLocks noGrp="1"/>
          </p:cNvSpPr>
          <p:nvPr/>
        </p:nvSpPr>
        <p:spPr>
          <a:xfrm>
            <a:off x="2362200" y="4667250"/>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PR reviews</a:t>
            </a:r>
          </a:p>
        </p:txBody>
      </p:sp>
      <p:sp>
        <p:nvSpPr>
          <p:cNvPr id="17" name="Rectangle 16">
            <a:extLst>
              <a:ext uri="{FF2B5EF4-FFF2-40B4-BE49-F238E27FC236}">
                <a16:creationId xmlns:a16="http://schemas.microsoft.com/office/drawing/2014/main" id="{F4F23252-DE06-4203-A0E4-16364DDB0FE4}"/>
              </a:ext>
            </a:extLst>
          </p:cNvPr>
          <p:cNvSpPr>
            <a:spLocks noGrp="1"/>
          </p:cNvSpPr>
          <p:nvPr/>
        </p:nvSpPr>
        <p:spPr>
          <a:xfrm>
            <a:off x="2362200" y="4905375"/>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repeated feedback</a:t>
            </a:r>
          </a:p>
        </p:txBody>
      </p:sp>
      <p:sp>
        <p:nvSpPr>
          <p:cNvPr id="18" name="Rectangle 17">
            <a:extLst>
              <a:ext uri="{FF2B5EF4-FFF2-40B4-BE49-F238E27FC236}">
                <a16:creationId xmlns:a16="http://schemas.microsoft.com/office/drawing/2014/main" id="{85B6493E-F35D-4CF3-9540-672FB3CBEF65}"/>
              </a:ext>
            </a:extLst>
          </p:cNvPr>
          <p:cNvSpPr>
            <a:spLocks noGrp="1"/>
          </p:cNvSpPr>
          <p:nvPr/>
        </p:nvSpPr>
        <p:spPr>
          <a:xfrm>
            <a:off x="2895600" y="4867275"/>
            <a:ext cx="1438275" cy="9525"/>
          </a:xfrm>
          <a:prstGeom prst="rect">
            <a:avLst/>
          </a:prstGeom>
          <a:solidFill>
            <a:srgbClr val="BBAE9D"/>
          </a:solidFill>
          <a:ln w="0">
            <a:solidFill>
              <a:srgbClr val="BBAE9D"/>
            </a:solidFill>
            <a:prstDash val="solid"/>
          </a:ln>
        </p:spPr>
        <p:txBody>
          <a:bodyPr/>
          <a:lstStyle/>
          <a:p>
            <a:endParaRPr lang="en-US"/>
          </a:p>
        </p:txBody>
      </p:sp>
      <p:sp>
        <p:nvSpPr>
          <p:cNvPr id="19" name="Rectangle 18">
            <a:extLst>
              <a:ext uri="{FF2B5EF4-FFF2-40B4-BE49-F238E27FC236}">
                <a16:creationId xmlns:a16="http://schemas.microsoft.com/office/drawing/2014/main" id="{18B691C1-1474-4F7F-936B-F87FC0059685}"/>
              </a:ext>
            </a:extLst>
          </p:cNvPr>
          <p:cNvSpPr>
            <a:spLocks noGrp="1"/>
          </p:cNvSpPr>
          <p:nvPr/>
        </p:nvSpPr>
        <p:spPr>
          <a:xfrm>
            <a:off x="5334000" y="4667250"/>
            <a:ext cx="1409700" cy="666750"/>
          </a:xfrm>
          <a:prstGeom prst="rect">
            <a:avLst/>
          </a:prstGeom>
          <a:solidFill>
            <a:srgbClr val="F9F6F0"/>
          </a:solidFill>
          <a:ln w="9525">
            <a:solidFill>
              <a:srgbClr val="D0C5B8"/>
            </a:solidFill>
            <a:prstDash val="solid"/>
          </a:ln>
        </p:spPr>
        <p:txBody>
          <a:bodyPr/>
          <a:lstStyle/>
          <a:p>
            <a:endParaRPr lang="en-US"/>
          </a:p>
        </p:txBody>
      </p:sp>
      <p:sp>
        <p:nvSpPr>
          <p:cNvPr id="20" name="Rectangle 19">
            <a:extLst>
              <a:ext uri="{FF2B5EF4-FFF2-40B4-BE49-F238E27FC236}">
                <a16:creationId xmlns:a16="http://schemas.microsoft.com/office/drawing/2014/main" id="{14567B86-F62C-4C88-AD50-99940750FD96}"/>
              </a:ext>
            </a:extLst>
          </p:cNvPr>
          <p:cNvSpPr>
            <a:spLocks noGrp="1"/>
          </p:cNvSpPr>
          <p:nvPr/>
        </p:nvSpPr>
        <p:spPr>
          <a:xfrm>
            <a:off x="5334000" y="4667250"/>
            <a:ext cx="47625" cy="666750"/>
          </a:xfrm>
          <a:prstGeom prst="rect">
            <a:avLst/>
          </a:prstGeom>
          <a:solidFill>
            <a:srgbClr val="C75C2C"/>
          </a:solidFill>
          <a:ln w="0">
            <a:solidFill>
              <a:srgbClr val="C75C2C"/>
            </a:solidFill>
            <a:prstDash val="solid"/>
          </a:ln>
        </p:spPr>
        <p:txBody>
          <a:bodyPr/>
          <a:lstStyle/>
          <a:p>
            <a:endParaRPr lang="en-US"/>
          </a:p>
        </p:txBody>
      </p:sp>
      <p:sp>
        <p:nvSpPr>
          <p:cNvPr id="21" name="Rectangle 20">
            <a:extLst>
              <a:ext uri="{FF2B5EF4-FFF2-40B4-BE49-F238E27FC236}">
                <a16:creationId xmlns:a16="http://schemas.microsoft.com/office/drawing/2014/main" id="{4EF603FA-774D-4FF5-B1C4-60307A039C15}"/>
              </a:ext>
            </a:extLst>
          </p:cNvPr>
          <p:cNvSpPr>
            <a:spLocks noGrp="1"/>
          </p:cNvSpPr>
          <p:nvPr/>
        </p:nvSpPr>
        <p:spPr>
          <a:xfrm>
            <a:off x="5505450" y="4800600"/>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Local habits</a:t>
            </a:r>
          </a:p>
        </p:txBody>
      </p:sp>
      <p:sp>
        <p:nvSpPr>
          <p:cNvPr id="22" name="Rectangle 21">
            <a:extLst>
              <a:ext uri="{FF2B5EF4-FFF2-40B4-BE49-F238E27FC236}">
                <a16:creationId xmlns:a16="http://schemas.microsoft.com/office/drawing/2014/main" id="{8E7F8E9E-DFDC-4E72-AE72-DB853EABAEAD}"/>
              </a:ext>
            </a:extLst>
          </p:cNvPr>
          <p:cNvSpPr>
            <a:spLocks noGrp="1"/>
          </p:cNvSpPr>
          <p:nvPr/>
        </p:nvSpPr>
        <p:spPr>
          <a:xfrm>
            <a:off x="5505450" y="5038725"/>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personal memory</a:t>
            </a:r>
          </a:p>
        </p:txBody>
      </p:sp>
      <p:sp>
        <p:nvSpPr>
          <p:cNvPr id="23" name="Rectangle 22">
            <a:extLst>
              <a:ext uri="{FF2B5EF4-FFF2-40B4-BE49-F238E27FC236}">
                <a16:creationId xmlns:a16="http://schemas.microsoft.com/office/drawing/2014/main" id="{75B9F2F6-726D-4D3D-9975-39A55A988891}"/>
              </a:ext>
            </a:extLst>
          </p:cNvPr>
          <p:cNvSpPr>
            <a:spLocks noGrp="1"/>
          </p:cNvSpPr>
          <p:nvPr/>
        </p:nvSpPr>
        <p:spPr>
          <a:xfrm>
            <a:off x="4333875" y="5000625"/>
            <a:ext cx="1704975" cy="9525"/>
          </a:xfrm>
          <a:prstGeom prst="rect">
            <a:avLst/>
          </a:prstGeom>
          <a:solidFill>
            <a:srgbClr val="BBAE9D"/>
          </a:solidFill>
          <a:ln w="0">
            <a:solidFill>
              <a:srgbClr val="BBAE9D"/>
            </a:solidFill>
            <a:prstDash val="solid"/>
          </a:ln>
        </p:spPr>
        <p:txBody>
          <a:bodyPr/>
          <a:lstStyle/>
          <a:p>
            <a:endParaRPr lang="en-US"/>
          </a:p>
        </p:txBody>
      </p:sp>
      <p:sp>
        <p:nvSpPr>
          <p:cNvPr id="24" name="Rectangle 23">
            <a:extLst>
              <a:ext uri="{FF2B5EF4-FFF2-40B4-BE49-F238E27FC236}">
                <a16:creationId xmlns:a16="http://schemas.microsoft.com/office/drawing/2014/main" id="{3A5C9FBC-1EA0-4140-8EBB-6B06A397F6C0}"/>
              </a:ext>
            </a:extLst>
          </p:cNvPr>
          <p:cNvSpPr>
            <a:spLocks noGrp="1"/>
          </p:cNvSpPr>
          <p:nvPr/>
        </p:nvSpPr>
        <p:spPr>
          <a:xfrm>
            <a:off x="5981700" y="2609850"/>
            <a:ext cx="1409700" cy="666750"/>
          </a:xfrm>
          <a:prstGeom prst="rect">
            <a:avLst/>
          </a:prstGeom>
          <a:solidFill>
            <a:srgbClr val="E9D4C4"/>
          </a:solidFill>
          <a:ln w="9525">
            <a:solidFill>
              <a:srgbClr val="D0C5B8"/>
            </a:solidFill>
            <a:prstDash val="solid"/>
          </a:ln>
        </p:spPr>
        <p:txBody>
          <a:bodyPr/>
          <a:lstStyle/>
          <a:p>
            <a:endParaRPr lang="en-US"/>
          </a:p>
        </p:txBody>
      </p:sp>
      <p:sp>
        <p:nvSpPr>
          <p:cNvPr id="25" name="Rectangle 24">
            <a:extLst>
              <a:ext uri="{FF2B5EF4-FFF2-40B4-BE49-F238E27FC236}">
                <a16:creationId xmlns:a16="http://schemas.microsoft.com/office/drawing/2014/main" id="{21108C87-4ABB-4747-A98A-7AE0B1C0F5A2}"/>
              </a:ext>
            </a:extLst>
          </p:cNvPr>
          <p:cNvSpPr>
            <a:spLocks noGrp="1"/>
          </p:cNvSpPr>
          <p:nvPr/>
        </p:nvSpPr>
        <p:spPr>
          <a:xfrm>
            <a:off x="5981700" y="2609850"/>
            <a:ext cx="47625" cy="666750"/>
          </a:xfrm>
          <a:prstGeom prst="rect">
            <a:avLst/>
          </a:prstGeom>
          <a:solidFill>
            <a:srgbClr val="C75C2C"/>
          </a:solidFill>
          <a:ln w="0">
            <a:solidFill>
              <a:srgbClr val="C75C2C"/>
            </a:solidFill>
            <a:prstDash val="solid"/>
          </a:ln>
        </p:spPr>
        <p:txBody>
          <a:bodyPr/>
          <a:lstStyle/>
          <a:p>
            <a:endParaRPr lang="en-US"/>
          </a:p>
        </p:txBody>
      </p:sp>
      <p:sp>
        <p:nvSpPr>
          <p:cNvPr id="26" name="Rectangle 25">
            <a:extLst>
              <a:ext uri="{FF2B5EF4-FFF2-40B4-BE49-F238E27FC236}">
                <a16:creationId xmlns:a16="http://schemas.microsoft.com/office/drawing/2014/main" id="{01D378EF-2B31-4B7F-86F8-83C99565A6FC}"/>
              </a:ext>
            </a:extLst>
          </p:cNvPr>
          <p:cNvSpPr>
            <a:spLocks noGrp="1"/>
          </p:cNvSpPr>
          <p:nvPr/>
        </p:nvSpPr>
        <p:spPr>
          <a:xfrm>
            <a:off x="6153150" y="2743200"/>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Prompt files</a:t>
            </a:r>
          </a:p>
        </p:txBody>
      </p:sp>
      <p:sp>
        <p:nvSpPr>
          <p:cNvPr id="27" name="Rectangle 26">
            <a:extLst>
              <a:ext uri="{FF2B5EF4-FFF2-40B4-BE49-F238E27FC236}">
                <a16:creationId xmlns:a16="http://schemas.microsoft.com/office/drawing/2014/main" id="{D84C7452-ACE7-4600-B7F3-42E194E883F6}"/>
              </a:ext>
            </a:extLst>
          </p:cNvPr>
          <p:cNvSpPr>
            <a:spLocks noGrp="1"/>
          </p:cNvSpPr>
          <p:nvPr/>
        </p:nvSpPr>
        <p:spPr>
          <a:xfrm>
            <a:off x="6153150" y="2981325"/>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shared but fragile</a:t>
            </a:r>
          </a:p>
        </p:txBody>
      </p:sp>
      <p:sp>
        <p:nvSpPr>
          <p:cNvPr id="28" name="Rectangle 27">
            <a:extLst>
              <a:ext uri="{FF2B5EF4-FFF2-40B4-BE49-F238E27FC236}">
                <a16:creationId xmlns:a16="http://schemas.microsoft.com/office/drawing/2014/main" id="{1ED1ECBB-6E91-450E-A18E-6A58D92E9B06}"/>
              </a:ext>
            </a:extLst>
          </p:cNvPr>
          <p:cNvSpPr>
            <a:spLocks noGrp="1"/>
          </p:cNvSpPr>
          <p:nvPr/>
        </p:nvSpPr>
        <p:spPr>
          <a:xfrm>
            <a:off x="4333875" y="2943225"/>
            <a:ext cx="2352675" cy="9525"/>
          </a:xfrm>
          <a:prstGeom prst="rect">
            <a:avLst/>
          </a:prstGeom>
          <a:solidFill>
            <a:srgbClr val="BBAE9D"/>
          </a:solidFill>
          <a:ln w="0">
            <a:solidFill>
              <a:srgbClr val="BBAE9D"/>
            </a:solidFill>
            <a:prstDash val="solid"/>
          </a:ln>
        </p:spPr>
        <p:txBody>
          <a:bodyPr/>
          <a:lstStyle/>
          <a:p>
            <a:endParaRPr lang="en-US"/>
          </a:p>
        </p:txBody>
      </p:sp>
      <p:sp>
        <p:nvSpPr>
          <p:cNvPr id="29" name="Rectangle 28">
            <a:extLst>
              <a:ext uri="{FF2B5EF4-FFF2-40B4-BE49-F238E27FC236}">
                <a16:creationId xmlns:a16="http://schemas.microsoft.com/office/drawing/2014/main" id="{B482F285-A959-4BB8-9EE3-49919F678000}"/>
              </a:ext>
            </a:extLst>
          </p:cNvPr>
          <p:cNvSpPr>
            <a:spLocks noGrp="1"/>
          </p:cNvSpPr>
          <p:nvPr/>
        </p:nvSpPr>
        <p:spPr>
          <a:xfrm>
            <a:off x="2809875" y="2247900"/>
            <a:ext cx="1409700" cy="666750"/>
          </a:xfrm>
          <a:prstGeom prst="rect">
            <a:avLst/>
          </a:prstGeom>
          <a:solidFill>
            <a:srgbClr val="F9F6F0"/>
          </a:solidFill>
          <a:ln w="9525">
            <a:solidFill>
              <a:srgbClr val="D0C5B8"/>
            </a:solidFill>
            <a:prstDash val="solid"/>
          </a:ln>
        </p:spPr>
        <p:txBody>
          <a:bodyPr/>
          <a:lstStyle/>
          <a:p>
            <a:endParaRPr lang="en-US"/>
          </a:p>
        </p:txBody>
      </p:sp>
      <p:sp>
        <p:nvSpPr>
          <p:cNvPr id="30" name="Rectangle 29">
            <a:extLst>
              <a:ext uri="{FF2B5EF4-FFF2-40B4-BE49-F238E27FC236}">
                <a16:creationId xmlns:a16="http://schemas.microsoft.com/office/drawing/2014/main" id="{F0004DC2-C25B-41AF-B049-3C84428E0807}"/>
              </a:ext>
            </a:extLst>
          </p:cNvPr>
          <p:cNvSpPr>
            <a:spLocks noGrp="1"/>
          </p:cNvSpPr>
          <p:nvPr/>
        </p:nvSpPr>
        <p:spPr>
          <a:xfrm>
            <a:off x="2809875" y="2247900"/>
            <a:ext cx="47625" cy="666750"/>
          </a:xfrm>
          <a:prstGeom prst="rect">
            <a:avLst/>
          </a:prstGeom>
          <a:solidFill>
            <a:srgbClr val="C75C2C"/>
          </a:solidFill>
          <a:ln w="0">
            <a:solidFill>
              <a:srgbClr val="C75C2C"/>
            </a:solidFill>
            <a:prstDash val="solid"/>
          </a:ln>
        </p:spPr>
        <p:txBody>
          <a:bodyPr/>
          <a:lstStyle/>
          <a:p>
            <a:endParaRPr lang="en-US"/>
          </a:p>
        </p:txBody>
      </p:sp>
      <p:sp>
        <p:nvSpPr>
          <p:cNvPr id="31" name="Rectangle 30">
            <a:extLst>
              <a:ext uri="{FF2B5EF4-FFF2-40B4-BE49-F238E27FC236}">
                <a16:creationId xmlns:a16="http://schemas.microsoft.com/office/drawing/2014/main" id="{064FE7DE-3E3A-4D01-A910-21CAB4FDD4E7}"/>
              </a:ext>
            </a:extLst>
          </p:cNvPr>
          <p:cNvSpPr>
            <a:spLocks noGrp="1"/>
          </p:cNvSpPr>
          <p:nvPr/>
        </p:nvSpPr>
        <p:spPr>
          <a:xfrm>
            <a:off x="2981324" y="2381250"/>
            <a:ext cx="11906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lang="en-AU" sz="1050" b="1" dirty="0">
                <a:solidFill>
                  <a:srgbClr val="172126"/>
                </a:solidFill>
                <a:latin typeface="Aptos"/>
                <a:ea typeface="Aptos"/>
                <a:cs typeface="Aptos"/>
              </a:rPr>
              <a:t>Coding Preference</a:t>
            </a:r>
            <a:endParaRPr sz="1050" b="1" dirty="0">
              <a:solidFill>
                <a:srgbClr val="172126"/>
              </a:solidFill>
              <a:latin typeface="Aptos"/>
              <a:ea typeface="Aptos"/>
              <a:cs typeface="Aptos"/>
            </a:endParaRPr>
          </a:p>
        </p:txBody>
      </p:sp>
      <p:sp>
        <p:nvSpPr>
          <p:cNvPr id="33" name="Rectangle 32">
            <a:extLst>
              <a:ext uri="{FF2B5EF4-FFF2-40B4-BE49-F238E27FC236}">
                <a16:creationId xmlns:a16="http://schemas.microsoft.com/office/drawing/2014/main" id="{E8EB0EF0-434B-4476-96C0-20DD1F2DA404}"/>
              </a:ext>
            </a:extLst>
          </p:cNvPr>
          <p:cNvSpPr>
            <a:spLocks noGrp="1"/>
          </p:cNvSpPr>
          <p:nvPr/>
        </p:nvSpPr>
        <p:spPr>
          <a:xfrm>
            <a:off x="3514725" y="2581275"/>
            <a:ext cx="819150" cy="9525"/>
          </a:xfrm>
          <a:prstGeom prst="rect">
            <a:avLst/>
          </a:prstGeom>
          <a:solidFill>
            <a:srgbClr val="BBAE9D"/>
          </a:solidFill>
          <a:ln w="0">
            <a:solidFill>
              <a:srgbClr val="BBAE9D"/>
            </a:solidFill>
            <a:prstDash val="solid"/>
          </a:ln>
        </p:spPr>
        <p:txBody>
          <a:bodyPr/>
          <a:lstStyle/>
          <a:p>
            <a:endParaRPr lang="en-US"/>
          </a:p>
        </p:txBody>
      </p:sp>
      <p:sp>
        <p:nvSpPr>
          <p:cNvPr id="34" name="Rectangle 33">
            <a:extLst>
              <a:ext uri="{FF2B5EF4-FFF2-40B4-BE49-F238E27FC236}">
                <a16:creationId xmlns:a16="http://schemas.microsoft.com/office/drawing/2014/main" id="{EC4B3309-1FF5-4EAC-8836-C56D2E6C3A93}"/>
              </a:ext>
            </a:extLst>
          </p:cNvPr>
          <p:cNvSpPr>
            <a:spLocks noGrp="1"/>
          </p:cNvSpPr>
          <p:nvPr/>
        </p:nvSpPr>
        <p:spPr>
          <a:xfrm>
            <a:off x="7848600" y="2076450"/>
            <a:ext cx="2914650" cy="3429000"/>
          </a:xfrm>
          <a:prstGeom prst="rect">
            <a:avLst/>
          </a:prstGeom>
          <a:solidFill>
            <a:srgbClr val="F9F6F0"/>
          </a:solidFill>
          <a:ln w="9525">
            <a:solidFill>
              <a:srgbClr val="D5CABD"/>
            </a:solidFill>
            <a:prstDash val="solid"/>
          </a:ln>
        </p:spPr>
        <p:txBody>
          <a:bodyPr/>
          <a:lstStyle/>
          <a:p>
            <a:endParaRPr lang="en-US"/>
          </a:p>
        </p:txBody>
      </p:sp>
      <p:sp>
        <p:nvSpPr>
          <p:cNvPr id="35" name="Rectangle 34">
            <a:extLst>
              <a:ext uri="{FF2B5EF4-FFF2-40B4-BE49-F238E27FC236}">
                <a16:creationId xmlns:a16="http://schemas.microsoft.com/office/drawing/2014/main" id="{B946BE5F-2782-450E-ADD1-8A4186D705C5}"/>
              </a:ext>
            </a:extLst>
          </p:cNvPr>
          <p:cNvSpPr>
            <a:spLocks noGrp="1"/>
          </p:cNvSpPr>
          <p:nvPr/>
        </p:nvSpPr>
        <p:spPr>
          <a:xfrm>
            <a:off x="8115300" y="23622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126"/>
                </a:solidFill>
                <a:latin typeface="Aptos Display"/>
                <a:ea typeface="Aptos Display"/>
                <a:cs typeface="Aptos Display"/>
              </a:defRPr>
            </a:pPr>
            <a:r>
              <a:rPr sz="1575" b="1">
                <a:solidFill>
                  <a:srgbClr val="172126"/>
                </a:solidFill>
                <a:latin typeface="Aptos Display"/>
                <a:ea typeface="Aptos Display"/>
                <a:cs typeface="Aptos Display"/>
              </a:rPr>
              <a:t>What repeats</a:t>
            </a:r>
          </a:p>
        </p:txBody>
      </p:sp>
      <p:sp>
        <p:nvSpPr>
          <p:cNvPr id="36" name="Rectangle 35">
            <a:extLst>
              <a:ext uri="{FF2B5EF4-FFF2-40B4-BE49-F238E27FC236}">
                <a16:creationId xmlns:a16="http://schemas.microsoft.com/office/drawing/2014/main" id="{097E3BD1-12C3-488E-8EAB-AC35FE1F03C5}"/>
              </a:ext>
            </a:extLst>
          </p:cNvPr>
          <p:cNvSpPr>
            <a:spLocks noGrp="1"/>
          </p:cNvSpPr>
          <p:nvPr/>
        </p:nvSpPr>
        <p:spPr>
          <a:xfrm>
            <a:off x="8115300" y="2914650"/>
            <a:ext cx="342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C75C2C"/>
                </a:solidFill>
                <a:latin typeface="Aptos"/>
                <a:ea typeface="Aptos"/>
                <a:cs typeface="Aptos"/>
              </a:defRPr>
            </a:pPr>
            <a:r>
              <a:rPr sz="1200" b="1">
                <a:solidFill>
                  <a:srgbClr val="C75C2C"/>
                </a:solidFill>
                <a:latin typeface="Aptos"/>
                <a:ea typeface="Aptos"/>
                <a:cs typeface="Aptos"/>
              </a:rPr>
              <a:t>01</a:t>
            </a:r>
          </a:p>
        </p:txBody>
      </p:sp>
      <p:sp>
        <p:nvSpPr>
          <p:cNvPr id="37" name="Rectangle 36">
            <a:extLst>
              <a:ext uri="{FF2B5EF4-FFF2-40B4-BE49-F238E27FC236}">
                <a16:creationId xmlns:a16="http://schemas.microsoft.com/office/drawing/2014/main" id="{C275D7F3-EA5B-4468-8C7A-318E53508852}"/>
              </a:ext>
            </a:extLst>
          </p:cNvPr>
          <p:cNvSpPr>
            <a:spLocks noGrp="1"/>
          </p:cNvSpPr>
          <p:nvPr/>
        </p:nvSpPr>
        <p:spPr>
          <a:xfrm>
            <a:off x="8610600" y="29146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126"/>
                </a:solidFill>
                <a:latin typeface="Aptos"/>
                <a:ea typeface="Aptos"/>
                <a:cs typeface="Aptos"/>
              </a:defRPr>
            </a:pPr>
            <a:r>
              <a:rPr lang="en-AU" sz="975" b="1" dirty="0">
                <a:solidFill>
                  <a:srgbClr val="172126"/>
                </a:solidFill>
                <a:latin typeface="Aptos"/>
                <a:ea typeface="Aptos"/>
                <a:cs typeface="Aptos"/>
              </a:rPr>
              <a:t>Trial and errors</a:t>
            </a:r>
            <a:endParaRPr sz="975" b="1" dirty="0">
              <a:solidFill>
                <a:srgbClr val="172126"/>
              </a:solidFill>
              <a:latin typeface="Aptos"/>
              <a:ea typeface="Aptos"/>
              <a:cs typeface="Aptos"/>
            </a:endParaRPr>
          </a:p>
        </p:txBody>
      </p:sp>
      <p:sp>
        <p:nvSpPr>
          <p:cNvPr id="38" name="Rectangle 37">
            <a:extLst>
              <a:ext uri="{FF2B5EF4-FFF2-40B4-BE49-F238E27FC236}">
                <a16:creationId xmlns:a16="http://schemas.microsoft.com/office/drawing/2014/main" id="{B73F0A22-8059-45EF-8627-27F6B64B7050}"/>
              </a:ext>
            </a:extLst>
          </p:cNvPr>
          <p:cNvSpPr>
            <a:spLocks noGrp="1"/>
          </p:cNvSpPr>
          <p:nvPr/>
        </p:nvSpPr>
        <p:spPr>
          <a:xfrm>
            <a:off x="8610600" y="3124200"/>
            <a:ext cx="1676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repo conventions and decisions</a:t>
            </a:r>
          </a:p>
        </p:txBody>
      </p:sp>
      <p:sp>
        <p:nvSpPr>
          <p:cNvPr id="39" name="Rectangle 38">
            <a:extLst>
              <a:ext uri="{FF2B5EF4-FFF2-40B4-BE49-F238E27FC236}">
                <a16:creationId xmlns:a16="http://schemas.microsoft.com/office/drawing/2014/main" id="{F3D78A8F-781D-4BA1-A09D-9CF09FDA3C78}"/>
              </a:ext>
            </a:extLst>
          </p:cNvPr>
          <p:cNvSpPr>
            <a:spLocks noGrp="1"/>
          </p:cNvSpPr>
          <p:nvPr/>
        </p:nvSpPr>
        <p:spPr>
          <a:xfrm>
            <a:off x="8286750" y="3200400"/>
            <a:ext cx="9525" cy="323850"/>
          </a:xfrm>
          <a:prstGeom prst="rect">
            <a:avLst/>
          </a:prstGeom>
          <a:solidFill>
            <a:srgbClr val="C8BBAE"/>
          </a:solidFill>
          <a:ln w="0">
            <a:solidFill>
              <a:srgbClr val="C8BBAE"/>
            </a:solidFill>
            <a:prstDash val="solid"/>
          </a:ln>
        </p:spPr>
        <p:txBody>
          <a:bodyPr/>
          <a:lstStyle/>
          <a:p>
            <a:endParaRPr lang="en-US"/>
          </a:p>
        </p:txBody>
      </p:sp>
      <p:sp>
        <p:nvSpPr>
          <p:cNvPr id="40" name="Rectangle 39">
            <a:extLst>
              <a:ext uri="{FF2B5EF4-FFF2-40B4-BE49-F238E27FC236}">
                <a16:creationId xmlns:a16="http://schemas.microsoft.com/office/drawing/2014/main" id="{20951B7A-0819-42AA-AEC7-807EFA202436}"/>
              </a:ext>
            </a:extLst>
          </p:cNvPr>
          <p:cNvSpPr>
            <a:spLocks noGrp="1"/>
          </p:cNvSpPr>
          <p:nvPr/>
        </p:nvSpPr>
        <p:spPr>
          <a:xfrm>
            <a:off x="8115300" y="3467100"/>
            <a:ext cx="342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E7E78"/>
                </a:solidFill>
                <a:latin typeface="Aptos"/>
                <a:ea typeface="Aptos"/>
                <a:cs typeface="Aptos"/>
              </a:defRPr>
            </a:pPr>
            <a:r>
              <a:rPr sz="1200" b="1">
                <a:solidFill>
                  <a:srgbClr val="1E7E78"/>
                </a:solidFill>
                <a:latin typeface="Aptos"/>
                <a:ea typeface="Aptos"/>
                <a:cs typeface="Aptos"/>
              </a:rPr>
              <a:t>02</a:t>
            </a:r>
          </a:p>
        </p:txBody>
      </p:sp>
      <p:sp>
        <p:nvSpPr>
          <p:cNvPr id="41" name="Rectangle 40">
            <a:extLst>
              <a:ext uri="{FF2B5EF4-FFF2-40B4-BE49-F238E27FC236}">
                <a16:creationId xmlns:a16="http://schemas.microsoft.com/office/drawing/2014/main" id="{6913225F-06CF-4932-B0D6-8DA0405A9F0E}"/>
              </a:ext>
            </a:extLst>
          </p:cNvPr>
          <p:cNvSpPr>
            <a:spLocks noGrp="1"/>
          </p:cNvSpPr>
          <p:nvPr/>
        </p:nvSpPr>
        <p:spPr>
          <a:xfrm>
            <a:off x="8610600" y="346710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126"/>
                </a:solidFill>
                <a:latin typeface="Aptos"/>
                <a:ea typeface="Aptos"/>
                <a:cs typeface="Aptos"/>
              </a:defRPr>
            </a:pPr>
            <a:r>
              <a:rPr sz="975" b="1">
                <a:solidFill>
                  <a:srgbClr val="172126"/>
                </a:solidFill>
                <a:latin typeface="Aptos"/>
                <a:ea typeface="Aptos"/>
                <a:cs typeface="Aptos"/>
              </a:rPr>
              <a:t>Retry</a:t>
            </a:r>
          </a:p>
        </p:txBody>
      </p:sp>
      <p:sp>
        <p:nvSpPr>
          <p:cNvPr id="42" name="Rectangle 41">
            <a:extLst>
              <a:ext uri="{FF2B5EF4-FFF2-40B4-BE49-F238E27FC236}">
                <a16:creationId xmlns:a16="http://schemas.microsoft.com/office/drawing/2014/main" id="{07AB853B-8D29-443C-AE28-EFDA531BAE64}"/>
              </a:ext>
            </a:extLst>
          </p:cNvPr>
          <p:cNvSpPr>
            <a:spLocks noGrp="1"/>
          </p:cNvSpPr>
          <p:nvPr/>
        </p:nvSpPr>
        <p:spPr>
          <a:xfrm>
            <a:off x="8610600" y="3676650"/>
            <a:ext cx="1676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same broken assumptions</a:t>
            </a:r>
          </a:p>
        </p:txBody>
      </p:sp>
      <p:sp>
        <p:nvSpPr>
          <p:cNvPr id="43" name="Rectangle 42">
            <a:extLst>
              <a:ext uri="{FF2B5EF4-FFF2-40B4-BE49-F238E27FC236}">
                <a16:creationId xmlns:a16="http://schemas.microsoft.com/office/drawing/2014/main" id="{8048B12E-330F-4B6C-95C6-2240710D9C56}"/>
              </a:ext>
            </a:extLst>
          </p:cNvPr>
          <p:cNvSpPr>
            <a:spLocks noGrp="1"/>
          </p:cNvSpPr>
          <p:nvPr/>
        </p:nvSpPr>
        <p:spPr>
          <a:xfrm>
            <a:off x="8286750" y="3752850"/>
            <a:ext cx="9525" cy="323850"/>
          </a:xfrm>
          <a:prstGeom prst="rect">
            <a:avLst/>
          </a:prstGeom>
          <a:solidFill>
            <a:srgbClr val="C8BBAE"/>
          </a:solidFill>
          <a:ln w="0">
            <a:solidFill>
              <a:srgbClr val="C8BBAE"/>
            </a:solidFill>
            <a:prstDash val="solid"/>
          </a:ln>
        </p:spPr>
        <p:txBody>
          <a:bodyPr/>
          <a:lstStyle/>
          <a:p>
            <a:endParaRPr lang="en-US"/>
          </a:p>
        </p:txBody>
      </p:sp>
      <p:sp>
        <p:nvSpPr>
          <p:cNvPr id="44" name="Rectangle 43">
            <a:extLst>
              <a:ext uri="{FF2B5EF4-FFF2-40B4-BE49-F238E27FC236}">
                <a16:creationId xmlns:a16="http://schemas.microsoft.com/office/drawing/2014/main" id="{221AAE0C-A3DF-4703-B77B-5C3566581521}"/>
              </a:ext>
            </a:extLst>
          </p:cNvPr>
          <p:cNvSpPr>
            <a:spLocks noGrp="1"/>
          </p:cNvSpPr>
          <p:nvPr/>
        </p:nvSpPr>
        <p:spPr>
          <a:xfrm>
            <a:off x="8115300" y="4019550"/>
            <a:ext cx="342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C75C2C"/>
                </a:solidFill>
                <a:latin typeface="Aptos"/>
                <a:ea typeface="Aptos"/>
                <a:cs typeface="Aptos"/>
              </a:defRPr>
            </a:pPr>
            <a:r>
              <a:rPr sz="1200" b="1">
                <a:solidFill>
                  <a:srgbClr val="C75C2C"/>
                </a:solidFill>
                <a:latin typeface="Aptos"/>
                <a:ea typeface="Aptos"/>
                <a:cs typeface="Aptos"/>
              </a:rPr>
              <a:t>03</a:t>
            </a:r>
          </a:p>
        </p:txBody>
      </p:sp>
      <p:sp>
        <p:nvSpPr>
          <p:cNvPr id="45" name="Rectangle 44">
            <a:extLst>
              <a:ext uri="{FF2B5EF4-FFF2-40B4-BE49-F238E27FC236}">
                <a16:creationId xmlns:a16="http://schemas.microsoft.com/office/drawing/2014/main" id="{A99F8749-94BB-4BF0-A9A4-EEF46C300623}"/>
              </a:ext>
            </a:extLst>
          </p:cNvPr>
          <p:cNvSpPr>
            <a:spLocks noGrp="1"/>
          </p:cNvSpPr>
          <p:nvPr/>
        </p:nvSpPr>
        <p:spPr>
          <a:xfrm>
            <a:off x="8610600" y="40195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126"/>
                </a:solidFill>
                <a:latin typeface="Aptos"/>
                <a:ea typeface="Aptos"/>
                <a:cs typeface="Aptos"/>
              </a:defRPr>
            </a:pPr>
            <a:r>
              <a:rPr sz="975" b="1">
                <a:solidFill>
                  <a:srgbClr val="172126"/>
                </a:solidFill>
                <a:latin typeface="Aptos"/>
                <a:ea typeface="Aptos"/>
                <a:cs typeface="Aptos"/>
              </a:rPr>
              <a:t>Fix</a:t>
            </a:r>
          </a:p>
        </p:txBody>
      </p:sp>
      <p:sp>
        <p:nvSpPr>
          <p:cNvPr id="46" name="Rectangle 45">
            <a:extLst>
              <a:ext uri="{FF2B5EF4-FFF2-40B4-BE49-F238E27FC236}">
                <a16:creationId xmlns:a16="http://schemas.microsoft.com/office/drawing/2014/main" id="{C36607E8-063B-4EE0-8643-BD255BA9B1AF}"/>
              </a:ext>
            </a:extLst>
          </p:cNvPr>
          <p:cNvSpPr>
            <a:spLocks noGrp="1"/>
          </p:cNvSpPr>
          <p:nvPr/>
        </p:nvSpPr>
        <p:spPr>
          <a:xfrm>
            <a:off x="8610600" y="4229100"/>
            <a:ext cx="1676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one task, one chat</a:t>
            </a:r>
          </a:p>
        </p:txBody>
      </p:sp>
      <p:sp>
        <p:nvSpPr>
          <p:cNvPr id="47" name="Rectangle 46">
            <a:extLst>
              <a:ext uri="{FF2B5EF4-FFF2-40B4-BE49-F238E27FC236}">
                <a16:creationId xmlns:a16="http://schemas.microsoft.com/office/drawing/2014/main" id="{E87DD8CD-E367-46D2-88E2-CB618D8DCC66}"/>
              </a:ext>
            </a:extLst>
          </p:cNvPr>
          <p:cNvSpPr>
            <a:spLocks noGrp="1"/>
          </p:cNvSpPr>
          <p:nvPr/>
        </p:nvSpPr>
        <p:spPr>
          <a:xfrm>
            <a:off x="8286750" y="4305300"/>
            <a:ext cx="9525" cy="323850"/>
          </a:xfrm>
          <a:prstGeom prst="rect">
            <a:avLst/>
          </a:prstGeom>
          <a:solidFill>
            <a:srgbClr val="C8BBAE"/>
          </a:solidFill>
          <a:ln w="0">
            <a:solidFill>
              <a:srgbClr val="C8BBAE"/>
            </a:solidFill>
            <a:prstDash val="solid"/>
          </a:ln>
        </p:spPr>
        <p:txBody>
          <a:bodyPr/>
          <a:lstStyle/>
          <a:p>
            <a:endParaRPr lang="en-US"/>
          </a:p>
        </p:txBody>
      </p:sp>
      <p:sp>
        <p:nvSpPr>
          <p:cNvPr id="48" name="Rectangle 47">
            <a:extLst>
              <a:ext uri="{FF2B5EF4-FFF2-40B4-BE49-F238E27FC236}">
                <a16:creationId xmlns:a16="http://schemas.microsoft.com/office/drawing/2014/main" id="{AA78C267-0219-4ED0-A24B-C2B3FE39738D}"/>
              </a:ext>
            </a:extLst>
          </p:cNvPr>
          <p:cNvSpPr>
            <a:spLocks noGrp="1"/>
          </p:cNvSpPr>
          <p:nvPr/>
        </p:nvSpPr>
        <p:spPr>
          <a:xfrm>
            <a:off x="8115300" y="4572000"/>
            <a:ext cx="342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E7E78"/>
                </a:solidFill>
                <a:latin typeface="Aptos"/>
                <a:ea typeface="Aptos"/>
                <a:cs typeface="Aptos"/>
              </a:defRPr>
            </a:pPr>
            <a:r>
              <a:rPr sz="1200" b="1">
                <a:solidFill>
                  <a:srgbClr val="1E7E78"/>
                </a:solidFill>
                <a:latin typeface="Aptos"/>
                <a:ea typeface="Aptos"/>
                <a:cs typeface="Aptos"/>
              </a:rPr>
              <a:t>04</a:t>
            </a:r>
          </a:p>
        </p:txBody>
      </p:sp>
      <p:sp>
        <p:nvSpPr>
          <p:cNvPr id="49" name="Rectangle 48">
            <a:extLst>
              <a:ext uri="{FF2B5EF4-FFF2-40B4-BE49-F238E27FC236}">
                <a16:creationId xmlns:a16="http://schemas.microsoft.com/office/drawing/2014/main" id="{CA4D39EE-C20B-4E48-BD00-1969982AA3B5}"/>
              </a:ext>
            </a:extLst>
          </p:cNvPr>
          <p:cNvSpPr>
            <a:spLocks noGrp="1"/>
          </p:cNvSpPr>
          <p:nvPr/>
        </p:nvSpPr>
        <p:spPr>
          <a:xfrm>
            <a:off x="8610600" y="457200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126"/>
                </a:solidFill>
                <a:latin typeface="Aptos"/>
                <a:ea typeface="Aptos"/>
                <a:cs typeface="Aptos"/>
              </a:defRPr>
            </a:pPr>
            <a:r>
              <a:rPr sz="975" b="1" dirty="0">
                <a:solidFill>
                  <a:srgbClr val="172126"/>
                </a:solidFill>
                <a:latin typeface="Aptos"/>
                <a:ea typeface="Aptos"/>
                <a:cs typeface="Aptos"/>
              </a:rPr>
              <a:t>Forget</a:t>
            </a:r>
          </a:p>
        </p:txBody>
      </p:sp>
      <p:sp>
        <p:nvSpPr>
          <p:cNvPr id="50" name="Rectangle 49">
            <a:extLst>
              <a:ext uri="{FF2B5EF4-FFF2-40B4-BE49-F238E27FC236}">
                <a16:creationId xmlns:a16="http://schemas.microsoft.com/office/drawing/2014/main" id="{D8F6598F-E7E0-492F-8B0C-80D47CB0FEDC}"/>
              </a:ext>
            </a:extLst>
          </p:cNvPr>
          <p:cNvSpPr>
            <a:spLocks noGrp="1"/>
          </p:cNvSpPr>
          <p:nvPr/>
        </p:nvSpPr>
        <p:spPr>
          <a:xfrm>
            <a:off x="8610600" y="4781550"/>
            <a:ext cx="1676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dirty="0">
                <a:solidFill>
                  <a:srgbClr val="66706F"/>
                </a:solidFill>
                <a:latin typeface="Aptos"/>
                <a:ea typeface="Aptos"/>
                <a:cs typeface="Aptos"/>
              </a:rPr>
              <a:t>lesson never joins the repo</a:t>
            </a:r>
          </a:p>
        </p:txBody>
      </p:sp>
      <p:sp>
        <p:nvSpPr>
          <p:cNvPr id="51" name="Rectangle 50">
            <a:extLst>
              <a:ext uri="{FF2B5EF4-FFF2-40B4-BE49-F238E27FC236}">
                <a16:creationId xmlns:a16="http://schemas.microsoft.com/office/drawing/2014/main" id="{30FE08E7-CE40-4CF3-B8B3-3CB1AEDE4BD4}"/>
              </a:ext>
            </a:extLst>
          </p:cNvPr>
          <p:cNvSpPr>
            <a:spLocks noGrp="1"/>
          </p:cNvSpPr>
          <p:nvPr/>
        </p:nvSpPr>
        <p:spPr>
          <a:xfrm>
            <a:off x="8020050" y="4991100"/>
            <a:ext cx="2400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C75C2C"/>
                </a:solidFill>
                <a:latin typeface="Aptos"/>
                <a:ea typeface="Aptos"/>
                <a:cs typeface="Aptos"/>
              </a:defRPr>
            </a:pPr>
            <a:r>
              <a:rPr sz="900" b="1" dirty="0">
                <a:solidFill>
                  <a:srgbClr val="C75C2C"/>
                </a:solidFill>
                <a:latin typeface="Aptos"/>
                <a:ea typeface="Aptos"/>
                <a:cs typeface="Aptos"/>
              </a:rPr>
              <a:t>The result: knowledge exists, but it does not compound.</a:t>
            </a:r>
          </a:p>
        </p:txBody>
      </p:sp>
      <p:sp>
        <p:nvSpPr>
          <p:cNvPr id="52" name="Rectangle 51">
            <a:extLst>
              <a:ext uri="{FF2B5EF4-FFF2-40B4-BE49-F238E27FC236}">
                <a16:creationId xmlns:a16="http://schemas.microsoft.com/office/drawing/2014/main" id="{EBD7F8AF-5481-4109-B4CD-90434F9F5491}"/>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53" name="Rectangle 52">
            <a:extLst>
              <a:ext uri="{FF2B5EF4-FFF2-40B4-BE49-F238E27FC236}">
                <a16:creationId xmlns:a16="http://schemas.microsoft.com/office/drawing/2014/main" id="{27FCD852-1A64-43DC-BD53-A786AC214472}"/>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README problem and flywheel sections</a:t>
            </a:r>
          </a:p>
        </p:txBody>
      </p:sp>
      <p:sp>
        <p:nvSpPr>
          <p:cNvPr id="54" name="Rectangle 53">
            <a:extLst>
              <a:ext uri="{FF2B5EF4-FFF2-40B4-BE49-F238E27FC236}">
                <a16:creationId xmlns:a16="http://schemas.microsoft.com/office/drawing/2014/main" id="{89DA0284-45D6-4A80-8994-AC2B81D6A9ED}"/>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a:solidFill>
                  <a:srgbClr val="66706F"/>
                </a:solidFill>
                <a:latin typeface="Aptos"/>
                <a:ea typeface="Aptos"/>
                <a:cs typeface="Aptos"/>
              </a:rPr>
              <a:t>02</a:t>
            </a:r>
          </a:p>
        </p:txBody>
      </p:sp>
    </p:spTree>
    <p:extLst>
      <p:ext uri="{BB962C8B-B14F-4D97-AF65-F5344CB8AC3E}">
        <p14:creationId xmlns:p14="http://schemas.microsoft.com/office/powerpoint/2010/main" val="28966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B66B192-BA67-4F2E-B7DE-F474A81664F3}"/>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38AB84C4-EF42-404F-943F-86E3A4FBD751}"/>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2E5C17ED-29B6-4AC9-9079-0390A775D907}"/>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66262003-59FC-488B-A8C3-A218CAA12ABE}"/>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CORE IDEA</a:t>
            </a:r>
          </a:p>
        </p:txBody>
      </p:sp>
      <p:sp>
        <p:nvSpPr>
          <p:cNvPr id="5" name="Rectangle 4">
            <a:extLst>
              <a:ext uri="{FF2B5EF4-FFF2-40B4-BE49-F238E27FC236}">
                <a16:creationId xmlns:a16="http://schemas.microsoft.com/office/drawing/2014/main" id="{3AAE9D63-B495-485D-899A-EF2F6B1C65BC}"/>
              </a:ext>
            </a:extLst>
          </p:cNvPr>
          <p:cNvSpPr>
            <a:spLocks noGrp="1"/>
          </p:cNvSpPr>
          <p:nvPr/>
        </p:nvSpPr>
        <p:spPr>
          <a:xfrm>
            <a:off x="552450" y="800100"/>
            <a:ext cx="7620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72126"/>
                </a:solidFill>
                <a:latin typeface="Aptos Display"/>
                <a:ea typeface="Aptos Display"/>
                <a:cs typeface="Aptos Display"/>
              </a:defRPr>
            </a:pPr>
            <a:r>
              <a:rPr sz="2850" b="1">
                <a:solidFill>
                  <a:srgbClr val="172126"/>
                </a:solidFill>
                <a:latin typeface="Aptos Display"/>
                <a:ea typeface="Aptos Display"/>
                <a:cs typeface="Aptos Display"/>
              </a:rPr>
              <a:t>Make memory a repository artifact, not a hidden service.</a:t>
            </a:r>
          </a:p>
        </p:txBody>
      </p:sp>
      <p:sp>
        <p:nvSpPr>
          <p:cNvPr id="6" name="Rectangle 5">
            <a:extLst>
              <a:ext uri="{FF2B5EF4-FFF2-40B4-BE49-F238E27FC236}">
                <a16:creationId xmlns:a16="http://schemas.microsoft.com/office/drawing/2014/main" id="{B506F56F-647D-4751-BBFD-3EBF62D500FF}"/>
              </a:ext>
            </a:extLst>
          </p:cNvPr>
          <p:cNvSpPr>
            <a:spLocks noGrp="1"/>
          </p:cNvSpPr>
          <p:nvPr/>
        </p:nvSpPr>
        <p:spPr>
          <a:xfrm>
            <a:off x="552450" y="1809750"/>
            <a:ext cx="5905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6706F"/>
                </a:solidFill>
                <a:latin typeface="Aptos"/>
                <a:ea typeface="Aptos"/>
                <a:cs typeface="Aptos"/>
              </a:defRPr>
            </a:pPr>
            <a:r>
              <a:rPr sz="975" b="0">
                <a:solidFill>
                  <a:srgbClr val="66706F"/>
                </a:solidFill>
                <a:latin typeface="Aptos"/>
                <a:ea typeface="Aptos"/>
                <a:cs typeface="Aptos"/>
              </a:rPr>
              <a:t>The toolkit keeps the harness visible: Markdown files, managed prompt blocks, skills, and local evidence logs.</a:t>
            </a:r>
          </a:p>
        </p:txBody>
      </p:sp>
      <p:sp>
        <p:nvSpPr>
          <p:cNvPr id="7" name="Rectangle 6">
            <a:extLst>
              <a:ext uri="{FF2B5EF4-FFF2-40B4-BE49-F238E27FC236}">
                <a16:creationId xmlns:a16="http://schemas.microsoft.com/office/drawing/2014/main" id="{932E678F-4A01-43E4-BED8-59B055A2A1C2}"/>
              </a:ext>
            </a:extLst>
          </p:cNvPr>
          <p:cNvSpPr>
            <a:spLocks noGrp="1"/>
          </p:cNvSpPr>
          <p:nvPr/>
        </p:nvSpPr>
        <p:spPr>
          <a:xfrm>
            <a:off x="685800" y="2514600"/>
            <a:ext cx="3143250" cy="2514600"/>
          </a:xfrm>
          <a:prstGeom prst="rect">
            <a:avLst/>
          </a:prstGeom>
          <a:solidFill>
            <a:srgbClr val="F6F1E8"/>
          </a:solidFill>
          <a:ln w="9525">
            <a:solidFill>
              <a:srgbClr val="D3C8BB"/>
            </a:solidFill>
            <a:prstDash val="solid"/>
          </a:ln>
        </p:spPr>
        <p:txBody>
          <a:bodyPr/>
          <a:lstStyle/>
          <a:p>
            <a:endParaRPr lang="en-US"/>
          </a:p>
        </p:txBody>
      </p:sp>
      <p:sp>
        <p:nvSpPr>
          <p:cNvPr id="8" name="Rectangle 7">
            <a:extLst>
              <a:ext uri="{FF2B5EF4-FFF2-40B4-BE49-F238E27FC236}">
                <a16:creationId xmlns:a16="http://schemas.microsoft.com/office/drawing/2014/main" id="{59EE0A25-03A7-40ED-9AA0-D3B790788E82}"/>
              </a:ext>
            </a:extLst>
          </p:cNvPr>
          <p:cNvSpPr>
            <a:spLocks noGrp="1"/>
          </p:cNvSpPr>
          <p:nvPr/>
        </p:nvSpPr>
        <p:spPr>
          <a:xfrm>
            <a:off x="914400" y="2781300"/>
            <a:ext cx="2000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E7E78"/>
                </a:solidFill>
                <a:latin typeface="Aptos Mono"/>
                <a:ea typeface="Aptos Mono"/>
                <a:cs typeface="Aptos Mono"/>
              </a:defRPr>
            </a:pPr>
            <a:r>
              <a:rPr sz="1425" b="1">
                <a:solidFill>
                  <a:srgbClr val="1E7E78"/>
                </a:solidFill>
                <a:latin typeface="Aptos Mono"/>
                <a:ea typeface="Aptos Mono"/>
                <a:cs typeface="Aptos Mono"/>
              </a:rPr>
              <a:t>repo/ai-wiki/</a:t>
            </a:r>
          </a:p>
        </p:txBody>
      </p:sp>
      <p:sp>
        <p:nvSpPr>
          <p:cNvPr id="9" name="Rectangle 8">
            <a:extLst>
              <a:ext uri="{FF2B5EF4-FFF2-40B4-BE49-F238E27FC236}">
                <a16:creationId xmlns:a16="http://schemas.microsoft.com/office/drawing/2014/main" id="{1036351E-6F35-4399-90B3-2251FCC0DA28}"/>
              </a:ext>
            </a:extLst>
          </p:cNvPr>
          <p:cNvSpPr>
            <a:spLocks noGrp="1"/>
          </p:cNvSpPr>
          <p:nvPr/>
        </p:nvSpPr>
        <p:spPr>
          <a:xfrm>
            <a:off x="914400" y="3105150"/>
            <a:ext cx="2190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172126"/>
                </a:solidFill>
                <a:latin typeface="Aptos"/>
                <a:ea typeface="Aptos"/>
                <a:cs typeface="Aptos"/>
              </a:defRPr>
            </a:pPr>
            <a:r>
              <a:rPr sz="900" b="1">
                <a:solidFill>
                  <a:srgbClr val="172126"/>
                </a:solidFill>
                <a:latin typeface="Aptos"/>
                <a:ea typeface="Aptos"/>
                <a:cs typeface="Aptos"/>
              </a:rPr>
              <a:t>Project-specific memory</a:t>
            </a:r>
          </a:p>
        </p:txBody>
      </p:sp>
      <p:sp>
        <p:nvSpPr>
          <p:cNvPr id="10" name="Rectangle 9">
            <a:extLst>
              <a:ext uri="{FF2B5EF4-FFF2-40B4-BE49-F238E27FC236}">
                <a16:creationId xmlns:a16="http://schemas.microsoft.com/office/drawing/2014/main" id="{1E8E1BB1-BA52-43ED-900A-A56D3AD2DB3A}"/>
              </a:ext>
            </a:extLst>
          </p:cNvPr>
          <p:cNvSpPr>
            <a:spLocks noGrp="1"/>
          </p:cNvSpPr>
          <p:nvPr/>
        </p:nvSpPr>
        <p:spPr>
          <a:xfrm>
            <a:off x="990600" y="348615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Mono"/>
                <a:ea typeface="Aptos Mono"/>
                <a:cs typeface="Aptos Mono"/>
              </a:defRPr>
            </a:pPr>
            <a:r>
              <a:rPr sz="788" b="0">
                <a:solidFill>
                  <a:srgbClr val="66706F"/>
                </a:solidFill>
                <a:latin typeface="Aptos Mono"/>
                <a:ea typeface="Aptos Mono"/>
                <a:cs typeface="Aptos Mono"/>
              </a:rPr>
              <a:t>constraints.md</a:t>
            </a:r>
          </a:p>
        </p:txBody>
      </p:sp>
      <p:sp>
        <p:nvSpPr>
          <p:cNvPr id="11" name="Rectangle 10">
            <a:extLst>
              <a:ext uri="{FF2B5EF4-FFF2-40B4-BE49-F238E27FC236}">
                <a16:creationId xmlns:a16="http://schemas.microsoft.com/office/drawing/2014/main" id="{8A720800-6AA3-44DF-89B5-7D508DE4AC37}"/>
              </a:ext>
            </a:extLst>
          </p:cNvPr>
          <p:cNvSpPr>
            <a:spLocks noGrp="1"/>
          </p:cNvSpPr>
          <p:nvPr/>
        </p:nvSpPr>
        <p:spPr>
          <a:xfrm>
            <a:off x="990600" y="3743325"/>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Mono"/>
                <a:ea typeface="Aptos Mono"/>
                <a:cs typeface="Aptos Mono"/>
              </a:defRPr>
            </a:pPr>
            <a:r>
              <a:rPr sz="788" b="0">
                <a:solidFill>
                  <a:srgbClr val="66706F"/>
                </a:solidFill>
                <a:latin typeface="Aptos Mono"/>
                <a:ea typeface="Aptos Mono"/>
                <a:cs typeface="Aptos Mono"/>
              </a:rPr>
              <a:t>workflows.md</a:t>
            </a:r>
          </a:p>
        </p:txBody>
      </p:sp>
      <p:sp>
        <p:nvSpPr>
          <p:cNvPr id="12" name="Rectangle 11">
            <a:extLst>
              <a:ext uri="{FF2B5EF4-FFF2-40B4-BE49-F238E27FC236}">
                <a16:creationId xmlns:a16="http://schemas.microsoft.com/office/drawing/2014/main" id="{F7968BE7-35BA-41BF-881E-688E48C219B4}"/>
              </a:ext>
            </a:extLst>
          </p:cNvPr>
          <p:cNvSpPr>
            <a:spLocks noGrp="1"/>
          </p:cNvSpPr>
          <p:nvPr/>
        </p:nvSpPr>
        <p:spPr>
          <a:xfrm>
            <a:off x="990600" y="400050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Mono"/>
                <a:ea typeface="Aptos Mono"/>
                <a:cs typeface="Aptos Mono"/>
              </a:defRPr>
            </a:pPr>
            <a:r>
              <a:rPr sz="788" b="0">
                <a:solidFill>
                  <a:srgbClr val="66706F"/>
                </a:solidFill>
                <a:latin typeface="Aptos Mono"/>
                <a:ea typeface="Aptos Mono"/>
                <a:cs typeface="Aptos Mono"/>
              </a:rPr>
              <a:t>decisions.md</a:t>
            </a:r>
          </a:p>
        </p:txBody>
      </p:sp>
      <p:sp>
        <p:nvSpPr>
          <p:cNvPr id="13" name="Rectangle 12">
            <a:extLst>
              <a:ext uri="{FF2B5EF4-FFF2-40B4-BE49-F238E27FC236}">
                <a16:creationId xmlns:a16="http://schemas.microsoft.com/office/drawing/2014/main" id="{6BCE62F9-97F0-4A23-8342-4CCC4A27E0C9}"/>
              </a:ext>
            </a:extLst>
          </p:cNvPr>
          <p:cNvSpPr>
            <a:spLocks noGrp="1"/>
          </p:cNvSpPr>
          <p:nvPr/>
        </p:nvSpPr>
        <p:spPr>
          <a:xfrm>
            <a:off x="990600" y="4257675"/>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Mono"/>
                <a:ea typeface="Aptos Mono"/>
                <a:cs typeface="Aptos Mono"/>
              </a:defRPr>
            </a:pPr>
            <a:r>
              <a:rPr sz="788" b="0">
                <a:solidFill>
                  <a:srgbClr val="66706F"/>
                </a:solidFill>
                <a:latin typeface="Aptos Mono"/>
                <a:ea typeface="Aptos Mono"/>
                <a:cs typeface="Aptos Mono"/>
              </a:rPr>
              <a:t>review-patterns/</a:t>
            </a:r>
          </a:p>
        </p:txBody>
      </p:sp>
      <p:sp>
        <p:nvSpPr>
          <p:cNvPr id="14" name="Rectangle 13">
            <a:extLst>
              <a:ext uri="{FF2B5EF4-FFF2-40B4-BE49-F238E27FC236}">
                <a16:creationId xmlns:a16="http://schemas.microsoft.com/office/drawing/2014/main" id="{BDE5228D-BDF9-4277-99F0-C0B5764DFE93}"/>
              </a:ext>
            </a:extLst>
          </p:cNvPr>
          <p:cNvSpPr>
            <a:spLocks noGrp="1"/>
          </p:cNvSpPr>
          <p:nvPr/>
        </p:nvSpPr>
        <p:spPr>
          <a:xfrm>
            <a:off x="990600" y="451485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Mono"/>
                <a:ea typeface="Aptos Mono"/>
                <a:cs typeface="Aptos Mono"/>
              </a:defRPr>
            </a:pPr>
            <a:r>
              <a:rPr sz="788" b="0">
                <a:solidFill>
                  <a:srgbClr val="66706F"/>
                </a:solidFill>
                <a:latin typeface="Aptos Mono"/>
                <a:ea typeface="Aptos Mono"/>
                <a:cs typeface="Aptos Mono"/>
              </a:rPr>
              <a:t>people/&lt;handle&gt;/drafts/</a:t>
            </a:r>
          </a:p>
        </p:txBody>
      </p:sp>
      <p:sp>
        <p:nvSpPr>
          <p:cNvPr id="15" name="Rectangle 14">
            <a:extLst>
              <a:ext uri="{FF2B5EF4-FFF2-40B4-BE49-F238E27FC236}">
                <a16:creationId xmlns:a16="http://schemas.microsoft.com/office/drawing/2014/main" id="{C5EAAAD3-3A2A-4CC5-A095-B47455A832CE}"/>
              </a:ext>
            </a:extLst>
          </p:cNvPr>
          <p:cNvSpPr>
            <a:spLocks noGrp="1"/>
          </p:cNvSpPr>
          <p:nvPr/>
        </p:nvSpPr>
        <p:spPr>
          <a:xfrm>
            <a:off x="4457700" y="2514600"/>
            <a:ext cx="2971800" cy="2514600"/>
          </a:xfrm>
          <a:prstGeom prst="rect">
            <a:avLst/>
          </a:prstGeom>
          <a:solidFill>
            <a:srgbClr val="F6F1E8"/>
          </a:solidFill>
          <a:ln w="9525">
            <a:solidFill>
              <a:srgbClr val="D3C8BB"/>
            </a:solidFill>
            <a:prstDash val="solid"/>
          </a:ln>
        </p:spPr>
        <p:txBody>
          <a:bodyPr/>
          <a:lstStyle/>
          <a:p>
            <a:endParaRPr lang="en-US"/>
          </a:p>
        </p:txBody>
      </p:sp>
      <p:sp>
        <p:nvSpPr>
          <p:cNvPr id="16" name="Rectangle 15">
            <a:extLst>
              <a:ext uri="{FF2B5EF4-FFF2-40B4-BE49-F238E27FC236}">
                <a16:creationId xmlns:a16="http://schemas.microsoft.com/office/drawing/2014/main" id="{B48BAA67-3CE3-41B9-945B-A02D4741D794}"/>
              </a:ext>
            </a:extLst>
          </p:cNvPr>
          <p:cNvSpPr>
            <a:spLocks noGrp="1"/>
          </p:cNvSpPr>
          <p:nvPr/>
        </p:nvSpPr>
        <p:spPr>
          <a:xfrm>
            <a:off x="4686300" y="2781300"/>
            <a:ext cx="2286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C75C2C"/>
                </a:solidFill>
                <a:latin typeface="Aptos Mono"/>
                <a:ea typeface="Aptos Mono"/>
                <a:cs typeface="Aptos Mono"/>
              </a:defRPr>
            </a:pPr>
            <a:r>
              <a:rPr sz="1275" b="1">
                <a:solidFill>
                  <a:srgbClr val="C75C2C"/>
                </a:solidFill>
                <a:latin typeface="Aptos Mono"/>
                <a:ea typeface="Aptos Mono"/>
                <a:cs typeface="Aptos Mono"/>
              </a:rPr>
              <a:t>~/ai-wiki/system/</a:t>
            </a:r>
          </a:p>
        </p:txBody>
      </p:sp>
      <p:sp>
        <p:nvSpPr>
          <p:cNvPr id="17" name="Rectangle 16">
            <a:extLst>
              <a:ext uri="{FF2B5EF4-FFF2-40B4-BE49-F238E27FC236}">
                <a16:creationId xmlns:a16="http://schemas.microsoft.com/office/drawing/2014/main" id="{F4437BF7-1561-4825-9658-22FEDAD8B1F1}"/>
              </a:ext>
            </a:extLst>
          </p:cNvPr>
          <p:cNvSpPr>
            <a:spLocks noGrp="1"/>
          </p:cNvSpPr>
          <p:nvPr/>
        </p:nvSpPr>
        <p:spPr>
          <a:xfrm>
            <a:off x="4686300" y="3105150"/>
            <a:ext cx="2190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172126"/>
                </a:solidFill>
                <a:latin typeface="Aptos"/>
                <a:ea typeface="Aptos"/>
                <a:cs typeface="Aptos"/>
              </a:defRPr>
            </a:pPr>
            <a:r>
              <a:rPr sz="900" b="1">
                <a:solidFill>
                  <a:srgbClr val="172126"/>
                </a:solidFill>
                <a:latin typeface="Aptos"/>
                <a:ea typeface="Aptos"/>
                <a:cs typeface="Aptos"/>
              </a:rPr>
              <a:t>Cross-project memory</a:t>
            </a:r>
          </a:p>
        </p:txBody>
      </p:sp>
      <p:sp>
        <p:nvSpPr>
          <p:cNvPr id="18" name="Rectangle 17">
            <a:extLst>
              <a:ext uri="{FF2B5EF4-FFF2-40B4-BE49-F238E27FC236}">
                <a16:creationId xmlns:a16="http://schemas.microsoft.com/office/drawing/2014/main" id="{3F2B384C-E776-4272-956D-352D8327D563}"/>
              </a:ext>
            </a:extLst>
          </p:cNvPr>
          <p:cNvSpPr>
            <a:spLocks noGrp="1"/>
          </p:cNvSpPr>
          <p:nvPr/>
        </p:nvSpPr>
        <p:spPr>
          <a:xfrm>
            <a:off x="4762500" y="350520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a:ea typeface="Aptos"/>
                <a:cs typeface="Aptos"/>
              </a:defRPr>
            </a:pPr>
            <a:r>
              <a:rPr sz="788" b="0">
                <a:solidFill>
                  <a:srgbClr val="66706F"/>
                </a:solidFill>
                <a:latin typeface="Aptos"/>
                <a:ea typeface="Aptos"/>
                <a:cs typeface="Aptos"/>
              </a:rPr>
              <a:t>system guidance</a:t>
            </a:r>
          </a:p>
        </p:txBody>
      </p:sp>
      <p:sp>
        <p:nvSpPr>
          <p:cNvPr id="19" name="Rectangle 18">
            <a:extLst>
              <a:ext uri="{FF2B5EF4-FFF2-40B4-BE49-F238E27FC236}">
                <a16:creationId xmlns:a16="http://schemas.microsoft.com/office/drawing/2014/main" id="{2F86A407-3C35-4AD5-B362-2085126EB107}"/>
              </a:ext>
            </a:extLst>
          </p:cNvPr>
          <p:cNvSpPr>
            <a:spLocks noGrp="1"/>
          </p:cNvSpPr>
          <p:nvPr/>
        </p:nvSpPr>
        <p:spPr>
          <a:xfrm>
            <a:off x="4762500" y="3781425"/>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a:ea typeface="Aptos"/>
                <a:cs typeface="Aptos"/>
              </a:defRPr>
            </a:pPr>
            <a:r>
              <a:rPr sz="788" b="0">
                <a:solidFill>
                  <a:srgbClr val="66706F"/>
                </a:solidFill>
                <a:latin typeface="Aptos"/>
                <a:ea typeface="Aptos"/>
                <a:cs typeface="Aptos"/>
              </a:rPr>
              <a:t>shared practices</a:t>
            </a:r>
          </a:p>
        </p:txBody>
      </p:sp>
      <p:sp>
        <p:nvSpPr>
          <p:cNvPr id="20" name="Rectangle 19">
            <a:extLst>
              <a:ext uri="{FF2B5EF4-FFF2-40B4-BE49-F238E27FC236}">
                <a16:creationId xmlns:a16="http://schemas.microsoft.com/office/drawing/2014/main" id="{660BC1B5-75A5-4B1D-A8F0-3F355C4718FB}"/>
              </a:ext>
            </a:extLst>
          </p:cNvPr>
          <p:cNvSpPr>
            <a:spLocks noGrp="1"/>
          </p:cNvSpPr>
          <p:nvPr/>
        </p:nvSpPr>
        <p:spPr>
          <a:xfrm>
            <a:off x="4762500" y="405765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a:ea typeface="Aptos"/>
                <a:cs typeface="Aptos"/>
              </a:defRPr>
            </a:pPr>
            <a:r>
              <a:rPr sz="788" b="0">
                <a:solidFill>
                  <a:srgbClr val="66706F"/>
                </a:solidFill>
                <a:latin typeface="Aptos"/>
                <a:ea typeface="Aptos"/>
                <a:cs typeface="Aptos"/>
              </a:rPr>
              <a:t>portable lessons</a:t>
            </a:r>
          </a:p>
        </p:txBody>
      </p:sp>
      <p:sp>
        <p:nvSpPr>
          <p:cNvPr id="21" name="Rectangle 20">
            <a:extLst>
              <a:ext uri="{FF2B5EF4-FFF2-40B4-BE49-F238E27FC236}">
                <a16:creationId xmlns:a16="http://schemas.microsoft.com/office/drawing/2014/main" id="{E908F906-F29A-44BC-87D7-4F991A9D5161}"/>
              </a:ext>
            </a:extLst>
          </p:cNvPr>
          <p:cNvSpPr>
            <a:spLocks noGrp="1"/>
          </p:cNvSpPr>
          <p:nvPr/>
        </p:nvSpPr>
        <p:spPr>
          <a:xfrm>
            <a:off x="4762500" y="4333875"/>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66706F"/>
                </a:solidFill>
                <a:latin typeface="Aptos"/>
                <a:ea typeface="Aptos"/>
                <a:cs typeface="Aptos"/>
              </a:defRPr>
            </a:pPr>
            <a:r>
              <a:rPr sz="788" b="0">
                <a:solidFill>
                  <a:srgbClr val="66706F"/>
                </a:solidFill>
                <a:latin typeface="Aptos"/>
                <a:ea typeface="Aptos"/>
                <a:cs typeface="Aptos"/>
              </a:rPr>
              <a:t>kept outside one repo</a:t>
            </a:r>
          </a:p>
        </p:txBody>
      </p:sp>
      <p:sp>
        <p:nvSpPr>
          <p:cNvPr id="22" name="Rectangle 21">
            <a:extLst>
              <a:ext uri="{FF2B5EF4-FFF2-40B4-BE49-F238E27FC236}">
                <a16:creationId xmlns:a16="http://schemas.microsoft.com/office/drawing/2014/main" id="{9B9CEE75-29A1-49FD-8FFD-CE435DE55094}"/>
              </a:ext>
            </a:extLst>
          </p:cNvPr>
          <p:cNvSpPr>
            <a:spLocks noGrp="1"/>
          </p:cNvSpPr>
          <p:nvPr/>
        </p:nvSpPr>
        <p:spPr>
          <a:xfrm>
            <a:off x="8058150" y="2266950"/>
            <a:ext cx="2686050" cy="3028950"/>
          </a:xfrm>
          <a:prstGeom prst="rect">
            <a:avLst/>
          </a:prstGeom>
          <a:solidFill>
            <a:srgbClr val="101820"/>
          </a:solidFill>
          <a:ln w="9525">
            <a:solidFill>
              <a:srgbClr val="3E4B52"/>
            </a:solidFill>
            <a:prstDash val="solid"/>
          </a:ln>
        </p:spPr>
        <p:txBody>
          <a:bodyPr/>
          <a:lstStyle/>
          <a:p>
            <a:endParaRPr lang="en-US"/>
          </a:p>
        </p:txBody>
      </p:sp>
      <p:sp>
        <p:nvSpPr>
          <p:cNvPr id="23" name="Rectangle 22">
            <a:extLst>
              <a:ext uri="{FF2B5EF4-FFF2-40B4-BE49-F238E27FC236}">
                <a16:creationId xmlns:a16="http://schemas.microsoft.com/office/drawing/2014/main" id="{AE9BD39B-8375-41FE-895C-7BFDF029A719}"/>
              </a:ext>
            </a:extLst>
          </p:cNvPr>
          <p:cNvSpPr>
            <a:spLocks noGrp="1"/>
          </p:cNvSpPr>
          <p:nvPr/>
        </p:nvSpPr>
        <p:spPr>
          <a:xfrm>
            <a:off x="8362950" y="2590800"/>
            <a:ext cx="2095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Agent wiring</a:t>
            </a:r>
          </a:p>
        </p:txBody>
      </p:sp>
      <p:sp>
        <p:nvSpPr>
          <p:cNvPr id="24" name="Rectangle 23">
            <a:extLst>
              <a:ext uri="{FF2B5EF4-FFF2-40B4-BE49-F238E27FC236}">
                <a16:creationId xmlns:a16="http://schemas.microsoft.com/office/drawing/2014/main" id="{DF02115A-FE41-48B8-8D7A-CA731CCDE47C}"/>
              </a:ext>
            </a:extLst>
          </p:cNvPr>
          <p:cNvSpPr>
            <a:spLocks noGrp="1"/>
          </p:cNvSpPr>
          <p:nvPr/>
        </p:nvSpPr>
        <p:spPr>
          <a:xfrm>
            <a:off x="8362950" y="3105150"/>
            <a:ext cx="2076450" cy="609600"/>
          </a:xfrm>
          <a:prstGeom prst="rect">
            <a:avLst/>
          </a:prstGeom>
          <a:solidFill>
            <a:srgbClr val="17242D"/>
          </a:solidFill>
          <a:ln w="9525">
            <a:solidFill>
              <a:srgbClr val="35454D"/>
            </a:solidFill>
            <a:prstDash val="solid"/>
          </a:ln>
        </p:spPr>
        <p:txBody>
          <a:bodyPr/>
          <a:lstStyle/>
          <a:p>
            <a:endParaRPr lang="en-US"/>
          </a:p>
        </p:txBody>
      </p:sp>
      <p:sp>
        <p:nvSpPr>
          <p:cNvPr id="25" name="Rectangle 24">
            <a:extLst>
              <a:ext uri="{FF2B5EF4-FFF2-40B4-BE49-F238E27FC236}">
                <a16:creationId xmlns:a16="http://schemas.microsoft.com/office/drawing/2014/main" id="{A77CE25F-0572-4E22-8B00-1B874D1D3F18}"/>
              </a:ext>
            </a:extLst>
          </p:cNvPr>
          <p:cNvSpPr>
            <a:spLocks noGrp="1"/>
          </p:cNvSpPr>
          <p:nvPr/>
        </p:nvSpPr>
        <p:spPr>
          <a:xfrm>
            <a:off x="8362950" y="3105150"/>
            <a:ext cx="47625" cy="609600"/>
          </a:xfrm>
          <a:prstGeom prst="rect">
            <a:avLst/>
          </a:prstGeom>
          <a:solidFill>
            <a:srgbClr val="C9A227"/>
          </a:solidFill>
          <a:ln w="0">
            <a:solidFill>
              <a:srgbClr val="C9A227"/>
            </a:solidFill>
            <a:prstDash val="solid"/>
          </a:ln>
        </p:spPr>
        <p:txBody>
          <a:bodyPr/>
          <a:lstStyle/>
          <a:p>
            <a:endParaRPr lang="en-US"/>
          </a:p>
        </p:txBody>
      </p:sp>
      <p:sp>
        <p:nvSpPr>
          <p:cNvPr id="26" name="Rectangle 25">
            <a:extLst>
              <a:ext uri="{FF2B5EF4-FFF2-40B4-BE49-F238E27FC236}">
                <a16:creationId xmlns:a16="http://schemas.microsoft.com/office/drawing/2014/main" id="{4DB0BAEF-C8F6-4D5E-BEBD-BCD865B03669}"/>
              </a:ext>
            </a:extLst>
          </p:cNvPr>
          <p:cNvSpPr>
            <a:spLocks noGrp="1"/>
          </p:cNvSpPr>
          <p:nvPr/>
        </p:nvSpPr>
        <p:spPr>
          <a:xfrm>
            <a:off x="8534400" y="3238500"/>
            <a:ext cx="1733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Prompt block</a:t>
            </a:r>
          </a:p>
        </p:txBody>
      </p:sp>
      <p:sp>
        <p:nvSpPr>
          <p:cNvPr id="27" name="Rectangle 26">
            <a:extLst>
              <a:ext uri="{FF2B5EF4-FFF2-40B4-BE49-F238E27FC236}">
                <a16:creationId xmlns:a16="http://schemas.microsoft.com/office/drawing/2014/main" id="{6DB747B5-AE5A-48D4-8E04-E9E3240BB754}"/>
              </a:ext>
            </a:extLst>
          </p:cNvPr>
          <p:cNvSpPr>
            <a:spLocks noGrp="1"/>
          </p:cNvSpPr>
          <p:nvPr/>
        </p:nvSpPr>
        <p:spPr>
          <a:xfrm>
            <a:off x="8534400" y="3476625"/>
            <a:ext cx="1733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B8C5C8"/>
                </a:solidFill>
                <a:latin typeface="Aptos"/>
                <a:ea typeface="Aptos"/>
                <a:cs typeface="Aptos"/>
              </a:defRPr>
            </a:pPr>
            <a:r>
              <a:rPr sz="713" b="0">
                <a:solidFill>
                  <a:srgbClr val="B8C5C8"/>
                </a:solidFill>
                <a:latin typeface="Aptos"/>
                <a:ea typeface="Aptos"/>
                <a:cs typeface="Aptos"/>
              </a:rPr>
              <a:t>AGENTS.md / CLAUDE.md</a:t>
            </a:r>
          </a:p>
        </p:txBody>
      </p:sp>
      <p:sp>
        <p:nvSpPr>
          <p:cNvPr id="28" name="Rectangle 27">
            <a:extLst>
              <a:ext uri="{FF2B5EF4-FFF2-40B4-BE49-F238E27FC236}">
                <a16:creationId xmlns:a16="http://schemas.microsoft.com/office/drawing/2014/main" id="{30938EF8-A48A-40CF-AC9F-7C6EBDC8E614}"/>
              </a:ext>
            </a:extLst>
          </p:cNvPr>
          <p:cNvSpPr>
            <a:spLocks noGrp="1"/>
          </p:cNvSpPr>
          <p:nvPr/>
        </p:nvSpPr>
        <p:spPr>
          <a:xfrm>
            <a:off x="8362950" y="3886200"/>
            <a:ext cx="2076450" cy="609600"/>
          </a:xfrm>
          <a:prstGeom prst="rect">
            <a:avLst/>
          </a:prstGeom>
          <a:solidFill>
            <a:srgbClr val="17242D"/>
          </a:solidFill>
          <a:ln w="9525">
            <a:solidFill>
              <a:srgbClr val="35454D"/>
            </a:solidFill>
            <a:prstDash val="solid"/>
          </a:ln>
        </p:spPr>
        <p:txBody>
          <a:bodyPr/>
          <a:lstStyle/>
          <a:p>
            <a:endParaRPr lang="en-US"/>
          </a:p>
        </p:txBody>
      </p:sp>
      <p:sp>
        <p:nvSpPr>
          <p:cNvPr id="29" name="Rectangle 28">
            <a:extLst>
              <a:ext uri="{FF2B5EF4-FFF2-40B4-BE49-F238E27FC236}">
                <a16:creationId xmlns:a16="http://schemas.microsoft.com/office/drawing/2014/main" id="{8F4A990F-3B55-437A-B8DC-3D04E6A423FF}"/>
              </a:ext>
            </a:extLst>
          </p:cNvPr>
          <p:cNvSpPr>
            <a:spLocks noGrp="1"/>
          </p:cNvSpPr>
          <p:nvPr/>
        </p:nvSpPr>
        <p:spPr>
          <a:xfrm>
            <a:off x="8362950" y="3886200"/>
            <a:ext cx="47625" cy="609600"/>
          </a:xfrm>
          <a:prstGeom prst="rect">
            <a:avLst/>
          </a:prstGeom>
          <a:solidFill>
            <a:srgbClr val="1E7E78"/>
          </a:solidFill>
          <a:ln w="0">
            <a:solidFill>
              <a:srgbClr val="1E7E78"/>
            </a:solidFill>
            <a:prstDash val="solid"/>
          </a:ln>
        </p:spPr>
        <p:txBody>
          <a:bodyPr/>
          <a:lstStyle/>
          <a:p>
            <a:endParaRPr lang="en-US"/>
          </a:p>
        </p:txBody>
      </p:sp>
      <p:sp>
        <p:nvSpPr>
          <p:cNvPr id="30" name="Rectangle 29">
            <a:extLst>
              <a:ext uri="{FF2B5EF4-FFF2-40B4-BE49-F238E27FC236}">
                <a16:creationId xmlns:a16="http://schemas.microsoft.com/office/drawing/2014/main" id="{17456894-A0EB-44B9-9752-56DE87C49E9F}"/>
              </a:ext>
            </a:extLst>
          </p:cNvPr>
          <p:cNvSpPr>
            <a:spLocks noGrp="1"/>
          </p:cNvSpPr>
          <p:nvPr/>
        </p:nvSpPr>
        <p:spPr>
          <a:xfrm>
            <a:off x="8534400" y="4019550"/>
            <a:ext cx="1733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Task router</a:t>
            </a:r>
          </a:p>
        </p:txBody>
      </p:sp>
      <p:sp>
        <p:nvSpPr>
          <p:cNvPr id="31" name="Rectangle 30">
            <a:extLst>
              <a:ext uri="{FF2B5EF4-FFF2-40B4-BE49-F238E27FC236}">
                <a16:creationId xmlns:a16="http://schemas.microsoft.com/office/drawing/2014/main" id="{D88DA8FC-7A92-406F-8CBF-0AE8032CEF60}"/>
              </a:ext>
            </a:extLst>
          </p:cNvPr>
          <p:cNvSpPr>
            <a:spLocks noGrp="1"/>
          </p:cNvSpPr>
          <p:nvPr/>
        </p:nvSpPr>
        <p:spPr>
          <a:xfrm>
            <a:off x="8534400" y="4257675"/>
            <a:ext cx="1733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B8C5C8"/>
                </a:solidFill>
                <a:latin typeface="Aptos"/>
                <a:ea typeface="Aptos"/>
                <a:cs typeface="Aptos"/>
              </a:defRPr>
            </a:pPr>
            <a:r>
              <a:rPr sz="713" b="0">
                <a:solidFill>
                  <a:srgbClr val="B8C5C8"/>
                </a:solidFill>
                <a:latin typeface="Aptos"/>
                <a:ea typeface="Aptos"/>
                <a:cs typeface="Aptos"/>
              </a:rPr>
              <a:t>aiwiki-toolkit route</a:t>
            </a:r>
          </a:p>
        </p:txBody>
      </p:sp>
      <p:sp>
        <p:nvSpPr>
          <p:cNvPr id="32" name="Rectangle 31">
            <a:extLst>
              <a:ext uri="{FF2B5EF4-FFF2-40B4-BE49-F238E27FC236}">
                <a16:creationId xmlns:a16="http://schemas.microsoft.com/office/drawing/2014/main" id="{EFA0492E-9888-4EE2-AC5F-B6512BFE045A}"/>
              </a:ext>
            </a:extLst>
          </p:cNvPr>
          <p:cNvSpPr>
            <a:spLocks noGrp="1"/>
          </p:cNvSpPr>
          <p:nvPr/>
        </p:nvSpPr>
        <p:spPr>
          <a:xfrm>
            <a:off x="8362950" y="4667250"/>
            <a:ext cx="2076450" cy="609600"/>
          </a:xfrm>
          <a:prstGeom prst="rect">
            <a:avLst/>
          </a:prstGeom>
          <a:solidFill>
            <a:srgbClr val="17242D"/>
          </a:solidFill>
          <a:ln w="9525">
            <a:solidFill>
              <a:srgbClr val="35454D"/>
            </a:solidFill>
            <a:prstDash val="solid"/>
          </a:ln>
        </p:spPr>
        <p:txBody>
          <a:bodyPr/>
          <a:lstStyle/>
          <a:p>
            <a:endParaRPr lang="en-US"/>
          </a:p>
        </p:txBody>
      </p:sp>
      <p:sp>
        <p:nvSpPr>
          <p:cNvPr id="33" name="Rectangle 32">
            <a:extLst>
              <a:ext uri="{FF2B5EF4-FFF2-40B4-BE49-F238E27FC236}">
                <a16:creationId xmlns:a16="http://schemas.microsoft.com/office/drawing/2014/main" id="{62365A42-41EB-4AE7-8FD5-F5D1B3D297CC}"/>
              </a:ext>
            </a:extLst>
          </p:cNvPr>
          <p:cNvSpPr>
            <a:spLocks noGrp="1"/>
          </p:cNvSpPr>
          <p:nvPr/>
        </p:nvSpPr>
        <p:spPr>
          <a:xfrm>
            <a:off x="8362950" y="4667250"/>
            <a:ext cx="47625" cy="609600"/>
          </a:xfrm>
          <a:prstGeom prst="rect">
            <a:avLst/>
          </a:prstGeom>
          <a:solidFill>
            <a:srgbClr val="C75C2C"/>
          </a:solidFill>
          <a:ln w="0">
            <a:solidFill>
              <a:srgbClr val="C75C2C"/>
            </a:solidFill>
            <a:prstDash val="solid"/>
          </a:ln>
        </p:spPr>
        <p:txBody>
          <a:bodyPr/>
          <a:lstStyle/>
          <a:p>
            <a:endParaRPr lang="en-US"/>
          </a:p>
        </p:txBody>
      </p:sp>
      <p:sp>
        <p:nvSpPr>
          <p:cNvPr id="34" name="Rectangle 33">
            <a:extLst>
              <a:ext uri="{FF2B5EF4-FFF2-40B4-BE49-F238E27FC236}">
                <a16:creationId xmlns:a16="http://schemas.microsoft.com/office/drawing/2014/main" id="{7E739116-7084-4C2A-A383-2F8F78FCB971}"/>
              </a:ext>
            </a:extLst>
          </p:cNvPr>
          <p:cNvSpPr>
            <a:spLocks noGrp="1"/>
          </p:cNvSpPr>
          <p:nvPr/>
        </p:nvSpPr>
        <p:spPr>
          <a:xfrm>
            <a:off x="8534400" y="4800600"/>
            <a:ext cx="1733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Repo-local skills</a:t>
            </a:r>
          </a:p>
        </p:txBody>
      </p:sp>
      <p:sp>
        <p:nvSpPr>
          <p:cNvPr id="35" name="Rectangle 34">
            <a:extLst>
              <a:ext uri="{FF2B5EF4-FFF2-40B4-BE49-F238E27FC236}">
                <a16:creationId xmlns:a16="http://schemas.microsoft.com/office/drawing/2014/main" id="{17383588-D1D4-42C6-A48D-26F060B4E004}"/>
              </a:ext>
            </a:extLst>
          </p:cNvPr>
          <p:cNvSpPr>
            <a:spLocks noGrp="1"/>
          </p:cNvSpPr>
          <p:nvPr/>
        </p:nvSpPr>
        <p:spPr>
          <a:xfrm>
            <a:off x="8534400" y="5038725"/>
            <a:ext cx="1733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B8C5C8"/>
                </a:solidFill>
                <a:latin typeface="Aptos"/>
                <a:ea typeface="Aptos"/>
                <a:cs typeface="Aptos"/>
              </a:defRPr>
            </a:pPr>
            <a:r>
              <a:rPr sz="713" b="0">
                <a:solidFill>
                  <a:srgbClr val="B8C5C8"/>
                </a:solidFill>
                <a:latin typeface="Aptos"/>
                <a:ea typeface="Aptos"/>
                <a:cs typeface="Aptos"/>
              </a:rPr>
              <a:t>reuse + write-back checks</a:t>
            </a:r>
          </a:p>
        </p:txBody>
      </p:sp>
      <p:sp>
        <p:nvSpPr>
          <p:cNvPr id="36" name="Rectangle 35">
            <a:extLst>
              <a:ext uri="{FF2B5EF4-FFF2-40B4-BE49-F238E27FC236}">
                <a16:creationId xmlns:a16="http://schemas.microsoft.com/office/drawing/2014/main" id="{FC141AD8-0562-4118-8058-82CEA9D77987}"/>
              </a:ext>
            </a:extLst>
          </p:cNvPr>
          <p:cNvSpPr>
            <a:spLocks noGrp="1"/>
          </p:cNvSpPr>
          <p:nvPr/>
        </p:nvSpPr>
        <p:spPr>
          <a:xfrm>
            <a:off x="3829050" y="3771900"/>
            <a:ext cx="628650" cy="19050"/>
          </a:xfrm>
          <a:prstGeom prst="rect">
            <a:avLst/>
          </a:prstGeom>
          <a:solidFill>
            <a:srgbClr val="B9AA9A"/>
          </a:solidFill>
          <a:ln w="0">
            <a:solidFill>
              <a:srgbClr val="B9AA9A"/>
            </a:solidFill>
            <a:prstDash val="solid"/>
          </a:ln>
        </p:spPr>
        <p:txBody>
          <a:bodyPr/>
          <a:lstStyle/>
          <a:p>
            <a:endParaRPr lang="en-US"/>
          </a:p>
        </p:txBody>
      </p:sp>
      <p:sp>
        <p:nvSpPr>
          <p:cNvPr id="37" name="Rectangle 36">
            <a:extLst>
              <a:ext uri="{FF2B5EF4-FFF2-40B4-BE49-F238E27FC236}">
                <a16:creationId xmlns:a16="http://schemas.microsoft.com/office/drawing/2014/main" id="{2ECC0F9F-4AB7-4CA9-9D90-3A19F973B195}"/>
              </a:ext>
            </a:extLst>
          </p:cNvPr>
          <p:cNvSpPr>
            <a:spLocks noGrp="1"/>
          </p:cNvSpPr>
          <p:nvPr/>
        </p:nvSpPr>
        <p:spPr>
          <a:xfrm>
            <a:off x="7429500" y="3771900"/>
            <a:ext cx="628650" cy="19050"/>
          </a:xfrm>
          <a:prstGeom prst="rect">
            <a:avLst/>
          </a:prstGeom>
          <a:solidFill>
            <a:srgbClr val="B9AA9A"/>
          </a:solidFill>
          <a:ln w="0">
            <a:solidFill>
              <a:srgbClr val="B9AA9A"/>
            </a:solidFill>
            <a:prstDash val="solid"/>
          </a:ln>
        </p:spPr>
        <p:txBody>
          <a:bodyPr/>
          <a:lstStyle/>
          <a:p>
            <a:endParaRPr lang="en-US"/>
          </a:p>
        </p:txBody>
      </p:sp>
      <p:sp>
        <p:nvSpPr>
          <p:cNvPr id="38" name="Rectangle 37">
            <a:extLst>
              <a:ext uri="{FF2B5EF4-FFF2-40B4-BE49-F238E27FC236}">
                <a16:creationId xmlns:a16="http://schemas.microsoft.com/office/drawing/2014/main" id="{3EBD3CAC-65CD-4617-89D9-6F152B64EC43}"/>
              </a:ext>
            </a:extLst>
          </p:cNvPr>
          <p:cNvSpPr>
            <a:spLocks noGrp="1"/>
          </p:cNvSpPr>
          <p:nvPr/>
        </p:nvSpPr>
        <p:spPr>
          <a:xfrm>
            <a:off x="3943350" y="3562350"/>
            <a:ext cx="704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1">
                <a:solidFill>
                  <a:srgbClr val="66706F"/>
                </a:solidFill>
                <a:latin typeface="Aptos"/>
                <a:ea typeface="Aptos"/>
                <a:cs typeface="Aptos"/>
              </a:defRPr>
            </a:pPr>
            <a:r>
              <a:rPr sz="638" b="1">
                <a:solidFill>
                  <a:srgbClr val="66706F"/>
                </a:solidFill>
                <a:latin typeface="Aptos"/>
                <a:ea typeface="Aptos"/>
                <a:cs typeface="Aptos"/>
              </a:rPr>
              <a:t>visible files</a:t>
            </a:r>
          </a:p>
        </p:txBody>
      </p:sp>
      <p:sp>
        <p:nvSpPr>
          <p:cNvPr id="39" name="Rectangle 38">
            <a:extLst>
              <a:ext uri="{FF2B5EF4-FFF2-40B4-BE49-F238E27FC236}">
                <a16:creationId xmlns:a16="http://schemas.microsoft.com/office/drawing/2014/main" id="{1C4ECDC8-7902-4539-B2B4-6F9B58119BDE}"/>
              </a:ext>
            </a:extLst>
          </p:cNvPr>
          <p:cNvSpPr>
            <a:spLocks noGrp="1"/>
          </p:cNvSpPr>
          <p:nvPr/>
        </p:nvSpPr>
        <p:spPr>
          <a:xfrm>
            <a:off x="7486650" y="3562350"/>
            <a:ext cx="800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1">
                <a:solidFill>
                  <a:srgbClr val="66706F"/>
                </a:solidFill>
                <a:latin typeface="Aptos"/>
                <a:ea typeface="Aptos"/>
                <a:cs typeface="Aptos"/>
              </a:defRPr>
            </a:pPr>
            <a:r>
              <a:rPr sz="638" b="1">
                <a:solidFill>
                  <a:srgbClr val="66706F"/>
                </a:solidFill>
                <a:latin typeface="Aptos"/>
                <a:ea typeface="Aptos"/>
                <a:cs typeface="Aptos"/>
              </a:rPr>
              <a:t>runtime cues</a:t>
            </a:r>
          </a:p>
        </p:txBody>
      </p:sp>
      <p:sp>
        <p:nvSpPr>
          <p:cNvPr id="40" name="Rectangle 39">
            <a:extLst>
              <a:ext uri="{FF2B5EF4-FFF2-40B4-BE49-F238E27FC236}">
                <a16:creationId xmlns:a16="http://schemas.microsoft.com/office/drawing/2014/main" id="{D0D29A0B-F622-48AF-908E-B512880CB62D}"/>
              </a:ext>
            </a:extLst>
          </p:cNvPr>
          <p:cNvSpPr>
            <a:spLocks noGrp="1"/>
          </p:cNvSpPr>
          <p:nvPr/>
        </p:nvSpPr>
        <p:spPr>
          <a:xfrm>
            <a:off x="742950" y="5391150"/>
            <a:ext cx="4495800" cy="552450"/>
          </a:xfrm>
          <a:prstGeom prst="rect">
            <a:avLst/>
          </a:prstGeom>
          <a:solidFill>
            <a:srgbClr val="F9F6F0"/>
          </a:solidFill>
          <a:ln w="9525">
            <a:solidFill>
              <a:srgbClr val="D9CEC0"/>
            </a:solidFill>
            <a:prstDash val="solid"/>
          </a:ln>
        </p:spPr>
        <p:txBody>
          <a:bodyPr lIns="133350" tIns="114300" rIns="133350" bIns="114300" anchor="t"/>
          <a:lstStyle/>
          <a:p>
            <a:pPr algn="l">
              <a:defRPr sz="975" b="0">
                <a:solidFill>
                  <a:srgbClr val="172126"/>
                </a:solidFill>
                <a:latin typeface="Aptos Mono"/>
                <a:ea typeface="Aptos Mono"/>
                <a:cs typeface="Aptos Mono"/>
              </a:defRPr>
            </a:pPr>
            <a:r>
              <a:rPr sz="975" b="0" dirty="0" err="1">
                <a:solidFill>
                  <a:srgbClr val="172126"/>
                </a:solidFill>
                <a:latin typeface="Aptos Mono"/>
                <a:ea typeface="Aptos Mono"/>
                <a:cs typeface="Aptos Mono"/>
              </a:rPr>
              <a:t>aiwiki</a:t>
            </a:r>
            <a:r>
              <a:rPr sz="975" b="0" dirty="0">
                <a:solidFill>
                  <a:srgbClr val="172126"/>
                </a:solidFill>
                <a:latin typeface="Aptos Mono"/>
                <a:ea typeface="Aptos Mono"/>
                <a:cs typeface="Aptos Mono"/>
              </a:rPr>
              <a:t>-toolkit install</a:t>
            </a:r>
          </a:p>
          <a:p>
            <a:pPr algn="l">
              <a:defRPr sz="975" b="0">
                <a:solidFill>
                  <a:srgbClr val="172126"/>
                </a:solidFill>
                <a:latin typeface="Aptos Mono"/>
                <a:ea typeface="Aptos Mono"/>
                <a:cs typeface="Aptos Mono"/>
              </a:defRPr>
            </a:pPr>
            <a:r>
              <a:rPr sz="975" b="0" dirty="0" err="1">
                <a:solidFill>
                  <a:srgbClr val="172126"/>
                </a:solidFill>
                <a:latin typeface="Aptos Mono"/>
                <a:ea typeface="Aptos Mono"/>
                <a:cs typeface="Aptos Mono"/>
              </a:rPr>
              <a:t>aiwiki</a:t>
            </a:r>
            <a:r>
              <a:rPr sz="975" b="0" dirty="0">
                <a:solidFill>
                  <a:srgbClr val="172126"/>
                </a:solidFill>
                <a:latin typeface="Aptos Mono"/>
                <a:ea typeface="Aptos Mono"/>
                <a:cs typeface="Aptos Mono"/>
              </a:rPr>
              <a:t>-toolkit route --task "..."</a:t>
            </a:r>
          </a:p>
        </p:txBody>
      </p:sp>
      <p:sp>
        <p:nvSpPr>
          <p:cNvPr id="41" name="Rectangle 40">
            <a:extLst>
              <a:ext uri="{FF2B5EF4-FFF2-40B4-BE49-F238E27FC236}">
                <a16:creationId xmlns:a16="http://schemas.microsoft.com/office/drawing/2014/main" id="{C4EBE416-875A-4F13-A981-25D120486FE5}"/>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2" name="Rectangle 41">
            <a:extLst>
              <a:ext uri="{FF2B5EF4-FFF2-40B4-BE49-F238E27FC236}">
                <a16:creationId xmlns:a16="http://schemas.microsoft.com/office/drawing/2014/main" id="{85531FFE-0E7D-4331-B793-8B5B0631F59D}"/>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README architecture and install sections</a:t>
            </a:r>
          </a:p>
        </p:txBody>
      </p:sp>
      <p:sp>
        <p:nvSpPr>
          <p:cNvPr id="43" name="Rectangle 42">
            <a:extLst>
              <a:ext uri="{FF2B5EF4-FFF2-40B4-BE49-F238E27FC236}">
                <a16:creationId xmlns:a16="http://schemas.microsoft.com/office/drawing/2014/main" id="{CA514146-C818-4A36-9F01-9E857A8F7F7F}"/>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a:solidFill>
                  <a:srgbClr val="66706F"/>
                </a:solidFill>
                <a:latin typeface="Aptos"/>
                <a:ea typeface="Aptos"/>
                <a:cs typeface="Aptos"/>
              </a:rPr>
              <a:t>03</a:t>
            </a:r>
          </a:p>
        </p:txBody>
      </p:sp>
    </p:spTree>
    <p:extLst>
      <p:ext uri="{BB962C8B-B14F-4D97-AF65-F5344CB8AC3E}">
        <p14:creationId xmlns:p14="http://schemas.microsoft.com/office/powerpoint/2010/main" val="1428376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43A9DB8-02BD-482F-88D2-2BA9AFD50B67}"/>
              </a:ext>
            </a:extLst>
          </p:cNvPr>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lang="en-US"/>
          </a:p>
        </p:txBody>
      </p:sp>
      <p:sp>
        <p:nvSpPr>
          <p:cNvPr id="2" name="kicker-marker">
            <a:extLst>
              <a:ext uri="{FF2B5EF4-FFF2-40B4-BE49-F238E27FC236}">
                <a16:creationId xmlns:a16="http://schemas.microsoft.com/office/drawing/2014/main" id="{2DE891FE-6E72-42EA-B49A-50C92BE60071}"/>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86F9D688-72F2-4FDB-82A5-EE7AF990358C}"/>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E7F253DF-3CE0-43DF-9B1A-FCD32F8FC775}"/>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WORKFLOW</a:t>
            </a:r>
          </a:p>
        </p:txBody>
      </p:sp>
      <p:sp>
        <p:nvSpPr>
          <p:cNvPr id="5" name="Rectangle 4">
            <a:extLst>
              <a:ext uri="{FF2B5EF4-FFF2-40B4-BE49-F238E27FC236}">
                <a16:creationId xmlns:a16="http://schemas.microsoft.com/office/drawing/2014/main" id="{0EF43750-B882-4CC7-A66D-897C79DD2A7C}"/>
              </a:ext>
            </a:extLst>
          </p:cNvPr>
          <p:cNvSpPr>
            <a:spLocks noGrp="1"/>
          </p:cNvSpPr>
          <p:nvPr/>
        </p:nvSpPr>
        <p:spPr>
          <a:xfrm>
            <a:off x="552450" y="800100"/>
            <a:ext cx="7810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126"/>
                </a:solidFill>
                <a:latin typeface="Aptos Display"/>
                <a:ea typeface="Aptos Display"/>
                <a:cs typeface="Aptos Display"/>
              </a:defRPr>
            </a:pPr>
            <a:r>
              <a:rPr sz="2700" b="1">
                <a:solidFill>
                  <a:srgbClr val="172126"/>
                </a:solidFill>
                <a:latin typeface="Aptos Display"/>
                <a:ea typeface="Aptos Display"/>
                <a:cs typeface="Aptos Display"/>
              </a:rPr>
              <a:t>The workflow turns each task into better context for the next one.</a:t>
            </a:r>
          </a:p>
        </p:txBody>
      </p:sp>
      <p:sp>
        <p:nvSpPr>
          <p:cNvPr id="6" name="Rectangle 5">
            <a:extLst>
              <a:ext uri="{FF2B5EF4-FFF2-40B4-BE49-F238E27FC236}">
                <a16:creationId xmlns:a16="http://schemas.microsoft.com/office/drawing/2014/main" id="{B59C87C7-8153-4846-82FB-E5BD238D63B9}"/>
              </a:ext>
            </a:extLst>
          </p:cNvPr>
          <p:cNvSpPr>
            <a:spLocks noGrp="1"/>
          </p:cNvSpPr>
          <p:nvPr/>
        </p:nvSpPr>
        <p:spPr>
          <a:xfrm>
            <a:off x="552450" y="1809750"/>
            <a:ext cx="4953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6706F"/>
                </a:solidFill>
                <a:latin typeface="Aptos"/>
                <a:ea typeface="Aptos"/>
                <a:cs typeface="Aptos"/>
              </a:defRPr>
            </a:pPr>
            <a:r>
              <a:rPr sz="975" b="0">
                <a:solidFill>
                  <a:srgbClr val="66706F"/>
                </a:solidFill>
                <a:latin typeface="Aptos"/>
                <a:ea typeface="Aptos"/>
                <a:cs typeface="Aptos"/>
              </a:rPr>
              <a:t>The important behavior is the loop: read relevant memory, do the work, record what helped, and preserve durable lessons.</a:t>
            </a:r>
          </a:p>
        </p:txBody>
      </p:sp>
      <p:sp>
        <p:nvSpPr>
          <p:cNvPr id="7" name="Oval 6">
            <a:extLst>
              <a:ext uri="{FF2B5EF4-FFF2-40B4-BE49-F238E27FC236}">
                <a16:creationId xmlns:a16="http://schemas.microsoft.com/office/drawing/2014/main" id="{5B5647C5-C845-461D-8B88-3FBBFC9CDF95}"/>
              </a:ext>
            </a:extLst>
          </p:cNvPr>
          <p:cNvSpPr>
            <a:spLocks noGrp="1"/>
          </p:cNvSpPr>
          <p:nvPr/>
        </p:nvSpPr>
        <p:spPr>
          <a:xfrm>
            <a:off x="5143500" y="2914650"/>
            <a:ext cx="1638300" cy="1638300"/>
          </a:xfrm>
          <a:prstGeom prst="ellipse">
            <a:avLst/>
          </a:prstGeom>
          <a:solidFill>
            <a:srgbClr val="101820"/>
          </a:solidFill>
          <a:ln w="0">
            <a:solidFill>
              <a:srgbClr val="101820"/>
            </a:solidFill>
            <a:prstDash val="solid"/>
          </a:ln>
        </p:spPr>
        <p:txBody>
          <a:bodyPr/>
          <a:lstStyle/>
          <a:p>
            <a:endParaRPr lang="en-US"/>
          </a:p>
        </p:txBody>
      </p:sp>
      <p:sp>
        <p:nvSpPr>
          <p:cNvPr id="8" name="Rectangle 7">
            <a:extLst>
              <a:ext uri="{FF2B5EF4-FFF2-40B4-BE49-F238E27FC236}">
                <a16:creationId xmlns:a16="http://schemas.microsoft.com/office/drawing/2014/main" id="{31939C88-F00B-4895-8038-B79AA598CFBF}"/>
              </a:ext>
            </a:extLst>
          </p:cNvPr>
          <p:cNvSpPr>
            <a:spLocks noGrp="1"/>
          </p:cNvSpPr>
          <p:nvPr/>
        </p:nvSpPr>
        <p:spPr>
          <a:xfrm>
            <a:off x="5410200" y="3371850"/>
            <a:ext cx="11049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memory</a:t>
            </a:r>
          </a:p>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flywheel</a:t>
            </a:r>
          </a:p>
        </p:txBody>
      </p:sp>
      <p:sp>
        <p:nvSpPr>
          <p:cNvPr id="9" name="Rectangle 8">
            <a:extLst>
              <a:ext uri="{FF2B5EF4-FFF2-40B4-BE49-F238E27FC236}">
                <a16:creationId xmlns:a16="http://schemas.microsoft.com/office/drawing/2014/main" id="{DD834281-DA2F-4DEF-AF9C-5DA7F9F5141D}"/>
              </a:ext>
            </a:extLst>
          </p:cNvPr>
          <p:cNvSpPr>
            <a:spLocks noGrp="1"/>
          </p:cNvSpPr>
          <p:nvPr/>
        </p:nvSpPr>
        <p:spPr>
          <a:xfrm>
            <a:off x="2286000" y="2247900"/>
            <a:ext cx="2190750" cy="819150"/>
          </a:xfrm>
          <a:prstGeom prst="rect">
            <a:avLst/>
          </a:prstGeom>
          <a:solidFill>
            <a:srgbClr val="F9F6F0"/>
          </a:solidFill>
          <a:ln w="9525">
            <a:solidFill>
              <a:srgbClr val="D5CABD"/>
            </a:solidFill>
            <a:prstDash val="solid"/>
          </a:ln>
        </p:spPr>
        <p:txBody>
          <a:bodyPr/>
          <a:lstStyle/>
          <a:p>
            <a:endParaRPr lang="en-US"/>
          </a:p>
        </p:txBody>
      </p:sp>
      <p:sp>
        <p:nvSpPr>
          <p:cNvPr id="10" name="Rectangle 9">
            <a:extLst>
              <a:ext uri="{FF2B5EF4-FFF2-40B4-BE49-F238E27FC236}">
                <a16:creationId xmlns:a16="http://schemas.microsoft.com/office/drawing/2014/main" id="{233087A4-86DC-4D67-90C2-42C4AC67A869}"/>
              </a:ext>
            </a:extLst>
          </p:cNvPr>
          <p:cNvSpPr>
            <a:spLocks noGrp="1"/>
          </p:cNvSpPr>
          <p:nvPr/>
        </p:nvSpPr>
        <p:spPr>
          <a:xfrm>
            <a:off x="2457450" y="2438400"/>
            <a:ext cx="381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C75C2C"/>
                </a:solidFill>
                <a:latin typeface="Aptos Display"/>
                <a:ea typeface="Aptos Display"/>
                <a:cs typeface="Aptos Display"/>
              </a:defRPr>
            </a:pPr>
            <a:r>
              <a:rPr sz="1800" b="1">
                <a:solidFill>
                  <a:srgbClr val="C75C2C"/>
                </a:solidFill>
                <a:latin typeface="Aptos Display"/>
                <a:ea typeface="Aptos Display"/>
                <a:cs typeface="Aptos Display"/>
              </a:rPr>
              <a:t>01</a:t>
            </a:r>
          </a:p>
        </p:txBody>
      </p:sp>
      <p:sp>
        <p:nvSpPr>
          <p:cNvPr id="11" name="Rectangle 10">
            <a:extLst>
              <a:ext uri="{FF2B5EF4-FFF2-40B4-BE49-F238E27FC236}">
                <a16:creationId xmlns:a16="http://schemas.microsoft.com/office/drawing/2014/main" id="{5050EAA4-FA41-4316-B4F2-B6CFD5897C2C}"/>
              </a:ext>
            </a:extLst>
          </p:cNvPr>
          <p:cNvSpPr>
            <a:spLocks noGrp="1"/>
          </p:cNvSpPr>
          <p:nvPr/>
        </p:nvSpPr>
        <p:spPr>
          <a:xfrm>
            <a:off x="2952750" y="2419350"/>
            <a:ext cx="1257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Install</a:t>
            </a:r>
          </a:p>
        </p:txBody>
      </p:sp>
      <p:sp>
        <p:nvSpPr>
          <p:cNvPr id="12" name="Rectangle 11">
            <a:extLst>
              <a:ext uri="{FF2B5EF4-FFF2-40B4-BE49-F238E27FC236}">
                <a16:creationId xmlns:a16="http://schemas.microsoft.com/office/drawing/2014/main" id="{A5EDF821-9AEF-46C2-A3D6-99B43B41BFAD}"/>
              </a:ext>
            </a:extLst>
          </p:cNvPr>
          <p:cNvSpPr>
            <a:spLocks noGrp="1"/>
          </p:cNvSpPr>
          <p:nvPr/>
        </p:nvSpPr>
        <p:spPr>
          <a:xfrm>
            <a:off x="2952750" y="264795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scaffold ai-wiki/ + prompt block</a:t>
            </a:r>
          </a:p>
        </p:txBody>
      </p:sp>
      <p:sp>
        <p:nvSpPr>
          <p:cNvPr id="13" name="Rectangle 12">
            <a:extLst>
              <a:ext uri="{FF2B5EF4-FFF2-40B4-BE49-F238E27FC236}">
                <a16:creationId xmlns:a16="http://schemas.microsoft.com/office/drawing/2014/main" id="{E766B1EC-6F69-415F-97ED-65CEF027FC1A}"/>
              </a:ext>
            </a:extLst>
          </p:cNvPr>
          <p:cNvSpPr>
            <a:spLocks noGrp="1"/>
          </p:cNvSpPr>
          <p:nvPr/>
        </p:nvSpPr>
        <p:spPr>
          <a:xfrm>
            <a:off x="6096000" y="1962150"/>
            <a:ext cx="2190750" cy="819150"/>
          </a:xfrm>
          <a:prstGeom prst="rect">
            <a:avLst/>
          </a:prstGeom>
          <a:solidFill>
            <a:srgbClr val="F9F6F0"/>
          </a:solidFill>
          <a:ln w="9525">
            <a:solidFill>
              <a:srgbClr val="D5CABD"/>
            </a:solidFill>
            <a:prstDash val="solid"/>
          </a:ln>
        </p:spPr>
        <p:txBody>
          <a:bodyPr/>
          <a:lstStyle/>
          <a:p>
            <a:endParaRPr lang="en-US"/>
          </a:p>
        </p:txBody>
      </p:sp>
      <p:sp>
        <p:nvSpPr>
          <p:cNvPr id="14" name="Rectangle 13">
            <a:extLst>
              <a:ext uri="{FF2B5EF4-FFF2-40B4-BE49-F238E27FC236}">
                <a16:creationId xmlns:a16="http://schemas.microsoft.com/office/drawing/2014/main" id="{14D0515F-9509-4106-AC5E-073EF86FA536}"/>
              </a:ext>
            </a:extLst>
          </p:cNvPr>
          <p:cNvSpPr>
            <a:spLocks noGrp="1"/>
          </p:cNvSpPr>
          <p:nvPr/>
        </p:nvSpPr>
        <p:spPr>
          <a:xfrm>
            <a:off x="6267450" y="2152650"/>
            <a:ext cx="381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E7E78"/>
                </a:solidFill>
                <a:latin typeface="Aptos Display"/>
                <a:ea typeface="Aptos Display"/>
                <a:cs typeface="Aptos Display"/>
              </a:defRPr>
            </a:pPr>
            <a:r>
              <a:rPr sz="1800" b="1">
                <a:solidFill>
                  <a:srgbClr val="1E7E78"/>
                </a:solidFill>
                <a:latin typeface="Aptos Display"/>
                <a:ea typeface="Aptos Display"/>
                <a:cs typeface="Aptos Display"/>
              </a:rPr>
              <a:t>02</a:t>
            </a:r>
          </a:p>
        </p:txBody>
      </p:sp>
      <p:sp>
        <p:nvSpPr>
          <p:cNvPr id="15" name="Rectangle 14">
            <a:extLst>
              <a:ext uri="{FF2B5EF4-FFF2-40B4-BE49-F238E27FC236}">
                <a16:creationId xmlns:a16="http://schemas.microsoft.com/office/drawing/2014/main" id="{145E37F8-DD68-4C4B-9E9C-F362DBEACEFD}"/>
              </a:ext>
            </a:extLst>
          </p:cNvPr>
          <p:cNvSpPr>
            <a:spLocks noGrp="1"/>
          </p:cNvSpPr>
          <p:nvPr/>
        </p:nvSpPr>
        <p:spPr>
          <a:xfrm>
            <a:off x="6762750" y="2133600"/>
            <a:ext cx="1257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Route</a:t>
            </a:r>
          </a:p>
        </p:txBody>
      </p:sp>
      <p:sp>
        <p:nvSpPr>
          <p:cNvPr id="16" name="Rectangle 15">
            <a:extLst>
              <a:ext uri="{FF2B5EF4-FFF2-40B4-BE49-F238E27FC236}">
                <a16:creationId xmlns:a16="http://schemas.microsoft.com/office/drawing/2014/main" id="{09CAA47C-0514-4602-B5D6-6F2190AD0704}"/>
              </a:ext>
            </a:extLst>
          </p:cNvPr>
          <p:cNvSpPr>
            <a:spLocks noGrp="1"/>
          </p:cNvSpPr>
          <p:nvPr/>
        </p:nvSpPr>
        <p:spPr>
          <a:xfrm>
            <a:off x="6762750" y="23622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lang="en-AU" sz="713" b="0" dirty="0">
                <a:solidFill>
                  <a:srgbClr val="66706F"/>
                </a:solidFill>
                <a:latin typeface="Aptos"/>
                <a:ea typeface="Aptos"/>
                <a:cs typeface="Aptos"/>
              </a:rPr>
              <a:t>Get a list of candidates</a:t>
            </a:r>
            <a:endParaRPr sz="713" b="0" dirty="0">
              <a:solidFill>
                <a:srgbClr val="66706F"/>
              </a:solidFill>
              <a:latin typeface="Aptos"/>
              <a:ea typeface="Aptos"/>
              <a:cs typeface="Aptos"/>
            </a:endParaRPr>
          </a:p>
        </p:txBody>
      </p:sp>
      <p:sp>
        <p:nvSpPr>
          <p:cNvPr id="17" name="Rectangle 16">
            <a:extLst>
              <a:ext uri="{FF2B5EF4-FFF2-40B4-BE49-F238E27FC236}">
                <a16:creationId xmlns:a16="http://schemas.microsoft.com/office/drawing/2014/main" id="{4644D91C-CE4F-44F8-AF7D-4D357A29095F}"/>
              </a:ext>
            </a:extLst>
          </p:cNvPr>
          <p:cNvSpPr>
            <a:spLocks noGrp="1"/>
          </p:cNvSpPr>
          <p:nvPr/>
        </p:nvSpPr>
        <p:spPr>
          <a:xfrm>
            <a:off x="8572500" y="3714750"/>
            <a:ext cx="2190750" cy="819150"/>
          </a:xfrm>
          <a:prstGeom prst="rect">
            <a:avLst/>
          </a:prstGeom>
          <a:solidFill>
            <a:srgbClr val="F9F6F0"/>
          </a:solidFill>
          <a:ln w="9525">
            <a:solidFill>
              <a:srgbClr val="D5CABD"/>
            </a:solidFill>
            <a:prstDash val="solid"/>
          </a:ln>
        </p:spPr>
        <p:txBody>
          <a:bodyPr/>
          <a:lstStyle/>
          <a:p>
            <a:endParaRPr lang="en-US"/>
          </a:p>
        </p:txBody>
      </p:sp>
      <p:sp>
        <p:nvSpPr>
          <p:cNvPr id="18" name="Rectangle 17">
            <a:extLst>
              <a:ext uri="{FF2B5EF4-FFF2-40B4-BE49-F238E27FC236}">
                <a16:creationId xmlns:a16="http://schemas.microsoft.com/office/drawing/2014/main" id="{EDD9017E-7A69-446A-A1E7-BE05C96CB87F}"/>
              </a:ext>
            </a:extLst>
          </p:cNvPr>
          <p:cNvSpPr>
            <a:spLocks noGrp="1"/>
          </p:cNvSpPr>
          <p:nvPr/>
        </p:nvSpPr>
        <p:spPr>
          <a:xfrm>
            <a:off x="8743950" y="3905250"/>
            <a:ext cx="381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C9A227"/>
                </a:solidFill>
                <a:latin typeface="Aptos Display"/>
                <a:ea typeface="Aptos Display"/>
                <a:cs typeface="Aptos Display"/>
              </a:defRPr>
            </a:pPr>
            <a:r>
              <a:rPr sz="1800" b="1">
                <a:solidFill>
                  <a:srgbClr val="C9A227"/>
                </a:solidFill>
                <a:latin typeface="Aptos Display"/>
                <a:ea typeface="Aptos Display"/>
                <a:cs typeface="Aptos Display"/>
              </a:rPr>
              <a:t>03</a:t>
            </a:r>
          </a:p>
        </p:txBody>
      </p:sp>
      <p:sp>
        <p:nvSpPr>
          <p:cNvPr id="19" name="Rectangle 18">
            <a:extLst>
              <a:ext uri="{FF2B5EF4-FFF2-40B4-BE49-F238E27FC236}">
                <a16:creationId xmlns:a16="http://schemas.microsoft.com/office/drawing/2014/main" id="{E5213F5C-7D2B-4D27-BF2C-6C7157013913}"/>
              </a:ext>
            </a:extLst>
          </p:cNvPr>
          <p:cNvSpPr>
            <a:spLocks noGrp="1"/>
          </p:cNvSpPr>
          <p:nvPr/>
        </p:nvSpPr>
        <p:spPr>
          <a:xfrm>
            <a:off x="9239250" y="3886200"/>
            <a:ext cx="1257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Work</a:t>
            </a:r>
          </a:p>
        </p:txBody>
      </p:sp>
      <p:sp>
        <p:nvSpPr>
          <p:cNvPr id="20" name="Rectangle 19">
            <a:extLst>
              <a:ext uri="{FF2B5EF4-FFF2-40B4-BE49-F238E27FC236}">
                <a16:creationId xmlns:a16="http://schemas.microsoft.com/office/drawing/2014/main" id="{9C2221D7-8DA3-413C-B44B-355F1F07692C}"/>
              </a:ext>
            </a:extLst>
          </p:cNvPr>
          <p:cNvSpPr>
            <a:spLocks noGrp="1"/>
          </p:cNvSpPr>
          <p:nvPr/>
        </p:nvSpPr>
        <p:spPr>
          <a:xfrm>
            <a:off x="9239250" y="41148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agent reads, edits, verifies</a:t>
            </a:r>
          </a:p>
        </p:txBody>
      </p:sp>
      <p:sp>
        <p:nvSpPr>
          <p:cNvPr id="21" name="Rectangle 20">
            <a:extLst>
              <a:ext uri="{FF2B5EF4-FFF2-40B4-BE49-F238E27FC236}">
                <a16:creationId xmlns:a16="http://schemas.microsoft.com/office/drawing/2014/main" id="{D9027D24-3356-476A-B975-D9D056517C8C}"/>
              </a:ext>
            </a:extLst>
          </p:cNvPr>
          <p:cNvSpPr>
            <a:spLocks noGrp="1"/>
          </p:cNvSpPr>
          <p:nvPr/>
        </p:nvSpPr>
        <p:spPr>
          <a:xfrm>
            <a:off x="5334000" y="5219700"/>
            <a:ext cx="2190750" cy="819150"/>
          </a:xfrm>
          <a:prstGeom prst="rect">
            <a:avLst/>
          </a:prstGeom>
          <a:solidFill>
            <a:srgbClr val="F9F6F0"/>
          </a:solidFill>
          <a:ln w="9525">
            <a:solidFill>
              <a:srgbClr val="D5CABD"/>
            </a:solidFill>
            <a:prstDash val="solid"/>
          </a:ln>
        </p:spPr>
        <p:txBody>
          <a:bodyPr/>
          <a:lstStyle/>
          <a:p>
            <a:endParaRPr lang="en-US"/>
          </a:p>
        </p:txBody>
      </p:sp>
      <p:sp>
        <p:nvSpPr>
          <p:cNvPr id="22" name="Rectangle 21">
            <a:extLst>
              <a:ext uri="{FF2B5EF4-FFF2-40B4-BE49-F238E27FC236}">
                <a16:creationId xmlns:a16="http://schemas.microsoft.com/office/drawing/2014/main" id="{0C1D5F6D-71BA-43DC-A996-486CDF19CDAC}"/>
              </a:ext>
            </a:extLst>
          </p:cNvPr>
          <p:cNvSpPr>
            <a:spLocks noGrp="1"/>
          </p:cNvSpPr>
          <p:nvPr/>
        </p:nvSpPr>
        <p:spPr>
          <a:xfrm>
            <a:off x="5505450" y="5410200"/>
            <a:ext cx="381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C75C2C"/>
                </a:solidFill>
                <a:latin typeface="Aptos Display"/>
                <a:ea typeface="Aptos Display"/>
                <a:cs typeface="Aptos Display"/>
              </a:defRPr>
            </a:pPr>
            <a:r>
              <a:rPr sz="1800" b="1">
                <a:solidFill>
                  <a:srgbClr val="C75C2C"/>
                </a:solidFill>
                <a:latin typeface="Aptos Display"/>
                <a:ea typeface="Aptos Display"/>
                <a:cs typeface="Aptos Display"/>
              </a:rPr>
              <a:t>04</a:t>
            </a:r>
          </a:p>
        </p:txBody>
      </p:sp>
      <p:sp>
        <p:nvSpPr>
          <p:cNvPr id="23" name="Rectangle 22">
            <a:extLst>
              <a:ext uri="{FF2B5EF4-FFF2-40B4-BE49-F238E27FC236}">
                <a16:creationId xmlns:a16="http://schemas.microsoft.com/office/drawing/2014/main" id="{B07A7F7A-4C21-47D2-9A13-32B297EABA3E}"/>
              </a:ext>
            </a:extLst>
          </p:cNvPr>
          <p:cNvSpPr>
            <a:spLocks noGrp="1"/>
          </p:cNvSpPr>
          <p:nvPr/>
        </p:nvSpPr>
        <p:spPr>
          <a:xfrm>
            <a:off x="6000750" y="5391150"/>
            <a:ext cx="1257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Reuse check</a:t>
            </a:r>
          </a:p>
        </p:txBody>
      </p:sp>
      <p:sp>
        <p:nvSpPr>
          <p:cNvPr id="24" name="Rectangle 23">
            <a:extLst>
              <a:ext uri="{FF2B5EF4-FFF2-40B4-BE49-F238E27FC236}">
                <a16:creationId xmlns:a16="http://schemas.microsoft.com/office/drawing/2014/main" id="{0E00F921-44E4-42FC-B213-1D4A886FC897}"/>
              </a:ext>
            </a:extLst>
          </p:cNvPr>
          <p:cNvSpPr>
            <a:spLocks noGrp="1"/>
          </p:cNvSpPr>
          <p:nvPr/>
        </p:nvSpPr>
        <p:spPr>
          <a:xfrm>
            <a:off x="6000750" y="561975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record docs that mattered</a:t>
            </a:r>
          </a:p>
        </p:txBody>
      </p:sp>
      <p:sp>
        <p:nvSpPr>
          <p:cNvPr id="25" name="Rectangle 24">
            <a:extLst>
              <a:ext uri="{FF2B5EF4-FFF2-40B4-BE49-F238E27FC236}">
                <a16:creationId xmlns:a16="http://schemas.microsoft.com/office/drawing/2014/main" id="{03AB8A59-E772-431C-B1CA-48C8B9462DEA}"/>
              </a:ext>
            </a:extLst>
          </p:cNvPr>
          <p:cNvSpPr>
            <a:spLocks noGrp="1"/>
          </p:cNvSpPr>
          <p:nvPr/>
        </p:nvSpPr>
        <p:spPr>
          <a:xfrm>
            <a:off x="2038350" y="4229100"/>
            <a:ext cx="2190750" cy="819150"/>
          </a:xfrm>
          <a:prstGeom prst="rect">
            <a:avLst/>
          </a:prstGeom>
          <a:solidFill>
            <a:srgbClr val="F9F6F0"/>
          </a:solidFill>
          <a:ln w="9525">
            <a:solidFill>
              <a:srgbClr val="D5CABD"/>
            </a:solidFill>
            <a:prstDash val="solid"/>
          </a:ln>
        </p:spPr>
        <p:txBody>
          <a:bodyPr/>
          <a:lstStyle/>
          <a:p>
            <a:endParaRPr lang="en-US"/>
          </a:p>
        </p:txBody>
      </p:sp>
      <p:sp>
        <p:nvSpPr>
          <p:cNvPr id="26" name="Rectangle 25">
            <a:extLst>
              <a:ext uri="{FF2B5EF4-FFF2-40B4-BE49-F238E27FC236}">
                <a16:creationId xmlns:a16="http://schemas.microsoft.com/office/drawing/2014/main" id="{CA35B51A-3EA7-4E51-B15B-AF13D977E4F5}"/>
              </a:ext>
            </a:extLst>
          </p:cNvPr>
          <p:cNvSpPr>
            <a:spLocks noGrp="1"/>
          </p:cNvSpPr>
          <p:nvPr/>
        </p:nvSpPr>
        <p:spPr>
          <a:xfrm>
            <a:off x="2209800" y="4419600"/>
            <a:ext cx="381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E7E78"/>
                </a:solidFill>
                <a:latin typeface="Aptos Display"/>
                <a:ea typeface="Aptos Display"/>
                <a:cs typeface="Aptos Display"/>
              </a:defRPr>
            </a:pPr>
            <a:r>
              <a:rPr sz="1800" b="1">
                <a:solidFill>
                  <a:srgbClr val="1E7E78"/>
                </a:solidFill>
                <a:latin typeface="Aptos Display"/>
                <a:ea typeface="Aptos Display"/>
                <a:cs typeface="Aptos Display"/>
              </a:rPr>
              <a:t>05</a:t>
            </a:r>
          </a:p>
        </p:txBody>
      </p:sp>
      <p:sp>
        <p:nvSpPr>
          <p:cNvPr id="27" name="Rectangle 26">
            <a:extLst>
              <a:ext uri="{FF2B5EF4-FFF2-40B4-BE49-F238E27FC236}">
                <a16:creationId xmlns:a16="http://schemas.microsoft.com/office/drawing/2014/main" id="{E75C01E9-124B-4C00-BC97-652761834164}"/>
              </a:ext>
            </a:extLst>
          </p:cNvPr>
          <p:cNvSpPr>
            <a:spLocks noGrp="1"/>
          </p:cNvSpPr>
          <p:nvPr/>
        </p:nvSpPr>
        <p:spPr>
          <a:xfrm>
            <a:off x="2705100" y="4400550"/>
            <a:ext cx="1257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26"/>
                </a:solidFill>
                <a:latin typeface="Aptos"/>
                <a:ea typeface="Aptos"/>
                <a:cs typeface="Aptos"/>
              </a:defRPr>
            </a:pPr>
            <a:r>
              <a:rPr sz="1050" b="1">
                <a:solidFill>
                  <a:srgbClr val="172126"/>
                </a:solidFill>
                <a:latin typeface="Aptos"/>
                <a:ea typeface="Aptos"/>
                <a:cs typeface="Aptos"/>
              </a:rPr>
              <a:t>Write-back</a:t>
            </a:r>
          </a:p>
        </p:txBody>
      </p:sp>
      <p:sp>
        <p:nvSpPr>
          <p:cNvPr id="28" name="Rectangle 27">
            <a:extLst>
              <a:ext uri="{FF2B5EF4-FFF2-40B4-BE49-F238E27FC236}">
                <a16:creationId xmlns:a16="http://schemas.microsoft.com/office/drawing/2014/main" id="{D652CDFB-E096-40E9-8378-943EDBD23DEC}"/>
              </a:ext>
            </a:extLst>
          </p:cNvPr>
          <p:cNvSpPr>
            <a:spLocks noGrp="1"/>
          </p:cNvSpPr>
          <p:nvPr/>
        </p:nvSpPr>
        <p:spPr>
          <a:xfrm>
            <a:off x="2705100" y="462915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6F"/>
                </a:solidFill>
                <a:latin typeface="Aptos"/>
                <a:ea typeface="Aptos"/>
                <a:cs typeface="Aptos"/>
              </a:defRPr>
            </a:pPr>
            <a:r>
              <a:rPr sz="713" b="0">
                <a:solidFill>
                  <a:srgbClr val="66706F"/>
                </a:solidFill>
                <a:latin typeface="Aptos"/>
                <a:ea typeface="Aptos"/>
                <a:cs typeface="Aptos"/>
              </a:rPr>
              <a:t>draft durable lessons</a:t>
            </a:r>
          </a:p>
        </p:txBody>
      </p:sp>
      <p:sp>
        <p:nvSpPr>
          <p:cNvPr id="29" name="Rectangle 28">
            <a:extLst>
              <a:ext uri="{FF2B5EF4-FFF2-40B4-BE49-F238E27FC236}">
                <a16:creationId xmlns:a16="http://schemas.microsoft.com/office/drawing/2014/main" id="{55078156-0C1A-4632-A6C7-A0978E4D2728}"/>
              </a:ext>
            </a:extLst>
          </p:cNvPr>
          <p:cNvSpPr>
            <a:spLocks noGrp="1"/>
          </p:cNvSpPr>
          <p:nvPr/>
        </p:nvSpPr>
        <p:spPr>
          <a:xfrm>
            <a:off x="4476750" y="2667000"/>
            <a:ext cx="1143000" cy="19050"/>
          </a:xfrm>
          <a:prstGeom prst="rect">
            <a:avLst/>
          </a:prstGeom>
          <a:solidFill>
            <a:srgbClr val="B9AA9A"/>
          </a:solidFill>
          <a:ln w="0">
            <a:solidFill>
              <a:srgbClr val="B9AA9A"/>
            </a:solidFill>
            <a:prstDash val="solid"/>
          </a:ln>
        </p:spPr>
        <p:txBody>
          <a:bodyPr/>
          <a:lstStyle/>
          <a:p>
            <a:endParaRPr lang="en-US"/>
          </a:p>
        </p:txBody>
      </p:sp>
      <p:sp>
        <p:nvSpPr>
          <p:cNvPr id="30" name="Rectangle 29">
            <a:extLst>
              <a:ext uri="{FF2B5EF4-FFF2-40B4-BE49-F238E27FC236}">
                <a16:creationId xmlns:a16="http://schemas.microsoft.com/office/drawing/2014/main" id="{1E6BCC83-468D-4EB0-A60F-8FB177C37F63}"/>
              </a:ext>
            </a:extLst>
          </p:cNvPr>
          <p:cNvSpPr>
            <a:spLocks noGrp="1"/>
          </p:cNvSpPr>
          <p:nvPr/>
        </p:nvSpPr>
        <p:spPr>
          <a:xfrm>
            <a:off x="8286750" y="2724150"/>
            <a:ext cx="285750" cy="19050"/>
          </a:xfrm>
          <a:prstGeom prst="rect">
            <a:avLst/>
          </a:prstGeom>
          <a:solidFill>
            <a:srgbClr val="B9AA9A"/>
          </a:solidFill>
          <a:ln w="0">
            <a:solidFill>
              <a:srgbClr val="B9AA9A"/>
            </a:solidFill>
            <a:prstDash val="solid"/>
          </a:ln>
        </p:spPr>
        <p:txBody>
          <a:bodyPr/>
          <a:lstStyle/>
          <a:p>
            <a:endParaRPr lang="en-US"/>
          </a:p>
        </p:txBody>
      </p:sp>
      <p:sp>
        <p:nvSpPr>
          <p:cNvPr id="31" name="Rectangle 30">
            <a:extLst>
              <a:ext uri="{FF2B5EF4-FFF2-40B4-BE49-F238E27FC236}">
                <a16:creationId xmlns:a16="http://schemas.microsoft.com/office/drawing/2014/main" id="{29F334D9-8ADF-426B-9820-66E6B62650F5}"/>
              </a:ext>
            </a:extLst>
          </p:cNvPr>
          <p:cNvSpPr>
            <a:spLocks noGrp="1"/>
          </p:cNvSpPr>
          <p:nvPr/>
        </p:nvSpPr>
        <p:spPr>
          <a:xfrm>
            <a:off x="9658350" y="4533900"/>
            <a:ext cx="19050" cy="514350"/>
          </a:xfrm>
          <a:prstGeom prst="rect">
            <a:avLst/>
          </a:prstGeom>
          <a:solidFill>
            <a:srgbClr val="B9AA9A"/>
          </a:solidFill>
          <a:ln w="0">
            <a:solidFill>
              <a:srgbClr val="B9AA9A"/>
            </a:solidFill>
            <a:prstDash val="solid"/>
          </a:ln>
        </p:spPr>
        <p:txBody>
          <a:bodyPr/>
          <a:lstStyle/>
          <a:p>
            <a:endParaRPr lang="en-US"/>
          </a:p>
        </p:txBody>
      </p:sp>
      <p:sp>
        <p:nvSpPr>
          <p:cNvPr id="32" name="Rectangle 31">
            <a:extLst>
              <a:ext uri="{FF2B5EF4-FFF2-40B4-BE49-F238E27FC236}">
                <a16:creationId xmlns:a16="http://schemas.microsoft.com/office/drawing/2014/main" id="{B9CA61AF-42F9-4F20-BC82-9AD1D3E13E7E}"/>
              </a:ext>
            </a:extLst>
          </p:cNvPr>
          <p:cNvSpPr>
            <a:spLocks noGrp="1"/>
          </p:cNvSpPr>
          <p:nvPr/>
        </p:nvSpPr>
        <p:spPr>
          <a:xfrm>
            <a:off x="7524750" y="5619750"/>
            <a:ext cx="1104900" cy="19050"/>
          </a:xfrm>
          <a:prstGeom prst="rect">
            <a:avLst/>
          </a:prstGeom>
          <a:solidFill>
            <a:srgbClr val="B9AA9A"/>
          </a:solidFill>
          <a:ln w="0">
            <a:solidFill>
              <a:srgbClr val="B9AA9A"/>
            </a:solidFill>
            <a:prstDash val="solid"/>
          </a:ln>
        </p:spPr>
        <p:txBody>
          <a:bodyPr/>
          <a:lstStyle/>
          <a:p>
            <a:endParaRPr lang="en-US"/>
          </a:p>
        </p:txBody>
      </p:sp>
      <p:sp>
        <p:nvSpPr>
          <p:cNvPr id="33" name="Rectangle 32">
            <a:extLst>
              <a:ext uri="{FF2B5EF4-FFF2-40B4-BE49-F238E27FC236}">
                <a16:creationId xmlns:a16="http://schemas.microsoft.com/office/drawing/2014/main" id="{07DCEAAC-A66F-41DE-8DE6-DA41FEC37B3E}"/>
              </a:ext>
            </a:extLst>
          </p:cNvPr>
          <p:cNvSpPr>
            <a:spLocks noGrp="1"/>
          </p:cNvSpPr>
          <p:nvPr/>
        </p:nvSpPr>
        <p:spPr>
          <a:xfrm>
            <a:off x="4229100" y="4591050"/>
            <a:ext cx="1238250" cy="19050"/>
          </a:xfrm>
          <a:prstGeom prst="rect">
            <a:avLst/>
          </a:prstGeom>
          <a:solidFill>
            <a:srgbClr val="B9AA9A"/>
          </a:solidFill>
          <a:ln w="0">
            <a:solidFill>
              <a:srgbClr val="B9AA9A"/>
            </a:solidFill>
            <a:prstDash val="solid"/>
          </a:ln>
        </p:spPr>
        <p:txBody>
          <a:bodyPr/>
          <a:lstStyle/>
          <a:p>
            <a:endParaRPr lang="en-US"/>
          </a:p>
        </p:txBody>
      </p:sp>
      <p:sp>
        <p:nvSpPr>
          <p:cNvPr id="34" name="Rectangle 33">
            <a:extLst>
              <a:ext uri="{FF2B5EF4-FFF2-40B4-BE49-F238E27FC236}">
                <a16:creationId xmlns:a16="http://schemas.microsoft.com/office/drawing/2014/main" id="{F1CE6CF9-DA25-42F6-B4C1-7A45EACB7279}"/>
              </a:ext>
            </a:extLst>
          </p:cNvPr>
          <p:cNvSpPr>
            <a:spLocks noGrp="1"/>
          </p:cNvSpPr>
          <p:nvPr/>
        </p:nvSpPr>
        <p:spPr>
          <a:xfrm>
            <a:off x="5619750" y="2543175"/>
            <a:ext cx="171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6706F"/>
                </a:solidFill>
                <a:latin typeface="Aptos"/>
                <a:ea typeface="Aptos"/>
                <a:cs typeface="Aptos"/>
              </a:defRPr>
            </a:pPr>
            <a:r>
              <a:rPr sz="1350" b="1">
                <a:solidFill>
                  <a:srgbClr val="66706F"/>
                </a:solidFill>
                <a:latin typeface="Aptos"/>
                <a:ea typeface="Aptos"/>
                <a:cs typeface="Aptos"/>
              </a:rPr>
              <a:t>&gt;</a:t>
            </a:r>
          </a:p>
        </p:txBody>
      </p:sp>
      <p:sp>
        <p:nvSpPr>
          <p:cNvPr id="35" name="Rectangle 34">
            <a:extLst>
              <a:ext uri="{FF2B5EF4-FFF2-40B4-BE49-F238E27FC236}">
                <a16:creationId xmlns:a16="http://schemas.microsoft.com/office/drawing/2014/main" id="{994C2AD5-6A87-437E-A58D-754F49761DA4}"/>
              </a:ext>
            </a:extLst>
          </p:cNvPr>
          <p:cNvSpPr>
            <a:spLocks noGrp="1"/>
          </p:cNvSpPr>
          <p:nvPr/>
        </p:nvSpPr>
        <p:spPr>
          <a:xfrm>
            <a:off x="8401050" y="2600325"/>
            <a:ext cx="171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6706F"/>
                </a:solidFill>
                <a:latin typeface="Aptos"/>
                <a:ea typeface="Aptos"/>
                <a:cs typeface="Aptos"/>
              </a:defRPr>
            </a:pPr>
            <a:r>
              <a:rPr sz="1350" b="1">
                <a:solidFill>
                  <a:srgbClr val="66706F"/>
                </a:solidFill>
                <a:latin typeface="Aptos"/>
                <a:ea typeface="Aptos"/>
                <a:cs typeface="Aptos"/>
              </a:rPr>
              <a:t>&gt;</a:t>
            </a:r>
          </a:p>
        </p:txBody>
      </p:sp>
      <p:sp>
        <p:nvSpPr>
          <p:cNvPr id="36" name="Rectangle 35">
            <a:extLst>
              <a:ext uri="{FF2B5EF4-FFF2-40B4-BE49-F238E27FC236}">
                <a16:creationId xmlns:a16="http://schemas.microsoft.com/office/drawing/2014/main" id="{7B5E6FDE-3B7C-46F0-8315-933F75E0AC49}"/>
              </a:ext>
            </a:extLst>
          </p:cNvPr>
          <p:cNvSpPr>
            <a:spLocks noGrp="1"/>
          </p:cNvSpPr>
          <p:nvPr/>
        </p:nvSpPr>
        <p:spPr>
          <a:xfrm>
            <a:off x="9582150" y="4933950"/>
            <a:ext cx="171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66706F"/>
                </a:solidFill>
                <a:latin typeface="Aptos"/>
                <a:ea typeface="Aptos"/>
                <a:cs typeface="Aptos"/>
              </a:defRPr>
            </a:pPr>
            <a:r>
              <a:rPr sz="1350" b="1">
                <a:solidFill>
                  <a:srgbClr val="66706F"/>
                </a:solidFill>
                <a:latin typeface="Aptos"/>
                <a:ea typeface="Aptos"/>
                <a:cs typeface="Aptos"/>
              </a:rPr>
              <a:t>v</a:t>
            </a:r>
          </a:p>
        </p:txBody>
      </p:sp>
      <p:sp>
        <p:nvSpPr>
          <p:cNvPr id="37" name="Rectangle 36">
            <a:extLst>
              <a:ext uri="{FF2B5EF4-FFF2-40B4-BE49-F238E27FC236}">
                <a16:creationId xmlns:a16="http://schemas.microsoft.com/office/drawing/2014/main" id="{8D6E5260-6558-4EBB-9009-F1DC4CD20A2D}"/>
              </a:ext>
            </a:extLst>
          </p:cNvPr>
          <p:cNvSpPr>
            <a:spLocks noGrp="1"/>
          </p:cNvSpPr>
          <p:nvPr/>
        </p:nvSpPr>
        <p:spPr>
          <a:xfrm>
            <a:off x="5105400" y="5495925"/>
            <a:ext cx="171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6706F"/>
                </a:solidFill>
                <a:latin typeface="Aptos"/>
                <a:ea typeface="Aptos"/>
                <a:cs typeface="Aptos"/>
              </a:defRPr>
            </a:pPr>
            <a:r>
              <a:rPr sz="1350" b="1">
                <a:solidFill>
                  <a:srgbClr val="66706F"/>
                </a:solidFill>
                <a:latin typeface="Aptos"/>
                <a:ea typeface="Aptos"/>
                <a:cs typeface="Aptos"/>
              </a:rPr>
              <a:t>&lt;</a:t>
            </a:r>
          </a:p>
        </p:txBody>
      </p:sp>
      <p:sp>
        <p:nvSpPr>
          <p:cNvPr id="38" name="Rectangle 37">
            <a:extLst>
              <a:ext uri="{FF2B5EF4-FFF2-40B4-BE49-F238E27FC236}">
                <a16:creationId xmlns:a16="http://schemas.microsoft.com/office/drawing/2014/main" id="{F0D14968-E4EC-474E-B8AB-49F4C393AE65}"/>
              </a:ext>
            </a:extLst>
          </p:cNvPr>
          <p:cNvSpPr>
            <a:spLocks noGrp="1"/>
          </p:cNvSpPr>
          <p:nvPr/>
        </p:nvSpPr>
        <p:spPr>
          <a:xfrm>
            <a:off x="4324350" y="4467225"/>
            <a:ext cx="171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6706F"/>
                </a:solidFill>
                <a:latin typeface="Aptos"/>
                <a:ea typeface="Aptos"/>
                <a:cs typeface="Aptos"/>
              </a:defRPr>
            </a:pPr>
            <a:r>
              <a:rPr sz="1350" b="1">
                <a:solidFill>
                  <a:srgbClr val="66706F"/>
                </a:solidFill>
                <a:latin typeface="Aptos"/>
                <a:ea typeface="Aptos"/>
                <a:cs typeface="Aptos"/>
              </a:rPr>
              <a:t>&lt;</a:t>
            </a:r>
          </a:p>
        </p:txBody>
      </p:sp>
      <p:sp>
        <p:nvSpPr>
          <p:cNvPr id="39" name="Rectangle 38">
            <a:extLst>
              <a:ext uri="{FF2B5EF4-FFF2-40B4-BE49-F238E27FC236}">
                <a16:creationId xmlns:a16="http://schemas.microsoft.com/office/drawing/2014/main" id="{A08C8666-18A3-40F2-9CBC-3821246EEE35}"/>
              </a:ext>
            </a:extLst>
          </p:cNvPr>
          <p:cNvSpPr>
            <a:spLocks noGrp="1"/>
          </p:cNvSpPr>
          <p:nvPr/>
        </p:nvSpPr>
        <p:spPr>
          <a:xfrm>
            <a:off x="762000" y="5257800"/>
            <a:ext cx="2667000" cy="533400"/>
          </a:xfrm>
          <a:prstGeom prst="rect">
            <a:avLst/>
          </a:prstGeom>
          <a:solidFill>
            <a:srgbClr val="E9D4C4"/>
          </a:solidFill>
          <a:ln w="0">
            <a:solidFill>
              <a:srgbClr val="E9D4C4"/>
            </a:solidFill>
            <a:prstDash val="solid"/>
          </a:ln>
        </p:spPr>
        <p:txBody>
          <a:bodyPr/>
          <a:lstStyle/>
          <a:p>
            <a:endParaRPr lang="en-US"/>
          </a:p>
        </p:txBody>
      </p:sp>
      <p:sp>
        <p:nvSpPr>
          <p:cNvPr id="40" name="Rectangle 39">
            <a:extLst>
              <a:ext uri="{FF2B5EF4-FFF2-40B4-BE49-F238E27FC236}">
                <a16:creationId xmlns:a16="http://schemas.microsoft.com/office/drawing/2014/main" id="{89B03B0B-6711-4579-B16A-5E46534D2135}"/>
              </a:ext>
            </a:extLst>
          </p:cNvPr>
          <p:cNvSpPr>
            <a:spLocks noGrp="1"/>
          </p:cNvSpPr>
          <p:nvPr/>
        </p:nvSpPr>
        <p:spPr>
          <a:xfrm>
            <a:off x="971550" y="5410200"/>
            <a:ext cx="2247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172126"/>
                </a:solidFill>
                <a:latin typeface="Aptos"/>
                <a:ea typeface="Aptos"/>
                <a:cs typeface="Aptos"/>
              </a:defRPr>
            </a:pPr>
            <a:r>
              <a:rPr sz="900" b="1">
                <a:solidFill>
                  <a:srgbClr val="172126"/>
                </a:solidFill>
                <a:latin typeface="Aptos"/>
                <a:ea typeface="Aptos"/>
                <a:cs typeface="Aptos"/>
              </a:rPr>
              <a:t>Demo objective: one complete loop.</a:t>
            </a:r>
          </a:p>
        </p:txBody>
      </p:sp>
      <p:sp>
        <p:nvSpPr>
          <p:cNvPr id="41" name="Rectangle 40">
            <a:extLst>
              <a:ext uri="{FF2B5EF4-FFF2-40B4-BE49-F238E27FC236}">
                <a16:creationId xmlns:a16="http://schemas.microsoft.com/office/drawing/2014/main" id="{952EC00A-1BA9-4A3B-9E81-BABBC0BE7C20}"/>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2" name="Rectangle 41">
            <a:extLst>
              <a:ext uri="{FF2B5EF4-FFF2-40B4-BE49-F238E27FC236}">
                <a16:creationId xmlns:a16="http://schemas.microsoft.com/office/drawing/2014/main" id="{A4F109F5-CEC5-470B-9E9E-AD1AC355C239}"/>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README task-aware routing and AI wiki workflow</a:t>
            </a:r>
          </a:p>
        </p:txBody>
      </p:sp>
      <p:sp>
        <p:nvSpPr>
          <p:cNvPr id="43" name="Rectangle 42">
            <a:extLst>
              <a:ext uri="{FF2B5EF4-FFF2-40B4-BE49-F238E27FC236}">
                <a16:creationId xmlns:a16="http://schemas.microsoft.com/office/drawing/2014/main" id="{37575AC3-9480-415E-BB1E-2088CD957183}"/>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a:solidFill>
                  <a:srgbClr val="66706F"/>
                </a:solidFill>
                <a:latin typeface="Aptos"/>
                <a:ea typeface="Aptos"/>
                <a:cs typeface="Aptos"/>
              </a:rPr>
              <a:t>04</a:t>
            </a:r>
          </a:p>
        </p:txBody>
      </p:sp>
    </p:spTree>
    <p:extLst>
      <p:ext uri="{BB962C8B-B14F-4D97-AF65-F5344CB8AC3E}">
        <p14:creationId xmlns:p14="http://schemas.microsoft.com/office/powerpoint/2010/main" val="624383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BE7E1DC-0730-469A-9665-19295CC20C3D}"/>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AD17DF89-9518-44B2-BEE1-2C3C0801C9EB}"/>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0C7529AC-CE71-477C-9033-735B4BF4B921}"/>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43762788-EFA8-4D8A-9A9B-CEDEC9BE7EBE}"/>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TECH STACK</a:t>
            </a:r>
          </a:p>
        </p:txBody>
      </p:sp>
      <p:sp>
        <p:nvSpPr>
          <p:cNvPr id="5" name="Rectangle 4">
            <a:extLst>
              <a:ext uri="{FF2B5EF4-FFF2-40B4-BE49-F238E27FC236}">
                <a16:creationId xmlns:a16="http://schemas.microsoft.com/office/drawing/2014/main" id="{DC58BAE3-A203-44C1-938D-82D6158261DA}"/>
              </a:ext>
            </a:extLst>
          </p:cNvPr>
          <p:cNvSpPr>
            <a:spLocks noGrp="1"/>
          </p:cNvSpPr>
          <p:nvPr/>
        </p:nvSpPr>
        <p:spPr>
          <a:xfrm>
            <a:off x="552450" y="800100"/>
            <a:ext cx="8001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625" b="1">
                <a:solidFill>
                  <a:srgbClr val="172126"/>
                </a:solidFill>
                <a:latin typeface="Aptos Display"/>
                <a:ea typeface="Aptos Display"/>
                <a:cs typeface="Aptos Display"/>
              </a:defRPr>
            </a:pPr>
            <a:r>
              <a:rPr lang="en-AU" sz="2625" b="1" dirty="0">
                <a:solidFill>
                  <a:srgbClr val="172126"/>
                </a:solidFill>
                <a:latin typeface="Aptos Display"/>
                <a:ea typeface="Aptos Display"/>
                <a:cs typeface="Aptos Display"/>
              </a:rPr>
              <a:t>AI Wiki Toolkit repo walk through</a:t>
            </a:r>
            <a:endParaRPr sz="2625" b="1" dirty="0">
              <a:solidFill>
                <a:srgbClr val="172126"/>
              </a:solidFill>
              <a:latin typeface="Aptos Display"/>
              <a:ea typeface="Aptos Display"/>
              <a:cs typeface="Aptos Display"/>
            </a:endParaRPr>
          </a:p>
        </p:txBody>
      </p:sp>
      <p:sp>
        <p:nvSpPr>
          <p:cNvPr id="34" name="Rectangle 33">
            <a:extLst>
              <a:ext uri="{FF2B5EF4-FFF2-40B4-BE49-F238E27FC236}">
                <a16:creationId xmlns:a16="http://schemas.microsoft.com/office/drawing/2014/main" id="{0C161285-1ED7-43A9-A419-8956786B21A5}"/>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35" name="Rectangle 34">
            <a:extLst>
              <a:ext uri="{FF2B5EF4-FFF2-40B4-BE49-F238E27FC236}">
                <a16:creationId xmlns:a16="http://schemas.microsoft.com/office/drawing/2014/main" id="{9FB78464-8AB2-439D-AAE0-C10168F38F76}"/>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README current scope, pyproject, distribution notes</a:t>
            </a:r>
          </a:p>
        </p:txBody>
      </p:sp>
      <p:sp>
        <p:nvSpPr>
          <p:cNvPr id="36" name="Rectangle 35">
            <a:extLst>
              <a:ext uri="{FF2B5EF4-FFF2-40B4-BE49-F238E27FC236}">
                <a16:creationId xmlns:a16="http://schemas.microsoft.com/office/drawing/2014/main" id="{5F117190-E6EB-41EC-BF8A-576725D9C058}"/>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a:solidFill>
                  <a:srgbClr val="66706F"/>
                </a:solidFill>
                <a:latin typeface="Aptos"/>
                <a:ea typeface="Aptos"/>
                <a:cs typeface="Aptos"/>
              </a:rPr>
              <a:t>05</a:t>
            </a:r>
          </a:p>
        </p:txBody>
      </p:sp>
      <p:pic>
        <p:nvPicPr>
          <p:cNvPr id="38" name="Picture 37">
            <a:extLst>
              <a:ext uri="{FF2B5EF4-FFF2-40B4-BE49-F238E27FC236}">
                <a16:creationId xmlns:a16="http://schemas.microsoft.com/office/drawing/2014/main" id="{A30E3228-7BEA-A197-D5C9-276F1AEA005A}"/>
              </a:ext>
            </a:extLst>
          </p:cNvPr>
          <p:cNvPicPr>
            <a:picLocks noChangeAspect="1"/>
          </p:cNvPicPr>
          <p:nvPr/>
        </p:nvPicPr>
        <p:blipFill>
          <a:blip r:embed="rId3"/>
          <a:stretch>
            <a:fillRect/>
          </a:stretch>
        </p:blipFill>
        <p:spPr>
          <a:xfrm>
            <a:off x="1390650" y="1214588"/>
            <a:ext cx="9429750" cy="5181450"/>
          </a:xfrm>
          <a:prstGeom prst="rect">
            <a:avLst/>
          </a:prstGeom>
        </p:spPr>
      </p:pic>
    </p:spTree>
    <p:extLst>
      <p:ext uri="{BB962C8B-B14F-4D97-AF65-F5344CB8AC3E}">
        <p14:creationId xmlns:p14="http://schemas.microsoft.com/office/powerpoint/2010/main" val="189266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F14E4B3D-C704-43B4-82D1-4B68A3BAF8E8}"/>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A9E8853D-F268-4E4A-AC56-67BFCA8D0127}"/>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3D807C8B-559F-4872-8574-7D872E01AB4D}"/>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096BA8DC-736C-4736-88F3-91E7AFEEA1D6}"/>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5" name="Rectangle 4">
            <a:extLst>
              <a:ext uri="{FF2B5EF4-FFF2-40B4-BE49-F238E27FC236}">
                <a16:creationId xmlns:a16="http://schemas.microsoft.com/office/drawing/2014/main" id="{1E52C716-5976-4383-88BA-ED2A753B3BBD}"/>
              </a:ext>
            </a:extLst>
          </p:cNvPr>
          <p:cNvSpPr>
            <a:spLocks noGrp="1"/>
          </p:cNvSpPr>
          <p:nvPr/>
        </p:nvSpPr>
        <p:spPr>
          <a:xfrm>
            <a:off x="552450" y="800100"/>
            <a:ext cx="7429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72126"/>
                </a:solidFill>
                <a:latin typeface="Aptos Display"/>
                <a:ea typeface="Aptos Display"/>
                <a:cs typeface="Aptos Display"/>
              </a:defRPr>
            </a:pPr>
            <a:r>
              <a:rPr sz="2850" b="1">
                <a:solidFill>
                  <a:srgbClr val="172126"/>
                </a:solidFill>
                <a:latin typeface="Aptos Display"/>
                <a:ea typeface="Aptos Display"/>
                <a:cs typeface="Aptos Display"/>
              </a:rPr>
              <a:t>Trust comes from strict ownership boundaries.</a:t>
            </a:r>
          </a:p>
        </p:txBody>
      </p:sp>
      <p:sp>
        <p:nvSpPr>
          <p:cNvPr id="6" name="Rectangle 5">
            <a:extLst>
              <a:ext uri="{FF2B5EF4-FFF2-40B4-BE49-F238E27FC236}">
                <a16:creationId xmlns:a16="http://schemas.microsoft.com/office/drawing/2014/main" id="{BB75BD15-9BD4-48C4-A587-C7BC193CCBA6}"/>
              </a:ext>
            </a:extLst>
          </p:cNvPr>
          <p:cNvSpPr>
            <a:spLocks noGrp="1"/>
          </p:cNvSpPr>
          <p:nvPr/>
        </p:nvSpPr>
        <p:spPr>
          <a:xfrm>
            <a:off x="552450" y="1809750"/>
            <a:ext cx="6477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6706F"/>
                </a:solidFill>
                <a:latin typeface="Aptos"/>
                <a:ea typeface="Aptos"/>
                <a:cs typeface="Aptos"/>
              </a:defRPr>
            </a:pPr>
            <a:r>
              <a:rPr sz="975" b="0">
                <a:solidFill>
                  <a:srgbClr val="66706F"/>
                </a:solidFill>
                <a:latin typeface="Aptos"/>
                <a:ea typeface="Aptos"/>
                <a:cs typeface="Aptos"/>
              </a:rPr>
              <a:t>The compatibility contract is the product design: package-managed content can evolve without rewriting user-owned memory.</a:t>
            </a:r>
          </a:p>
        </p:txBody>
      </p:sp>
      <p:sp>
        <p:nvSpPr>
          <p:cNvPr id="7" name="Rectangle 6">
            <a:extLst>
              <a:ext uri="{FF2B5EF4-FFF2-40B4-BE49-F238E27FC236}">
                <a16:creationId xmlns:a16="http://schemas.microsoft.com/office/drawing/2014/main" id="{2125C5C6-15D1-4DED-A12F-7B21A6D940D2}"/>
              </a:ext>
            </a:extLst>
          </p:cNvPr>
          <p:cNvSpPr>
            <a:spLocks noGrp="1"/>
          </p:cNvSpPr>
          <p:nvPr/>
        </p:nvSpPr>
        <p:spPr>
          <a:xfrm>
            <a:off x="800100" y="2419350"/>
            <a:ext cx="9867900" cy="438150"/>
          </a:xfrm>
          <a:prstGeom prst="rect">
            <a:avLst/>
          </a:prstGeom>
          <a:solidFill>
            <a:srgbClr val="101820"/>
          </a:solidFill>
          <a:ln w="0">
            <a:solidFill>
              <a:srgbClr val="101820"/>
            </a:solidFill>
            <a:prstDash val="solid"/>
          </a:ln>
        </p:spPr>
        <p:txBody>
          <a:bodyPr/>
          <a:lstStyle/>
          <a:p>
            <a:endParaRPr lang="en-US"/>
          </a:p>
        </p:txBody>
      </p:sp>
      <p:sp>
        <p:nvSpPr>
          <p:cNvPr id="8" name="Rectangle 7">
            <a:extLst>
              <a:ext uri="{FF2B5EF4-FFF2-40B4-BE49-F238E27FC236}">
                <a16:creationId xmlns:a16="http://schemas.microsoft.com/office/drawing/2014/main" id="{D33202F6-8AE0-4ECD-9DE6-44A52E7BCD4C}"/>
              </a:ext>
            </a:extLst>
          </p:cNvPr>
          <p:cNvSpPr>
            <a:spLocks noGrp="1"/>
          </p:cNvSpPr>
          <p:nvPr/>
        </p:nvSpPr>
        <p:spPr>
          <a:xfrm>
            <a:off x="952500" y="2562225"/>
            <a:ext cx="2152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ptos"/>
                <a:ea typeface="Aptos"/>
                <a:cs typeface="Aptos"/>
              </a:defRPr>
            </a:pPr>
            <a:r>
              <a:rPr sz="750" b="1">
                <a:solidFill>
                  <a:srgbClr val="FFFFFF"/>
                </a:solidFill>
                <a:latin typeface="Aptos"/>
                <a:ea typeface="Aptos"/>
                <a:cs typeface="Aptos"/>
              </a:rPr>
              <a:t>Surface</a:t>
            </a:r>
          </a:p>
        </p:txBody>
      </p:sp>
      <p:sp>
        <p:nvSpPr>
          <p:cNvPr id="9" name="Rectangle 8">
            <a:extLst>
              <a:ext uri="{FF2B5EF4-FFF2-40B4-BE49-F238E27FC236}">
                <a16:creationId xmlns:a16="http://schemas.microsoft.com/office/drawing/2014/main" id="{C69DCDE1-8704-46DA-A69E-F29C8242702D}"/>
              </a:ext>
            </a:extLst>
          </p:cNvPr>
          <p:cNvSpPr>
            <a:spLocks noGrp="1"/>
          </p:cNvSpPr>
          <p:nvPr/>
        </p:nvSpPr>
        <p:spPr>
          <a:xfrm>
            <a:off x="3333750" y="256222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ptos"/>
                <a:ea typeface="Aptos"/>
                <a:cs typeface="Aptos"/>
              </a:defRPr>
            </a:pPr>
            <a:r>
              <a:rPr sz="750" b="1">
                <a:solidFill>
                  <a:srgbClr val="FFFFFF"/>
                </a:solidFill>
                <a:latin typeface="Aptos"/>
                <a:ea typeface="Aptos"/>
                <a:cs typeface="Aptos"/>
              </a:rPr>
              <a:t>Owner</a:t>
            </a:r>
          </a:p>
        </p:txBody>
      </p:sp>
      <p:sp>
        <p:nvSpPr>
          <p:cNvPr id="10" name="Rectangle 9">
            <a:extLst>
              <a:ext uri="{FF2B5EF4-FFF2-40B4-BE49-F238E27FC236}">
                <a16:creationId xmlns:a16="http://schemas.microsoft.com/office/drawing/2014/main" id="{5CA2AAFA-58D8-427B-920D-E6E037550DA4}"/>
              </a:ext>
            </a:extLst>
          </p:cNvPr>
          <p:cNvSpPr>
            <a:spLocks noGrp="1"/>
          </p:cNvSpPr>
          <p:nvPr/>
        </p:nvSpPr>
        <p:spPr>
          <a:xfrm>
            <a:off x="6038850" y="2562225"/>
            <a:ext cx="2209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ptos"/>
                <a:ea typeface="Aptos"/>
                <a:cs typeface="Aptos"/>
              </a:defRPr>
            </a:pPr>
            <a:r>
              <a:rPr sz="750" b="1">
                <a:solidFill>
                  <a:srgbClr val="FFFFFF"/>
                </a:solidFill>
                <a:latin typeface="Aptos"/>
                <a:ea typeface="Aptos"/>
                <a:cs typeface="Aptos"/>
              </a:rPr>
              <a:t>Allowed toolkit behavior</a:t>
            </a:r>
          </a:p>
        </p:txBody>
      </p:sp>
      <p:sp>
        <p:nvSpPr>
          <p:cNvPr id="11" name="Rectangle 10">
            <a:extLst>
              <a:ext uri="{FF2B5EF4-FFF2-40B4-BE49-F238E27FC236}">
                <a16:creationId xmlns:a16="http://schemas.microsoft.com/office/drawing/2014/main" id="{10481020-066B-4608-8BA4-C6173F2D656A}"/>
              </a:ext>
            </a:extLst>
          </p:cNvPr>
          <p:cNvSpPr>
            <a:spLocks noGrp="1"/>
          </p:cNvSpPr>
          <p:nvPr/>
        </p:nvSpPr>
        <p:spPr>
          <a:xfrm>
            <a:off x="8477250" y="2562225"/>
            <a:ext cx="2114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ptos"/>
                <a:ea typeface="Aptos"/>
                <a:cs typeface="Aptos"/>
              </a:defRPr>
            </a:pPr>
            <a:r>
              <a:rPr sz="750" b="1">
                <a:solidFill>
                  <a:srgbClr val="FFFFFF"/>
                </a:solidFill>
                <a:latin typeface="Aptos"/>
                <a:ea typeface="Aptos"/>
                <a:cs typeface="Aptos"/>
              </a:rPr>
              <a:t>Why it matters</a:t>
            </a:r>
          </a:p>
        </p:txBody>
      </p:sp>
      <p:sp>
        <p:nvSpPr>
          <p:cNvPr id="12" name="Rectangle 11">
            <a:extLst>
              <a:ext uri="{FF2B5EF4-FFF2-40B4-BE49-F238E27FC236}">
                <a16:creationId xmlns:a16="http://schemas.microsoft.com/office/drawing/2014/main" id="{708C96F8-5937-4C66-B13F-DB101042EAB5}"/>
              </a:ext>
            </a:extLst>
          </p:cNvPr>
          <p:cNvSpPr>
            <a:spLocks noGrp="1"/>
          </p:cNvSpPr>
          <p:nvPr/>
        </p:nvSpPr>
        <p:spPr>
          <a:xfrm>
            <a:off x="800100" y="2857500"/>
            <a:ext cx="9867900" cy="685800"/>
          </a:xfrm>
          <a:prstGeom prst="rect">
            <a:avLst/>
          </a:prstGeom>
          <a:solidFill>
            <a:srgbClr val="FFFFFF"/>
          </a:solidFill>
          <a:ln w="9525">
            <a:solidFill>
              <a:srgbClr val="D7CCBF"/>
            </a:solidFill>
            <a:prstDash val="solid"/>
          </a:ln>
        </p:spPr>
        <p:txBody>
          <a:bodyPr/>
          <a:lstStyle/>
          <a:p>
            <a:endParaRPr lang="en-US"/>
          </a:p>
        </p:txBody>
      </p:sp>
      <p:sp>
        <p:nvSpPr>
          <p:cNvPr id="13" name="Rectangle 12">
            <a:extLst>
              <a:ext uri="{FF2B5EF4-FFF2-40B4-BE49-F238E27FC236}">
                <a16:creationId xmlns:a16="http://schemas.microsoft.com/office/drawing/2014/main" id="{7CD046CC-341A-410E-BBC5-C194B944AC1C}"/>
              </a:ext>
            </a:extLst>
          </p:cNvPr>
          <p:cNvSpPr>
            <a:spLocks noGrp="1"/>
          </p:cNvSpPr>
          <p:nvPr/>
        </p:nvSpPr>
        <p:spPr>
          <a:xfrm>
            <a:off x="952500" y="299085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172126"/>
                </a:solidFill>
                <a:latin typeface="Aptos Mono"/>
                <a:ea typeface="Aptos Mono"/>
                <a:cs typeface="Aptos Mono"/>
              </a:defRPr>
            </a:pPr>
            <a:r>
              <a:rPr sz="713" b="0">
                <a:solidFill>
                  <a:srgbClr val="172126"/>
                </a:solidFill>
                <a:latin typeface="Aptos Mono"/>
                <a:ea typeface="Aptos Mono"/>
                <a:cs typeface="Aptos Mono"/>
              </a:rPr>
              <a:t>ai-wiki/index.md</a:t>
            </a:r>
          </a:p>
          <a:p>
            <a:pPr algn="l">
              <a:defRPr sz="713" b="0">
                <a:solidFill>
                  <a:srgbClr val="172126"/>
                </a:solidFill>
                <a:latin typeface="Aptos Mono"/>
                <a:ea typeface="Aptos Mono"/>
                <a:cs typeface="Aptos Mono"/>
              </a:defRPr>
            </a:pPr>
            <a:r>
              <a:rPr sz="713" b="0">
                <a:solidFill>
                  <a:srgbClr val="172126"/>
                </a:solidFill>
                <a:latin typeface="Aptos Mono"/>
                <a:ea typeface="Aptos Mono"/>
                <a:cs typeface="Aptos Mono"/>
              </a:rPr>
              <a:t>workflows.md</a:t>
            </a:r>
          </a:p>
          <a:p>
            <a:pPr algn="l">
              <a:defRPr sz="713" b="0">
                <a:solidFill>
                  <a:srgbClr val="172126"/>
                </a:solidFill>
                <a:latin typeface="Aptos Mono"/>
                <a:ea typeface="Aptos Mono"/>
                <a:cs typeface="Aptos Mono"/>
              </a:defRPr>
            </a:pPr>
            <a:r>
              <a:rPr sz="713" b="0">
                <a:solidFill>
                  <a:srgbClr val="172126"/>
                </a:solidFill>
                <a:latin typeface="Aptos Mono"/>
                <a:ea typeface="Aptos Mono"/>
                <a:cs typeface="Aptos Mono"/>
              </a:rPr>
              <a:t>decisions.md</a:t>
            </a:r>
          </a:p>
        </p:txBody>
      </p:sp>
      <p:sp>
        <p:nvSpPr>
          <p:cNvPr id="14" name="Rectangle 13">
            <a:extLst>
              <a:ext uri="{FF2B5EF4-FFF2-40B4-BE49-F238E27FC236}">
                <a16:creationId xmlns:a16="http://schemas.microsoft.com/office/drawing/2014/main" id="{E63D0D63-787D-4FDB-9ABE-AF8655C5649A}"/>
              </a:ext>
            </a:extLst>
          </p:cNvPr>
          <p:cNvSpPr>
            <a:spLocks noGrp="1"/>
          </p:cNvSpPr>
          <p:nvPr/>
        </p:nvSpPr>
        <p:spPr>
          <a:xfrm>
            <a:off x="3333750" y="2990850"/>
            <a:ext cx="2438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72126"/>
                </a:solidFill>
                <a:latin typeface="Aptos"/>
                <a:ea typeface="Aptos"/>
                <a:cs typeface="Aptos"/>
              </a:defRPr>
            </a:pPr>
            <a:r>
              <a:rPr sz="750" b="1">
                <a:solidFill>
                  <a:srgbClr val="172126"/>
                </a:solidFill>
                <a:latin typeface="Aptos"/>
                <a:ea typeface="Aptos"/>
                <a:cs typeface="Aptos"/>
              </a:rPr>
              <a:t>Repo contributors</a:t>
            </a:r>
          </a:p>
        </p:txBody>
      </p:sp>
      <p:sp>
        <p:nvSpPr>
          <p:cNvPr id="15" name="Rectangle 14">
            <a:extLst>
              <a:ext uri="{FF2B5EF4-FFF2-40B4-BE49-F238E27FC236}">
                <a16:creationId xmlns:a16="http://schemas.microsoft.com/office/drawing/2014/main" id="{664B064D-99C0-4D17-9F6A-F002C75D1605}"/>
              </a:ext>
            </a:extLst>
          </p:cNvPr>
          <p:cNvSpPr>
            <a:spLocks noGrp="1"/>
          </p:cNvSpPr>
          <p:nvPr/>
        </p:nvSpPr>
        <p:spPr>
          <a:xfrm>
            <a:off x="3181350" y="2857500"/>
            <a:ext cx="9525" cy="685800"/>
          </a:xfrm>
          <a:prstGeom prst="rect">
            <a:avLst/>
          </a:prstGeom>
          <a:solidFill>
            <a:srgbClr val="D7CCBF"/>
          </a:solidFill>
          <a:ln w="0">
            <a:solidFill>
              <a:srgbClr val="D7CCBF"/>
            </a:solidFill>
            <a:prstDash val="solid"/>
          </a:ln>
        </p:spPr>
        <p:txBody>
          <a:bodyPr/>
          <a:lstStyle/>
          <a:p>
            <a:endParaRPr lang="en-US"/>
          </a:p>
        </p:txBody>
      </p:sp>
      <p:sp>
        <p:nvSpPr>
          <p:cNvPr id="16" name="Rectangle 15">
            <a:extLst>
              <a:ext uri="{FF2B5EF4-FFF2-40B4-BE49-F238E27FC236}">
                <a16:creationId xmlns:a16="http://schemas.microsoft.com/office/drawing/2014/main" id="{4962A3E8-90F9-4791-972D-24F00380D214}"/>
              </a:ext>
            </a:extLst>
          </p:cNvPr>
          <p:cNvSpPr>
            <a:spLocks noGrp="1"/>
          </p:cNvSpPr>
          <p:nvPr/>
        </p:nvSpPr>
        <p:spPr>
          <a:xfrm>
            <a:off x="6038850" y="29908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E7E78"/>
                </a:solidFill>
                <a:latin typeface="Aptos"/>
                <a:ea typeface="Aptos"/>
                <a:cs typeface="Aptos"/>
              </a:defRPr>
            </a:pPr>
            <a:r>
              <a:rPr sz="750" b="0">
                <a:solidFill>
                  <a:srgbClr val="1E7E78"/>
                </a:solidFill>
                <a:latin typeface="Aptos"/>
                <a:ea typeface="Aptos"/>
                <a:cs typeface="Aptos"/>
              </a:rPr>
              <a:t>Read and respect.</a:t>
            </a:r>
          </a:p>
          <a:p>
            <a:pPr algn="l">
              <a:defRPr sz="750" b="0">
                <a:solidFill>
                  <a:srgbClr val="1E7E78"/>
                </a:solidFill>
                <a:latin typeface="Aptos"/>
                <a:ea typeface="Aptos"/>
                <a:cs typeface="Aptos"/>
              </a:defRPr>
            </a:pPr>
            <a:r>
              <a:rPr sz="750" b="0">
                <a:solidFill>
                  <a:srgbClr val="1E7E78"/>
                </a:solidFill>
                <a:latin typeface="Aptos"/>
                <a:ea typeface="Aptos"/>
                <a:cs typeface="Aptos"/>
              </a:rPr>
              <a:t>Do not auto-refresh.</a:t>
            </a:r>
          </a:p>
        </p:txBody>
      </p:sp>
      <p:sp>
        <p:nvSpPr>
          <p:cNvPr id="17" name="Rectangle 16">
            <a:extLst>
              <a:ext uri="{FF2B5EF4-FFF2-40B4-BE49-F238E27FC236}">
                <a16:creationId xmlns:a16="http://schemas.microsoft.com/office/drawing/2014/main" id="{3563CA37-9B17-4B05-BA06-B315C8DFBB89}"/>
              </a:ext>
            </a:extLst>
          </p:cNvPr>
          <p:cNvSpPr>
            <a:spLocks noGrp="1"/>
          </p:cNvSpPr>
          <p:nvPr/>
        </p:nvSpPr>
        <p:spPr>
          <a:xfrm>
            <a:off x="5886450" y="2857500"/>
            <a:ext cx="9525" cy="685800"/>
          </a:xfrm>
          <a:prstGeom prst="rect">
            <a:avLst/>
          </a:prstGeom>
          <a:solidFill>
            <a:srgbClr val="D7CCBF"/>
          </a:solidFill>
          <a:ln w="0">
            <a:solidFill>
              <a:srgbClr val="D7CCBF"/>
            </a:solidFill>
            <a:prstDash val="solid"/>
          </a:ln>
        </p:spPr>
        <p:txBody>
          <a:bodyPr/>
          <a:lstStyle/>
          <a:p>
            <a:endParaRPr lang="en-US"/>
          </a:p>
        </p:txBody>
      </p:sp>
      <p:sp>
        <p:nvSpPr>
          <p:cNvPr id="18" name="Rectangle 17">
            <a:extLst>
              <a:ext uri="{FF2B5EF4-FFF2-40B4-BE49-F238E27FC236}">
                <a16:creationId xmlns:a16="http://schemas.microsoft.com/office/drawing/2014/main" id="{4BF1FC68-090B-473A-BD04-29639A729EE0}"/>
              </a:ext>
            </a:extLst>
          </p:cNvPr>
          <p:cNvSpPr>
            <a:spLocks noGrp="1"/>
          </p:cNvSpPr>
          <p:nvPr/>
        </p:nvSpPr>
        <p:spPr>
          <a:xfrm>
            <a:off x="8477250" y="2990850"/>
            <a:ext cx="2076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72126"/>
                </a:solidFill>
                <a:latin typeface="Aptos"/>
                <a:ea typeface="Aptos"/>
                <a:cs typeface="Aptos"/>
              </a:defRPr>
            </a:pPr>
            <a:r>
              <a:rPr sz="750" b="0">
                <a:solidFill>
                  <a:srgbClr val="172126"/>
                </a:solidFill>
                <a:latin typeface="Aptos"/>
                <a:ea typeface="Aptos"/>
                <a:cs typeface="Aptos"/>
              </a:rPr>
              <a:t>People can customize shared memory without package churn.</a:t>
            </a:r>
          </a:p>
        </p:txBody>
      </p:sp>
      <p:sp>
        <p:nvSpPr>
          <p:cNvPr id="19" name="Rectangle 18">
            <a:extLst>
              <a:ext uri="{FF2B5EF4-FFF2-40B4-BE49-F238E27FC236}">
                <a16:creationId xmlns:a16="http://schemas.microsoft.com/office/drawing/2014/main" id="{C34C71E4-5D3D-438A-B031-8277E9995E4D}"/>
              </a:ext>
            </a:extLst>
          </p:cNvPr>
          <p:cNvSpPr>
            <a:spLocks noGrp="1"/>
          </p:cNvSpPr>
          <p:nvPr/>
        </p:nvSpPr>
        <p:spPr>
          <a:xfrm>
            <a:off x="8324850" y="2857500"/>
            <a:ext cx="9525" cy="685800"/>
          </a:xfrm>
          <a:prstGeom prst="rect">
            <a:avLst/>
          </a:prstGeom>
          <a:solidFill>
            <a:srgbClr val="D7CCBF"/>
          </a:solidFill>
          <a:ln w="0">
            <a:solidFill>
              <a:srgbClr val="D7CCBF"/>
            </a:solidFill>
            <a:prstDash val="solid"/>
          </a:ln>
        </p:spPr>
        <p:txBody>
          <a:bodyPr/>
          <a:lstStyle/>
          <a:p>
            <a:endParaRPr lang="en-US"/>
          </a:p>
        </p:txBody>
      </p:sp>
      <p:sp>
        <p:nvSpPr>
          <p:cNvPr id="20" name="Rectangle 19">
            <a:extLst>
              <a:ext uri="{FF2B5EF4-FFF2-40B4-BE49-F238E27FC236}">
                <a16:creationId xmlns:a16="http://schemas.microsoft.com/office/drawing/2014/main" id="{284D0A58-8C8B-4394-B3A0-403F1448A297}"/>
              </a:ext>
            </a:extLst>
          </p:cNvPr>
          <p:cNvSpPr>
            <a:spLocks noGrp="1"/>
          </p:cNvSpPr>
          <p:nvPr/>
        </p:nvSpPr>
        <p:spPr>
          <a:xfrm>
            <a:off x="800100" y="3543300"/>
            <a:ext cx="9867900" cy="685800"/>
          </a:xfrm>
          <a:prstGeom prst="rect">
            <a:avLst/>
          </a:prstGeom>
          <a:solidFill>
            <a:srgbClr val="F6F1E8"/>
          </a:solidFill>
          <a:ln w="9525">
            <a:solidFill>
              <a:srgbClr val="D7CCBF"/>
            </a:solidFill>
            <a:prstDash val="solid"/>
          </a:ln>
        </p:spPr>
        <p:txBody>
          <a:bodyPr/>
          <a:lstStyle/>
          <a:p>
            <a:endParaRPr lang="en-US"/>
          </a:p>
        </p:txBody>
      </p:sp>
      <p:sp>
        <p:nvSpPr>
          <p:cNvPr id="21" name="Rectangle 20">
            <a:extLst>
              <a:ext uri="{FF2B5EF4-FFF2-40B4-BE49-F238E27FC236}">
                <a16:creationId xmlns:a16="http://schemas.microsoft.com/office/drawing/2014/main" id="{E7E19906-00C0-443D-848A-1614E43A0DFE}"/>
              </a:ext>
            </a:extLst>
          </p:cNvPr>
          <p:cNvSpPr>
            <a:spLocks noGrp="1"/>
          </p:cNvSpPr>
          <p:nvPr/>
        </p:nvSpPr>
        <p:spPr>
          <a:xfrm>
            <a:off x="952500" y="367665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172126"/>
                </a:solidFill>
                <a:latin typeface="Aptos Mono"/>
                <a:ea typeface="Aptos Mono"/>
                <a:cs typeface="Aptos Mono"/>
              </a:defRPr>
            </a:pPr>
            <a:r>
              <a:rPr sz="713" b="0">
                <a:solidFill>
                  <a:srgbClr val="172126"/>
                </a:solidFill>
                <a:latin typeface="Aptos Mono"/>
                <a:ea typeface="Aptos Mono"/>
                <a:cs typeface="Aptos Mono"/>
              </a:rPr>
              <a:t>ai-wiki/_toolkit/**</a:t>
            </a:r>
          </a:p>
        </p:txBody>
      </p:sp>
      <p:sp>
        <p:nvSpPr>
          <p:cNvPr id="22" name="Rectangle 21">
            <a:extLst>
              <a:ext uri="{FF2B5EF4-FFF2-40B4-BE49-F238E27FC236}">
                <a16:creationId xmlns:a16="http://schemas.microsoft.com/office/drawing/2014/main" id="{05EC9BEC-AD58-457A-A2A3-D4A0B6D7C122}"/>
              </a:ext>
            </a:extLst>
          </p:cNvPr>
          <p:cNvSpPr>
            <a:spLocks noGrp="1"/>
          </p:cNvSpPr>
          <p:nvPr/>
        </p:nvSpPr>
        <p:spPr>
          <a:xfrm>
            <a:off x="3333750" y="3676650"/>
            <a:ext cx="2438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72126"/>
                </a:solidFill>
                <a:latin typeface="Aptos"/>
                <a:ea typeface="Aptos"/>
                <a:cs typeface="Aptos"/>
              </a:defRPr>
            </a:pPr>
            <a:r>
              <a:rPr sz="750" b="1" dirty="0">
                <a:solidFill>
                  <a:srgbClr val="172126"/>
                </a:solidFill>
                <a:latin typeface="Aptos"/>
                <a:ea typeface="Aptos"/>
                <a:cs typeface="Aptos"/>
              </a:rPr>
              <a:t>Package</a:t>
            </a:r>
          </a:p>
        </p:txBody>
      </p:sp>
      <p:sp>
        <p:nvSpPr>
          <p:cNvPr id="23" name="Rectangle 22">
            <a:extLst>
              <a:ext uri="{FF2B5EF4-FFF2-40B4-BE49-F238E27FC236}">
                <a16:creationId xmlns:a16="http://schemas.microsoft.com/office/drawing/2014/main" id="{DFC34198-0F85-4CBB-B7D4-11F1BCCD5AAC}"/>
              </a:ext>
            </a:extLst>
          </p:cNvPr>
          <p:cNvSpPr>
            <a:spLocks noGrp="1"/>
          </p:cNvSpPr>
          <p:nvPr/>
        </p:nvSpPr>
        <p:spPr>
          <a:xfrm>
            <a:off x="3181350" y="3543300"/>
            <a:ext cx="9525" cy="685800"/>
          </a:xfrm>
          <a:prstGeom prst="rect">
            <a:avLst/>
          </a:prstGeom>
          <a:solidFill>
            <a:srgbClr val="D7CCBF"/>
          </a:solidFill>
          <a:ln w="0">
            <a:solidFill>
              <a:srgbClr val="D7CCBF"/>
            </a:solidFill>
            <a:prstDash val="solid"/>
          </a:ln>
        </p:spPr>
        <p:txBody>
          <a:bodyPr/>
          <a:lstStyle/>
          <a:p>
            <a:endParaRPr lang="en-US"/>
          </a:p>
        </p:txBody>
      </p:sp>
      <p:sp>
        <p:nvSpPr>
          <p:cNvPr id="24" name="Rectangle 23">
            <a:extLst>
              <a:ext uri="{FF2B5EF4-FFF2-40B4-BE49-F238E27FC236}">
                <a16:creationId xmlns:a16="http://schemas.microsoft.com/office/drawing/2014/main" id="{BB0293DB-3EC3-4B6E-81B6-3B0834853B2B}"/>
              </a:ext>
            </a:extLst>
          </p:cNvPr>
          <p:cNvSpPr>
            <a:spLocks noGrp="1"/>
          </p:cNvSpPr>
          <p:nvPr/>
        </p:nvSpPr>
        <p:spPr>
          <a:xfrm>
            <a:off x="6038850" y="36766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E7E78"/>
                </a:solidFill>
                <a:latin typeface="Aptos"/>
                <a:ea typeface="Aptos"/>
                <a:cs typeface="Aptos"/>
              </a:defRPr>
            </a:pPr>
            <a:r>
              <a:rPr sz="750" b="0">
                <a:solidFill>
                  <a:srgbClr val="1E7E78"/>
                </a:solidFill>
                <a:latin typeface="Aptos"/>
                <a:ea typeface="Aptos"/>
                <a:cs typeface="Aptos"/>
              </a:rPr>
              <a:t>Refresh managed routing,</a:t>
            </a:r>
          </a:p>
          <a:p>
            <a:pPr algn="l">
              <a:defRPr sz="750" b="0">
                <a:solidFill>
                  <a:srgbClr val="1E7E78"/>
                </a:solidFill>
                <a:latin typeface="Aptos"/>
                <a:ea typeface="Aptos"/>
                <a:cs typeface="Aptos"/>
              </a:defRPr>
            </a:pPr>
            <a:r>
              <a:rPr sz="750" b="0">
                <a:solidFill>
                  <a:srgbClr val="1E7E78"/>
                </a:solidFill>
                <a:latin typeface="Aptos"/>
                <a:ea typeface="Aptos"/>
                <a:cs typeface="Aptos"/>
              </a:rPr>
              <a:t>schemas, and generated views.</a:t>
            </a:r>
          </a:p>
        </p:txBody>
      </p:sp>
      <p:sp>
        <p:nvSpPr>
          <p:cNvPr id="25" name="Rectangle 24">
            <a:extLst>
              <a:ext uri="{FF2B5EF4-FFF2-40B4-BE49-F238E27FC236}">
                <a16:creationId xmlns:a16="http://schemas.microsoft.com/office/drawing/2014/main" id="{695A5784-E695-4CFA-8404-A407B03AE33D}"/>
              </a:ext>
            </a:extLst>
          </p:cNvPr>
          <p:cNvSpPr>
            <a:spLocks noGrp="1"/>
          </p:cNvSpPr>
          <p:nvPr/>
        </p:nvSpPr>
        <p:spPr>
          <a:xfrm>
            <a:off x="5886450" y="3543300"/>
            <a:ext cx="9525" cy="685800"/>
          </a:xfrm>
          <a:prstGeom prst="rect">
            <a:avLst/>
          </a:prstGeom>
          <a:solidFill>
            <a:srgbClr val="D7CCBF"/>
          </a:solidFill>
          <a:ln w="0">
            <a:solidFill>
              <a:srgbClr val="D7CCBF"/>
            </a:solidFill>
            <a:prstDash val="solid"/>
          </a:ln>
        </p:spPr>
        <p:txBody>
          <a:bodyPr/>
          <a:lstStyle/>
          <a:p>
            <a:endParaRPr lang="en-US"/>
          </a:p>
        </p:txBody>
      </p:sp>
      <p:sp>
        <p:nvSpPr>
          <p:cNvPr id="26" name="Rectangle 25">
            <a:extLst>
              <a:ext uri="{FF2B5EF4-FFF2-40B4-BE49-F238E27FC236}">
                <a16:creationId xmlns:a16="http://schemas.microsoft.com/office/drawing/2014/main" id="{2156B382-FD73-4996-B0F1-F07D56607FD5}"/>
              </a:ext>
            </a:extLst>
          </p:cNvPr>
          <p:cNvSpPr>
            <a:spLocks noGrp="1"/>
          </p:cNvSpPr>
          <p:nvPr/>
        </p:nvSpPr>
        <p:spPr>
          <a:xfrm>
            <a:off x="8477250" y="3676650"/>
            <a:ext cx="2076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72126"/>
                </a:solidFill>
                <a:latin typeface="Aptos"/>
                <a:ea typeface="Aptos"/>
                <a:cs typeface="Aptos"/>
              </a:defRPr>
            </a:pPr>
            <a:r>
              <a:rPr sz="750" b="0">
                <a:solidFill>
                  <a:srgbClr val="172126"/>
                </a:solidFill>
                <a:latin typeface="Aptos"/>
                <a:ea typeface="Aptos"/>
                <a:cs typeface="Aptos"/>
              </a:rPr>
              <a:t>The toolkit can evolve baseline behavior safely.</a:t>
            </a:r>
          </a:p>
        </p:txBody>
      </p:sp>
      <p:sp>
        <p:nvSpPr>
          <p:cNvPr id="27" name="Rectangle 26">
            <a:extLst>
              <a:ext uri="{FF2B5EF4-FFF2-40B4-BE49-F238E27FC236}">
                <a16:creationId xmlns:a16="http://schemas.microsoft.com/office/drawing/2014/main" id="{168D4D12-F619-45D9-8F1C-9FCC6734A92D}"/>
              </a:ext>
            </a:extLst>
          </p:cNvPr>
          <p:cNvSpPr>
            <a:spLocks noGrp="1"/>
          </p:cNvSpPr>
          <p:nvPr/>
        </p:nvSpPr>
        <p:spPr>
          <a:xfrm>
            <a:off x="8324850" y="3543300"/>
            <a:ext cx="9525" cy="685800"/>
          </a:xfrm>
          <a:prstGeom prst="rect">
            <a:avLst/>
          </a:prstGeom>
          <a:solidFill>
            <a:srgbClr val="D7CCBF"/>
          </a:solidFill>
          <a:ln w="0">
            <a:solidFill>
              <a:srgbClr val="D7CCBF"/>
            </a:solidFill>
            <a:prstDash val="solid"/>
          </a:ln>
        </p:spPr>
        <p:txBody>
          <a:bodyPr/>
          <a:lstStyle/>
          <a:p>
            <a:endParaRPr lang="en-US"/>
          </a:p>
        </p:txBody>
      </p:sp>
      <p:sp>
        <p:nvSpPr>
          <p:cNvPr id="28" name="Rectangle 27">
            <a:extLst>
              <a:ext uri="{FF2B5EF4-FFF2-40B4-BE49-F238E27FC236}">
                <a16:creationId xmlns:a16="http://schemas.microsoft.com/office/drawing/2014/main" id="{356BB299-A980-416A-B79A-E3438B1EE63D}"/>
              </a:ext>
            </a:extLst>
          </p:cNvPr>
          <p:cNvSpPr>
            <a:spLocks noGrp="1"/>
          </p:cNvSpPr>
          <p:nvPr/>
        </p:nvSpPr>
        <p:spPr>
          <a:xfrm>
            <a:off x="800100" y="4229100"/>
            <a:ext cx="9867900" cy="685800"/>
          </a:xfrm>
          <a:prstGeom prst="rect">
            <a:avLst/>
          </a:prstGeom>
          <a:solidFill>
            <a:srgbClr val="FFFFFF"/>
          </a:solidFill>
          <a:ln w="9525">
            <a:solidFill>
              <a:srgbClr val="D7CCBF"/>
            </a:solidFill>
            <a:prstDash val="solid"/>
          </a:ln>
        </p:spPr>
        <p:txBody>
          <a:bodyPr/>
          <a:lstStyle/>
          <a:p>
            <a:endParaRPr lang="en-US"/>
          </a:p>
        </p:txBody>
      </p:sp>
      <p:sp>
        <p:nvSpPr>
          <p:cNvPr id="29" name="Rectangle 28">
            <a:extLst>
              <a:ext uri="{FF2B5EF4-FFF2-40B4-BE49-F238E27FC236}">
                <a16:creationId xmlns:a16="http://schemas.microsoft.com/office/drawing/2014/main" id="{F390D341-9528-431A-B480-BAD19E88C1CE}"/>
              </a:ext>
            </a:extLst>
          </p:cNvPr>
          <p:cNvSpPr>
            <a:spLocks noGrp="1"/>
          </p:cNvSpPr>
          <p:nvPr/>
        </p:nvSpPr>
        <p:spPr>
          <a:xfrm>
            <a:off x="952500" y="436245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172126"/>
                </a:solidFill>
                <a:latin typeface="Aptos Mono"/>
                <a:ea typeface="Aptos Mono"/>
                <a:cs typeface="Aptos Mono"/>
              </a:defRPr>
            </a:pPr>
            <a:r>
              <a:rPr sz="713" b="0" dirty="0">
                <a:solidFill>
                  <a:srgbClr val="172126"/>
                </a:solidFill>
                <a:latin typeface="Aptos Mono"/>
                <a:ea typeface="Aptos Mono"/>
                <a:cs typeface="Aptos Mono"/>
              </a:rPr>
              <a:t>Prompt managed block</a:t>
            </a:r>
          </a:p>
        </p:txBody>
      </p:sp>
      <p:sp>
        <p:nvSpPr>
          <p:cNvPr id="30" name="Rectangle 29">
            <a:extLst>
              <a:ext uri="{FF2B5EF4-FFF2-40B4-BE49-F238E27FC236}">
                <a16:creationId xmlns:a16="http://schemas.microsoft.com/office/drawing/2014/main" id="{32E8B6AC-B762-49E9-AA76-B68C3E2BA83F}"/>
              </a:ext>
            </a:extLst>
          </p:cNvPr>
          <p:cNvSpPr>
            <a:spLocks noGrp="1"/>
          </p:cNvSpPr>
          <p:nvPr/>
        </p:nvSpPr>
        <p:spPr>
          <a:xfrm>
            <a:off x="3333750" y="4362450"/>
            <a:ext cx="2438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72126"/>
                </a:solidFill>
                <a:latin typeface="Aptos"/>
                <a:ea typeface="Aptos"/>
                <a:cs typeface="Aptos"/>
              </a:defRPr>
            </a:pPr>
            <a:r>
              <a:rPr sz="750" b="1">
                <a:solidFill>
                  <a:srgbClr val="172126"/>
                </a:solidFill>
                <a:latin typeface="Aptos"/>
                <a:ea typeface="Aptos"/>
                <a:cs typeface="Aptos"/>
              </a:rPr>
              <a:t>Package inside markers</a:t>
            </a:r>
          </a:p>
        </p:txBody>
      </p:sp>
      <p:sp>
        <p:nvSpPr>
          <p:cNvPr id="31" name="Rectangle 30">
            <a:extLst>
              <a:ext uri="{FF2B5EF4-FFF2-40B4-BE49-F238E27FC236}">
                <a16:creationId xmlns:a16="http://schemas.microsoft.com/office/drawing/2014/main" id="{9A61A482-88A1-4D5D-8554-09513F0825F9}"/>
              </a:ext>
            </a:extLst>
          </p:cNvPr>
          <p:cNvSpPr>
            <a:spLocks noGrp="1"/>
          </p:cNvSpPr>
          <p:nvPr/>
        </p:nvSpPr>
        <p:spPr>
          <a:xfrm>
            <a:off x="3181350" y="4229100"/>
            <a:ext cx="9525" cy="685800"/>
          </a:xfrm>
          <a:prstGeom prst="rect">
            <a:avLst/>
          </a:prstGeom>
          <a:solidFill>
            <a:srgbClr val="D7CCBF"/>
          </a:solidFill>
          <a:ln w="0">
            <a:solidFill>
              <a:srgbClr val="D7CCBF"/>
            </a:solidFill>
            <a:prstDash val="solid"/>
          </a:ln>
        </p:spPr>
        <p:txBody>
          <a:bodyPr/>
          <a:lstStyle/>
          <a:p>
            <a:endParaRPr lang="en-US"/>
          </a:p>
        </p:txBody>
      </p:sp>
      <p:sp>
        <p:nvSpPr>
          <p:cNvPr id="32" name="Rectangle 31">
            <a:extLst>
              <a:ext uri="{FF2B5EF4-FFF2-40B4-BE49-F238E27FC236}">
                <a16:creationId xmlns:a16="http://schemas.microsoft.com/office/drawing/2014/main" id="{A3140BC6-AC69-43E6-9B78-B1688789B7B8}"/>
              </a:ext>
            </a:extLst>
          </p:cNvPr>
          <p:cNvSpPr>
            <a:spLocks noGrp="1"/>
          </p:cNvSpPr>
          <p:nvPr/>
        </p:nvSpPr>
        <p:spPr>
          <a:xfrm>
            <a:off x="6038850" y="43624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E7E78"/>
                </a:solidFill>
                <a:latin typeface="Aptos"/>
                <a:ea typeface="Aptos"/>
                <a:cs typeface="Aptos"/>
              </a:defRPr>
            </a:pPr>
            <a:r>
              <a:rPr sz="750" b="0">
                <a:solidFill>
                  <a:srgbClr val="1E7E78"/>
                </a:solidFill>
                <a:latin typeface="Aptos"/>
                <a:ea typeface="Aptos"/>
                <a:cs typeface="Aptos"/>
              </a:rPr>
              <a:t>Update only inside</a:t>
            </a:r>
          </a:p>
          <a:p>
            <a:pPr algn="l">
              <a:defRPr sz="750" b="0">
                <a:solidFill>
                  <a:srgbClr val="1E7E78"/>
                </a:solidFill>
                <a:latin typeface="Aptos"/>
                <a:ea typeface="Aptos"/>
                <a:cs typeface="Aptos"/>
              </a:defRPr>
            </a:pPr>
            <a:r>
              <a:rPr sz="750" b="0">
                <a:solidFill>
                  <a:srgbClr val="1E7E78"/>
                </a:solidFill>
                <a:latin typeface="Aptos"/>
                <a:ea typeface="Aptos"/>
                <a:cs typeface="Aptos"/>
              </a:rPr>
              <a:t>aiwiki-toolkit markers.</a:t>
            </a:r>
          </a:p>
        </p:txBody>
      </p:sp>
      <p:sp>
        <p:nvSpPr>
          <p:cNvPr id="33" name="Rectangle 32">
            <a:extLst>
              <a:ext uri="{FF2B5EF4-FFF2-40B4-BE49-F238E27FC236}">
                <a16:creationId xmlns:a16="http://schemas.microsoft.com/office/drawing/2014/main" id="{2A3C9460-1D6B-4F30-BF5D-DD28EDCCEAF4}"/>
              </a:ext>
            </a:extLst>
          </p:cNvPr>
          <p:cNvSpPr>
            <a:spLocks noGrp="1"/>
          </p:cNvSpPr>
          <p:nvPr/>
        </p:nvSpPr>
        <p:spPr>
          <a:xfrm>
            <a:off x="5886450" y="4229100"/>
            <a:ext cx="9525" cy="685800"/>
          </a:xfrm>
          <a:prstGeom prst="rect">
            <a:avLst/>
          </a:prstGeom>
          <a:solidFill>
            <a:srgbClr val="D7CCBF"/>
          </a:solidFill>
          <a:ln w="0">
            <a:solidFill>
              <a:srgbClr val="D7CCBF"/>
            </a:solidFill>
            <a:prstDash val="solid"/>
          </a:ln>
        </p:spPr>
        <p:txBody>
          <a:bodyPr/>
          <a:lstStyle/>
          <a:p>
            <a:endParaRPr lang="en-US"/>
          </a:p>
        </p:txBody>
      </p:sp>
      <p:sp>
        <p:nvSpPr>
          <p:cNvPr id="34" name="Rectangle 33">
            <a:extLst>
              <a:ext uri="{FF2B5EF4-FFF2-40B4-BE49-F238E27FC236}">
                <a16:creationId xmlns:a16="http://schemas.microsoft.com/office/drawing/2014/main" id="{A6A62651-8FC9-4EC2-A134-AB39F5C95C65}"/>
              </a:ext>
            </a:extLst>
          </p:cNvPr>
          <p:cNvSpPr>
            <a:spLocks noGrp="1"/>
          </p:cNvSpPr>
          <p:nvPr/>
        </p:nvSpPr>
        <p:spPr>
          <a:xfrm>
            <a:off x="8477250" y="4362450"/>
            <a:ext cx="2076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72126"/>
                </a:solidFill>
                <a:latin typeface="Aptos"/>
                <a:ea typeface="Aptos"/>
                <a:cs typeface="Aptos"/>
              </a:defRPr>
            </a:pPr>
            <a:r>
              <a:rPr sz="750" b="0">
                <a:solidFill>
                  <a:srgbClr val="172126"/>
                </a:solidFill>
                <a:latin typeface="Aptos"/>
                <a:ea typeface="Aptos"/>
                <a:cs typeface="Aptos"/>
              </a:rPr>
              <a:t>Agent instructions stay current without overwriting human text.</a:t>
            </a:r>
          </a:p>
        </p:txBody>
      </p:sp>
      <p:sp>
        <p:nvSpPr>
          <p:cNvPr id="35" name="Rectangle 34">
            <a:extLst>
              <a:ext uri="{FF2B5EF4-FFF2-40B4-BE49-F238E27FC236}">
                <a16:creationId xmlns:a16="http://schemas.microsoft.com/office/drawing/2014/main" id="{2DBFDE1E-2884-403C-ABBD-A6D31C131C93}"/>
              </a:ext>
            </a:extLst>
          </p:cNvPr>
          <p:cNvSpPr>
            <a:spLocks noGrp="1"/>
          </p:cNvSpPr>
          <p:nvPr/>
        </p:nvSpPr>
        <p:spPr>
          <a:xfrm>
            <a:off x="8324850" y="4229100"/>
            <a:ext cx="9525" cy="685800"/>
          </a:xfrm>
          <a:prstGeom prst="rect">
            <a:avLst/>
          </a:prstGeom>
          <a:solidFill>
            <a:srgbClr val="D7CCBF"/>
          </a:solidFill>
          <a:ln w="0">
            <a:solidFill>
              <a:srgbClr val="D7CCBF"/>
            </a:solidFill>
            <a:prstDash val="solid"/>
          </a:ln>
        </p:spPr>
        <p:txBody>
          <a:bodyPr/>
          <a:lstStyle/>
          <a:p>
            <a:endParaRPr lang="en-US"/>
          </a:p>
        </p:txBody>
      </p:sp>
      <p:sp>
        <p:nvSpPr>
          <p:cNvPr id="36" name="Rectangle 35">
            <a:extLst>
              <a:ext uri="{FF2B5EF4-FFF2-40B4-BE49-F238E27FC236}">
                <a16:creationId xmlns:a16="http://schemas.microsoft.com/office/drawing/2014/main" id="{3D4743F9-BE5B-4C29-B9DC-ADAA67ED399F}"/>
              </a:ext>
            </a:extLst>
          </p:cNvPr>
          <p:cNvSpPr>
            <a:spLocks noGrp="1"/>
          </p:cNvSpPr>
          <p:nvPr/>
        </p:nvSpPr>
        <p:spPr>
          <a:xfrm>
            <a:off x="800100" y="4914900"/>
            <a:ext cx="9867900" cy="685800"/>
          </a:xfrm>
          <a:prstGeom prst="rect">
            <a:avLst/>
          </a:prstGeom>
          <a:solidFill>
            <a:srgbClr val="F6F1E8"/>
          </a:solidFill>
          <a:ln w="9525">
            <a:solidFill>
              <a:srgbClr val="D7CCBF"/>
            </a:solidFill>
            <a:prstDash val="solid"/>
          </a:ln>
        </p:spPr>
        <p:txBody>
          <a:bodyPr/>
          <a:lstStyle/>
          <a:p>
            <a:endParaRPr lang="en-US"/>
          </a:p>
        </p:txBody>
      </p:sp>
      <p:sp>
        <p:nvSpPr>
          <p:cNvPr id="37" name="Rectangle 36">
            <a:extLst>
              <a:ext uri="{FF2B5EF4-FFF2-40B4-BE49-F238E27FC236}">
                <a16:creationId xmlns:a16="http://schemas.microsoft.com/office/drawing/2014/main" id="{2BEF5002-B63D-4990-80DF-0F54B9BC377F}"/>
              </a:ext>
            </a:extLst>
          </p:cNvPr>
          <p:cNvSpPr>
            <a:spLocks noGrp="1"/>
          </p:cNvSpPr>
          <p:nvPr/>
        </p:nvSpPr>
        <p:spPr>
          <a:xfrm>
            <a:off x="952500" y="504825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172126"/>
                </a:solidFill>
                <a:latin typeface="Aptos Mono"/>
                <a:ea typeface="Aptos Mono"/>
                <a:cs typeface="Aptos Mono"/>
              </a:defRPr>
            </a:pPr>
            <a:r>
              <a:rPr sz="713" b="0">
                <a:solidFill>
                  <a:srgbClr val="172126"/>
                </a:solidFill>
                <a:latin typeface="Aptos Mono"/>
                <a:ea typeface="Aptos Mono"/>
                <a:cs typeface="Aptos Mono"/>
              </a:rPr>
              <a:t>metrics/*.jsonl</a:t>
            </a:r>
          </a:p>
        </p:txBody>
      </p:sp>
      <p:sp>
        <p:nvSpPr>
          <p:cNvPr id="38" name="Rectangle 37">
            <a:extLst>
              <a:ext uri="{FF2B5EF4-FFF2-40B4-BE49-F238E27FC236}">
                <a16:creationId xmlns:a16="http://schemas.microsoft.com/office/drawing/2014/main" id="{2B82264A-3154-48A9-B00D-56C3662ABABC}"/>
              </a:ext>
            </a:extLst>
          </p:cNvPr>
          <p:cNvSpPr>
            <a:spLocks noGrp="1"/>
          </p:cNvSpPr>
          <p:nvPr/>
        </p:nvSpPr>
        <p:spPr>
          <a:xfrm>
            <a:off x="3333750" y="5048250"/>
            <a:ext cx="2438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72126"/>
                </a:solidFill>
                <a:latin typeface="Aptos"/>
                <a:ea typeface="Aptos"/>
                <a:cs typeface="Aptos"/>
              </a:defRPr>
            </a:pPr>
            <a:r>
              <a:rPr sz="750" b="1">
                <a:solidFill>
                  <a:srgbClr val="172126"/>
                </a:solidFill>
                <a:latin typeface="Aptos"/>
                <a:ea typeface="Aptos"/>
                <a:cs typeface="Aptos"/>
              </a:rPr>
              <a:t>Per-handle evidence</a:t>
            </a:r>
          </a:p>
        </p:txBody>
      </p:sp>
      <p:sp>
        <p:nvSpPr>
          <p:cNvPr id="39" name="Rectangle 38">
            <a:extLst>
              <a:ext uri="{FF2B5EF4-FFF2-40B4-BE49-F238E27FC236}">
                <a16:creationId xmlns:a16="http://schemas.microsoft.com/office/drawing/2014/main" id="{D9FAD4DF-2448-4234-91A8-91A2BB916DCA}"/>
              </a:ext>
            </a:extLst>
          </p:cNvPr>
          <p:cNvSpPr>
            <a:spLocks noGrp="1"/>
          </p:cNvSpPr>
          <p:nvPr/>
        </p:nvSpPr>
        <p:spPr>
          <a:xfrm>
            <a:off x="3181350" y="4914900"/>
            <a:ext cx="9525" cy="685800"/>
          </a:xfrm>
          <a:prstGeom prst="rect">
            <a:avLst/>
          </a:prstGeom>
          <a:solidFill>
            <a:srgbClr val="D7CCBF"/>
          </a:solidFill>
          <a:ln w="0">
            <a:solidFill>
              <a:srgbClr val="D7CCBF"/>
            </a:solidFill>
            <a:prstDash val="solid"/>
          </a:ln>
        </p:spPr>
        <p:txBody>
          <a:bodyPr/>
          <a:lstStyle/>
          <a:p>
            <a:endParaRPr lang="en-US"/>
          </a:p>
        </p:txBody>
      </p:sp>
      <p:sp>
        <p:nvSpPr>
          <p:cNvPr id="40" name="Rectangle 39">
            <a:extLst>
              <a:ext uri="{FF2B5EF4-FFF2-40B4-BE49-F238E27FC236}">
                <a16:creationId xmlns:a16="http://schemas.microsoft.com/office/drawing/2014/main" id="{455DE62D-3CEA-45C4-9C87-85AD2AB4660B}"/>
              </a:ext>
            </a:extLst>
          </p:cNvPr>
          <p:cNvSpPr>
            <a:spLocks noGrp="1"/>
          </p:cNvSpPr>
          <p:nvPr/>
        </p:nvSpPr>
        <p:spPr>
          <a:xfrm>
            <a:off x="6038850" y="50482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E7E78"/>
                </a:solidFill>
                <a:latin typeface="Aptos"/>
                <a:ea typeface="Aptos"/>
                <a:cs typeface="Aptos"/>
              </a:defRPr>
            </a:pPr>
            <a:r>
              <a:rPr sz="750" b="0">
                <a:solidFill>
                  <a:srgbClr val="1E7E78"/>
                </a:solidFill>
                <a:latin typeface="Aptos"/>
                <a:ea typeface="Aptos"/>
                <a:cs typeface="Aptos"/>
              </a:rPr>
              <a:t>Append observations and</a:t>
            </a:r>
          </a:p>
          <a:p>
            <a:pPr algn="l">
              <a:defRPr sz="750" b="0">
                <a:solidFill>
                  <a:srgbClr val="1E7E78"/>
                </a:solidFill>
                <a:latin typeface="Aptos"/>
                <a:ea typeface="Aptos"/>
                <a:cs typeface="Aptos"/>
              </a:defRPr>
            </a:pPr>
            <a:r>
              <a:rPr sz="750" b="0">
                <a:solidFill>
                  <a:srgbClr val="1E7E78"/>
                </a:solidFill>
                <a:latin typeface="Aptos"/>
                <a:ea typeface="Aptos"/>
                <a:cs typeface="Aptos"/>
              </a:rPr>
              <a:t>regenerate aggregates.</a:t>
            </a:r>
          </a:p>
        </p:txBody>
      </p:sp>
      <p:sp>
        <p:nvSpPr>
          <p:cNvPr id="41" name="Rectangle 40">
            <a:extLst>
              <a:ext uri="{FF2B5EF4-FFF2-40B4-BE49-F238E27FC236}">
                <a16:creationId xmlns:a16="http://schemas.microsoft.com/office/drawing/2014/main" id="{EBB429E6-36AA-4DD9-94EB-391400D7C010}"/>
              </a:ext>
            </a:extLst>
          </p:cNvPr>
          <p:cNvSpPr>
            <a:spLocks noGrp="1"/>
          </p:cNvSpPr>
          <p:nvPr/>
        </p:nvSpPr>
        <p:spPr>
          <a:xfrm>
            <a:off x="5886450" y="4914900"/>
            <a:ext cx="9525" cy="685800"/>
          </a:xfrm>
          <a:prstGeom prst="rect">
            <a:avLst/>
          </a:prstGeom>
          <a:solidFill>
            <a:srgbClr val="D7CCBF"/>
          </a:solidFill>
          <a:ln w="0">
            <a:solidFill>
              <a:srgbClr val="D7CCBF"/>
            </a:solidFill>
            <a:prstDash val="solid"/>
          </a:ln>
        </p:spPr>
        <p:txBody>
          <a:bodyPr/>
          <a:lstStyle/>
          <a:p>
            <a:endParaRPr lang="en-US"/>
          </a:p>
        </p:txBody>
      </p:sp>
      <p:sp>
        <p:nvSpPr>
          <p:cNvPr id="42" name="Rectangle 41">
            <a:extLst>
              <a:ext uri="{FF2B5EF4-FFF2-40B4-BE49-F238E27FC236}">
                <a16:creationId xmlns:a16="http://schemas.microsoft.com/office/drawing/2014/main" id="{C672019E-8EFE-4041-8407-D33693CFAC0C}"/>
              </a:ext>
            </a:extLst>
          </p:cNvPr>
          <p:cNvSpPr>
            <a:spLocks noGrp="1"/>
          </p:cNvSpPr>
          <p:nvPr/>
        </p:nvSpPr>
        <p:spPr>
          <a:xfrm>
            <a:off x="8477250" y="5048250"/>
            <a:ext cx="2076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72126"/>
                </a:solidFill>
                <a:latin typeface="Aptos"/>
                <a:ea typeface="Aptos"/>
                <a:cs typeface="Aptos"/>
              </a:defRPr>
            </a:pPr>
            <a:r>
              <a:rPr sz="750" b="0">
                <a:solidFill>
                  <a:srgbClr val="172126"/>
                </a:solidFill>
                <a:latin typeface="Aptos"/>
                <a:ea typeface="Aptos"/>
                <a:cs typeface="Aptos"/>
              </a:rPr>
              <a:t>Collaboration avoids shared mutable bottlenecks.</a:t>
            </a:r>
          </a:p>
        </p:txBody>
      </p:sp>
      <p:sp>
        <p:nvSpPr>
          <p:cNvPr id="43" name="Rectangle 42">
            <a:extLst>
              <a:ext uri="{FF2B5EF4-FFF2-40B4-BE49-F238E27FC236}">
                <a16:creationId xmlns:a16="http://schemas.microsoft.com/office/drawing/2014/main" id="{FB08F4BA-531B-4351-8A3F-D01338D7760C}"/>
              </a:ext>
            </a:extLst>
          </p:cNvPr>
          <p:cNvSpPr>
            <a:spLocks noGrp="1"/>
          </p:cNvSpPr>
          <p:nvPr/>
        </p:nvSpPr>
        <p:spPr>
          <a:xfrm>
            <a:off x="8324850" y="4914900"/>
            <a:ext cx="9525" cy="685800"/>
          </a:xfrm>
          <a:prstGeom prst="rect">
            <a:avLst/>
          </a:prstGeom>
          <a:solidFill>
            <a:srgbClr val="D7CCBF"/>
          </a:solidFill>
          <a:ln w="0">
            <a:solidFill>
              <a:srgbClr val="D7CCBF"/>
            </a:solidFill>
            <a:prstDash val="solid"/>
          </a:ln>
        </p:spPr>
        <p:txBody>
          <a:bodyPr/>
          <a:lstStyle/>
          <a:p>
            <a:endParaRPr lang="en-US"/>
          </a:p>
        </p:txBody>
      </p:sp>
      <p:sp>
        <p:nvSpPr>
          <p:cNvPr id="44" name="Rectangle 43">
            <a:extLst>
              <a:ext uri="{FF2B5EF4-FFF2-40B4-BE49-F238E27FC236}">
                <a16:creationId xmlns:a16="http://schemas.microsoft.com/office/drawing/2014/main" id="{85A09CD2-C0F6-406F-B152-2B04616F9A3A}"/>
              </a:ext>
            </a:extLst>
          </p:cNvPr>
          <p:cNvSpPr>
            <a:spLocks noGrp="1"/>
          </p:cNvSpPr>
          <p:nvPr/>
        </p:nvSpPr>
        <p:spPr>
          <a:xfrm>
            <a:off x="819150" y="5772150"/>
            <a:ext cx="6477000" cy="9525"/>
          </a:xfrm>
          <a:prstGeom prst="rect">
            <a:avLst/>
          </a:prstGeom>
          <a:solidFill>
            <a:srgbClr val="CBBFB1"/>
          </a:solidFill>
          <a:ln w="0">
            <a:solidFill>
              <a:srgbClr val="CBBFB1"/>
            </a:solidFill>
            <a:prstDash val="solid"/>
          </a:ln>
        </p:spPr>
        <p:txBody>
          <a:bodyPr/>
          <a:lstStyle/>
          <a:p>
            <a:endParaRPr lang="en-US"/>
          </a:p>
        </p:txBody>
      </p:sp>
      <p:sp>
        <p:nvSpPr>
          <p:cNvPr id="46" name="Rectangle 45">
            <a:extLst>
              <a:ext uri="{FF2B5EF4-FFF2-40B4-BE49-F238E27FC236}">
                <a16:creationId xmlns:a16="http://schemas.microsoft.com/office/drawing/2014/main" id="{B7D9FD6D-3F63-43C8-97C7-EA943429D756}"/>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AF177429-F2A1-4CEF-B0B6-404BD33FD554}"/>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71EA2BD8-60B6-4C78-93CF-A9955A81B2DD}"/>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dirty="0">
                <a:solidFill>
                  <a:srgbClr val="66706F"/>
                </a:solidFill>
                <a:latin typeface="Aptos"/>
                <a:ea typeface="Aptos"/>
                <a:cs typeface="Aptos"/>
              </a:rPr>
              <a:t>0</a:t>
            </a:r>
            <a:r>
              <a:rPr lang="en-US" altLang="zh-CN" sz="900" b="1" dirty="0">
                <a:solidFill>
                  <a:srgbClr val="66706F"/>
                </a:solidFill>
                <a:latin typeface="Aptos"/>
                <a:ea typeface="Aptos"/>
                <a:cs typeface="Aptos"/>
              </a:rPr>
              <a:t>6</a:t>
            </a:r>
            <a:endParaRPr sz="900" b="1" dirty="0">
              <a:solidFill>
                <a:srgbClr val="66706F"/>
              </a:solidFill>
              <a:latin typeface="Aptos"/>
              <a:ea typeface="Aptos"/>
              <a:cs typeface="Aptos"/>
            </a:endParaRPr>
          </a:p>
        </p:txBody>
      </p:sp>
    </p:spTree>
    <p:extLst>
      <p:ext uri="{BB962C8B-B14F-4D97-AF65-F5344CB8AC3E}">
        <p14:creationId xmlns:p14="http://schemas.microsoft.com/office/powerpoint/2010/main" val="1926332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7DBB-9130-F1B3-1274-4ED2AD39B6F3}"/>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15FA2BBD-4A75-C2C6-147E-B506CA92097A}"/>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4E360CE1-F416-F641-7EA7-56EC27BAA7EA}"/>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146058B6-BAF9-3023-C1D3-7C57F94312A0}"/>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4955A8CC-433F-FAA1-1937-3C0C88B07BAD}"/>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5" name="Rectangle 4">
            <a:extLst>
              <a:ext uri="{FF2B5EF4-FFF2-40B4-BE49-F238E27FC236}">
                <a16:creationId xmlns:a16="http://schemas.microsoft.com/office/drawing/2014/main" id="{9906F4D4-DE22-D289-8C82-C57BA6B5D169}"/>
              </a:ext>
            </a:extLst>
          </p:cNvPr>
          <p:cNvSpPr>
            <a:spLocks noGrp="1"/>
          </p:cNvSpPr>
          <p:nvPr/>
        </p:nvSpPr>
        <p:spPr>
          <a:xfrm>
            <a:off x="552450" y="800100"/>
            <a:ext cx="7429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72126"/>
                </a:solidFill>
                <a:latin typeface="Aptos Display"/>
                <a:ea typeface="Aptos Display"/>
                <a:cs typeface="Aptos Display"/>
              </a:defRPr>
            </a:pPr>
            <a:r>
              <a:rPr lang="en-AU" sz="2850" b="1" dirty="0">
                <a:solidFill>
                  <a:srgbClr val="172126"/>
                </a:solidFill>
                <a:latin typeface="Aptos Display"/>
                <a:ea typeface="Aptos Display"/>
                <a:cs typeface="Aptos Display"/>
              </a:rPr>
              <a:t>An example of footer in a conversation in Codex</a:t>
            </a:r>
            <a:endParaRPr sz="2850" b="1" dirty="0">
              <a:solidFill>
                <a:srgbClr val="172126"/>
              </a:solidFill>
              <a:latin typeface="Aptos Display"/>
              <a:ea typeface="Aptos Display"/>
              <a:cs typeface="Aptos Display"/>
            </a:endParaRPr>
          </a:p>
        </p:txBody>
      </p:sp>
      <p:sp>
        <p:nvSpPr>
          <p:cNvPr id="6" name="Rectangle 5">
            <a:extLst>
              <a:ext uri="{FF2B5EF4-FFF2-40B4-BE49-F238E27FC236}">
                <a16:creationId xmlns:a16="http://schemas.microsoft.com/office/drawing/2014/main" id="{BA073FE0-687B-4137-ADFC-4AEB29C88FC6}"/>
              </a:ext>
            </a:extLst>
          </p:cNvPr>
          <p:cNvSpPr>
            <a:spLocks noGrp="1"/>
          </p:cNvSpPr>
          <p:nvPr/>
        </p:nvSpPr>
        <p:spPr>
          <a:xfrm>
            <a:off x="552450" y="1809750"/>
            <a:ext cx="6477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6706F"/>
                </a:solidFill>
                <a:latin typeface="Aptos"/>
                <a:ea typeface="Aptos"/>
                <a:cs typeface="Aptos"/>
              </a:defRPr>
            </a:pPr>
            <a:r>
              <a:rPr lang="en-AU" sz="975" b="0" dirty="0">
                <a:solidFill>
                  <a:srgbClr val="66706F"/>
                </a:solidFill>
                <a:latin typeface="Aptos"/>
                <a:ea typeface="Aptos"/>
                <a:cs typeface="Aptos"/>
              </a:rPr>
              <a:t>It will tell you what files being used and if there are any new information being written back.</a:t>
            </a:r>
            <a:endParaRPr sz="975" b="0" dirty="0">
              <a:solidFill>
                <a:srgbClr val="66706F"/>
              </a:solidFill>
              <a:latin typeface="Aptos"/>
              <a:ea typeface="Aptos"/>
              <a:cs typeface="Aptos"/>
            </a:endParaRPr>
          </a:p>
        </p:txBody>
      </p:sp>
      <p:sp>
        <p:nvSpPr>
          <p:cNvPr id="45" name="Rectangle 44">
            <a:extLst>
              <a:ext uri="{FF2B5EF4-FFF2-40B4-BE49-F238E27FC236}">
                <a16:creationId xmlns:a16="http://schemas.microsoft.com/office/drawing/2014/main" id="{48E5BA13-4827-E48F-55D4-41F412088018}"/>
              </a:ext>
            </a:extLst>
          </p:cNvPr>
          <p:cNvSpPr>
            <a:spLocks noGrp="1"/>
          </p:cNvSpPr>
          <p:nvPr/>
        </p:nvSpPr>
        <p:spPr>
          <a:xfrm>
            <a:off x="819150" y="5905500"/>
            <a:ext cx="647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C75C2C"/>
                </a:solidFill>
                <a:latin typeface="Aptos"/>
                <a:ea typeface="Aptos"/>
                <a:cs typeface="Aptos"/>
              </a:defRPr>
            </a:pPr>
            <a:r>
              <a:rPr sz="975" b="1">
                <a:solidFill>
                  <a:srgbClr val="C75C2C"/>
                </a:solidFill>
                <a:latin typeface="Aptos"/>
                <a:ea typeface="Aptos"/>
                <a:cs typeface="Aptos"/>
              </a:rPr>
              <a:t>This is the non-negotiable: user-owned Markdown is strict no-touch by default.</a:t>
            </a:r>
          </a:p>
        </p:txBody>
      </p:sp>
      <p:sp>
        <p:nvSpPr>
          <p:cNvPr id="46" name="Rectangle 45">
            <a:extLst>
              <a:ext uri="{FF2B5EF4-FFF2-40B4-BE49-F238E27FC236}">
                <a16:creationId xmlns:a16="http://schemas.microsoft.com/office/drawing/2014/main" id="{611F173F-70AA-C1D9-95DB-E881681F85D1}"/>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8F2A0B2A-E1A9-B1C7-087A-B9D2499DF6C9}"/>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C01D5834-952A-148C-9AF7-654B6BB1607C}"/>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dirty="0">
                <a:solidFill>
                  <a:srgbClr val="66706F"/>
                </a:solidFill>
                <a:latin typeface="Aptos"/>
                <a:ea typeface="Aptos"/>
                <a:cs typeface="Aptos"/>
              </a:rPr>
              <a:t>0</a:t>
            </a:r>
            <a:r>
              <a:rPr lang="en-US" sz="900" b="1" dirty="0">
                <a:solidFill>
                  <a:srgbClr val="66706F"/>
                </a:solidFill>
                <a:latin typeface="Aptos"/>
                <a:ea typeface="Aptos"/>
                <a:cs typeface="Aptos"/>
              </a:rPr>
              <a:t>7</a:t>
            </a:r>
            <a:endParaRPr sz="900" b="1" dirty="0">
              <a:solidFill>
                <a:srgbClr val="66706F"/>
              </a:solidFill>
              <a:latin typeface="Aptos"/>
              <a:ea typeface="Aptos"/>
              <a:cs typeface="Aptos"/>
            </a:endParaRPr>
          </a:p>
        </p:txBody>
      </p:sp>
      <p:pic>
        <p:nvPicPr>
          <p:cNvPr id="52" name="Picture 51">
            <a:extLst>
              <a:ext uri="{FF2B5EF4-FFF2-40B4-BE49-F238E27FC236}">
                <a16:creationId xmlns:a16="http://schemas.microsoft.com/office/drawing/2014/main" id="{884F19DB-7240-8C4D-0269-D6C3E3CD70D1}"/>
              </a:ext>
            </a:extLst>
          </p:cNvPr>
          <p:cNvPicPr>
            <a:picLocks noChangeAspect="1"/>
          </p:cNvPicPr>
          <p:nvPr/>
        </p:nvPicPr>
        <p:blipFill>
          <a:blip r:embed="rId3"/>
          <a:stretch>
            <a:fillRect/>
          </a:stretch>
        </p:blipFill>
        <p:spPr>
          <a:xfrm>
            <a:off x="552450" y="2562225"/>
            <a:ext cx="9148619" cy="2695575"/>
          </a:xfrm>
          <a:prstGeom prst="rect">
            <a:avLst/>
          </a:prstGeom>
        </p:spPr>
      </p:pic>
    </p:spTree>
    <p:extLst>
      <p:ext uri="{BB962C8B-B14F-4D97-AF65-F5344CB8AC3E}">
        <p14:creationId xmlns:p14="http://schemas.microsoft.com/office/powerpoint/2010/main" val="380622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CFE1-29C2-9E29-8D67-81514C2DCC65}"/>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032EDEDA-0D6B-A428-8D31-D7A212EC4C26}"/>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836A1BBD-D5FD-8356-EF3F-C433289AA7FC}"/>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79A3B13C-942E-8955-FE0B-C26EB7A0E964}"/>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57B23976-B7B7-9063-6146-7B1ACBF06C4E}"/>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45" name="Rectangle 44">
            <a:extLst>
              <a:ext uri="{FF2B5EF4-FFF2-40B4-BE49-F238E27FC236}">
                <a16:creationId xmlns:a16="http://schemas.microsoft.com/office/drawing/2014/main" id="{C50000A3-6524-5236-91C8-5EC858AE914E}"/>
              </a:ext>
            </a:extLst>
          </p:cNvPr>
          <p:cNvSpPr>
            <a:spLocks noGrp="1"/>
          </p:cNvSpPr>
          <p:nvPr/>
        </p:nvSpPr>
        <p:spPr>
          <a:xfrm>
            <a:off x="819150" y="5905500"/>
            <a:ext cx="647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C75C2C"/>
                </a:solidFill>
                <a:latin typeface="Aptos"/>
                <a:ea typeface="Aptos"/>
                <a:cs typeface="Aptos"/>
              </a:defRPr>
            </a:pPr>
            <a:r>
              <a:rPr sz="975" b="1">
                <a:solidFill>
                  <a:srgbClr val="C75C2C"/>
                </a:solidFill>
                <a:latin typeface="Aptos"/>
                <a:ea typeface="Aptos"/>
                <a:cs typeface="Aptos"/>
              </a:rPr>
              <a:t>This is the non-negotiable: user-owned Markdown is strict no-touch by default.</a:t>
            </a:r>
          </a:p>
        </p:txBody>
      </p:sp>
      <p:sp>
        <p:nvSpPr>
          <p:cNvPr id="46" name="Rectangle 45">
            <a:extLst>
              <a:ext uri="{FF2B5EF4-FFF2-40B4-BE49-F238E27FC236}">
                <a16:creationId xmlns:a16="http://schemas.microsoft.com/office/drawing/2014/main" id="{93FAC372-796C-7EDE-1C57-9C085CC56EF7}"/>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761347C4-49E4-2559-510B-D86F7AEA944D}"/>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BE7F6F6F-51D5-1D73-BF0B-AD3784EFD94A}"/>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dirty="0">
                <a:solidFill>
                  <a:srgbClr val="66706F"/>
                </a:solidFill>
                <a:latin typeface="Aptos"/>
                <a:ea typeface="Aptos"/>
                <a:cs typeface="Aptos"/>
              </a:rPr>
              <a:t>0</a:t>
            </a:r>
            <a:r>
              <a:rPr lang="en-US" sz="900" b="1" dirty="0">
                <a:solidFill>
                  <a:srgbClr val="66706F"/>
                </a:solidFill>
                <a:latin typeface="Aptos"/>
                <a:ea typeface="Aptos"/>
                <a:cs typeface="Aptos"/>
              </a:rPr>
              <a:t>8</a:t>
            </a:r>
            <a:endParaRPr sz="900" b="1" dirty="0">
              <a:solidFill>
                <a:srgbClr val="66706F"/>
              </a:solidFill>
              <a:latin typeface="Aptos"/>
              <a:ea typeface="Aptos"/>
              <a:cs typeface="Aptos"/>
            </a:endParaRPr>
          </a:p>
        </p:txBody>
      </p:sp>
      <p:pic>
        <p:nvPicPr>
          <p:cNvPr id="1026" name="Picture 2">
            <a:extLst>
              <a:ext uri="{FF2B5EF4-FFF2-40B4-BE49-F238E27FC236}">
                <a16:creationId xmlns:a16="http://schemas.microsoft.com/office/drawing/2014/main" id="{234966FF-C327-5D6B-DCE2-14F32B0767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775"/>
            <a:ext cx="12192000" cy="664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749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9F9E8-4ECF-C348-1FE3-493E3FAF324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FF664A-0A07-A9B6-ADCC-C22B42EC6FB4}"/>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F62C5A81-FABE-9A13-A899-DD6E4CA734EE}"/>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AA176A3B-8F2E-0800-E030-AFB67C090828}"/>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45670B56-CFCC-FD40-0636-5FCF8B0F9F9B}"/>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46" name="Rectangle 45">
            <a:extLst>
              <a:ext uri="{FF2B5EF4-FFF2-40B4-BE49-F238E27FC236}">
                <a16:creationId xmlns:a16="http://schemas.microsoft.com/office/drawing/2014/main" id="{88B0BE6A-DEBF-CE30-889A-1A0A90EF5111}"/>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A6DDAD84-71E9-A7E5-9653-5707B7F56562}"/>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0ABC4BBC-E71B-94E8-C3BF-44C1AD80E069}"/>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dirty="0">
                <a:solidFill>
                  <a:srgbClr val="66706F"/>
                </a:solidFill>
                <a:latin typeface="Aptos"/>
                <a:ea typeface="Aptos"/>
                <a:cs typeface="Aptos"/>
              </a:rPr>
              <a:t>0</a:t>
            </a:r>
            <a:r>
              <a:rPr lang="en-US" altLang="zh-CN" sz="900" b="1" dirty="0">
                <a:solidFill>
                  <a:srgbClr val="66706F"/>
                </a:solidFill>
                <a:latin typeface="Aptos"/>
                <a:ea typeface="Aptos"/>
                <a:cs typeface="Aptos"/>
              </a:rPr>
              <a:t>6</a:t>
            </a:r>
            <a:endParaRPr sz="900" b="1" dirty="0">
              <a:solidFill>
                <a:srgbClr val="66706F"/>
              </a:solidFill>
              <a:latin typeface="Aptos"/>
              <a:ea typeface="Aptos"/>
              <a:cs typeface="Aptos"/>
            </a:endParaRPr>
          </a:p>
        </p:txBody>
      </p:sp>
      <p:pic>
        <p:nvPicPr>
          <p:cNvPr id="1026" name="Picture 2">
            <a:extLst>
              <a:ext uri="{FF2B5EF4-FFF2-40B4-BE49-F238E27FC236}">
                <a16:creationId xmlns:a16="http://schemas.microsoft.com/office/drawing/2014/main" id="{EEEE8594-5860-3551-BEC1-EAAFE1D56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1998"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73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4B269-3E84-584E-8349-63C1874E811C}"/>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54FC5D24-6AB0-5F7B-A0FE-F92DD6CEED6E}"/>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0498E5B3-D31F-8E07-6111-7FD1203962B7}"/>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D0DA3B2B-5553-2263-4E19-0E5BB17C9FF1}"/>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A891EBEB-3B7C-B833-803E-FB970E5F9E91}"/>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5" name="Rectangle 4">
            <a:extLst>
              <a:ext uri="{FF2B5EF4-FFF2-40B4-BE49-F238E27FC236}">
                <a16:creationId xmlns:a16="http://schemas.microsoft.com/office/drawing/2014/main" id="{6696FCDC-A8EB-377D-0EE7-2DE139217550}"/>
              </a:ext>
            </a:extLst>
          </p:cNvPr>
          <p:cNvSpPr>
            <a:spLocks noGrp="1"/>
          </p:cNvSpPr>
          <p:nvPr/>
        </p:nvSpPr>
        <p:spPr>
          <a:xfrm>
            <a:off x="552450" y="800099"/>
            <a:ext cx="10938824" cy="1292553"/>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850" b="1">
                <a:solidFill>
                  <a:srgbClr val="172126"/>
                </a:solidFill>
                <a:latin typeface="Aptos Display"/>
                <a:ea typeface="Aptos Display"/>
                <a:cs typeface="Aptos Display"/>
              </a:defRPr>
            </a:pPr>
            <a:r>
              <a:rPr lang="en-AU" sz="2850" b="1" dirty="0">
                <a:solidFill>
                  <a:srgbClr val="172126"/>
                </a:solidFill>
                <a:latin typeface="Aptos Display"/>
                <a:ea typeface="Aptos Display"/>
                <a:cs typeface="Aptos Display"/>
              </a:rPr>
              <a:t>I think a lot of people are inspired by </a:t>
            </a:r>
            <a:r>
              <a:rPr lang="en-AU" sz="2850" b="1" dirty="0" err="1">
                <a:solidFill>
                  <a:srgbClr val="172126"/>
                </a:solidFill>
                <a:latin typeface="Aptos Display"/>
                <a:ea typeface="Aptos Display"/>
                <a:cs typeface="Aptos Display"/>
              </a:rPr>
              <a:t>Kapathy’s</a:t>
            </a:r>
            <a:r>
              <a:rPr lang="en-AU" sz="2850" b="1" dirty="0">
                <a:solidFill>
                  <a:srgbClr val="172126"/>
                </a:solidFill>
                <a:latin typeface="Aptos Display"/>
                <a:ea typeface="Aptos Display"/>
                <a:cs typeface="Aptos Display"/>
              </a:rPr>
              <a:t> LLM Wiki post. </a:t>
            </a:r>
            <a:r>
              <a:rPr lang="en-AU" sz="2850" dirty="0" err="1"/>
              <a:t>OpenClaw</a:t>
            </a:r>
            <a:r>
              <a:rPr lang="en-AU" sz="2850" dirty="0"/>
              <a:t> and Hermes explore agent-level memory. </a:t>
            </a:r>
            <a:r>
              <a:rPr lang="en-AU" sz="2850" b="1" dirty="0">
                <a:solidFill>
                  <a:srgbClr val="172126"/>
                </a:solidFill>
                <a:latin typeface="Aptos Display"/>
                <a:ea typeface="Aptos Display"/>
                <a:cs typeface="Aptos Display"/>
              </a:rPr>
              <a:t>I am trying to solve the memory problem from the repo side for engineers.</a:t>
            </a:r>
          </a:p>
          <a:p>
            <a:pPr>
              <a:defRPr sz="2850" b="1">
                <a:solidFill>
                  <a:srgbClr val="172126"/>
                </a:solidFill>
                <a:latin typeface="Aptos Display"/>
                <a:ea typeface="Aptos Display"/>
                <a:cs typeface="Aptos Display"/>
              </a:defRPr>
            </a:pPr>
            <a:endParaRPr lang="en-AU" sz="2850" b="1" dirty="0">
              <a:solidFill>
                <a:srgbClr val="172126"/>
              </a:solidFill>
              <a:latin typeface="Aptos Display"/>
              <a:ea typeface="Aptos Display"/>
              <a:cs typeface="Aptos Display"/>
            </a:endParaRPr>
          </a:p>
          <a:p>
            <a:pPr>
              <a:defRPr sz="2850" b="1">
                <a:solidFill>
                  <a:srgbClr val="172126"/>
                </a:solidFill>
                <a:latin typeface="Aptos Display"/>
                <a:ea typeface="Aptos Display"/>
                <a:cs typeface="Aptos Display"/>
              </a:defRPr>
            </a:pPr>
            <a:r>
              <a:rPr lang="en-AU" sz="2850" dirty="0"/>
              <a:t>Efficiency caveat: AI Wiki did not make every first-pass run faster.</a:t>
            </a:r>
            <a:br>
              <a:rPr lang="en-AU" sz="2850" b="1" dirty="0"/>
            </a:br>
            <a:r>
              <a:rPr lang="en-AU" sz="2850" dirty="0"/>
              <a:t>The value came from avoiding repeated discovery / correction / release-rescue loops.</a:t>
            </a:r>
            <a:endParaRPr lang="en-AU" sz="2850" b="1" dirty="0">
              <a:solidFill>
                <a:srgbClr val="172126"/>
              </a:solidFill>
              <a:latin typeface="Aptos Display"/>
              <a:ea typeface="Aptos Display"/>
              <a:cs typeface="Aptos Display"/>
            </a:endParaRPr>
          </a:p>
          <a:p>
            <a:pPr>
              <a:defRPr sz="2850" b="1">
                <a:solidFill>
                  <a:srgbClr val="172126"/>
                </a:solidFill>
                <a:latin typeface="Aptos Display"/>
                <a:ea typeface="Aptos Display"/>
                <a:cs typeface="Aptos Display"/>
              </a:defRPr>
            </a:pPr>
            <a:endParaRPr lang="en-AU" sz="2850" b="1" dirty="0">
              <a:solidFill>
                <a:srgbClr val="172126"/>
              </a:solidFill>
              <a:latin typeface="Aptos Display"/>
              <a:ea typeface="Aptos Display"/>
              <a:cs typeface="Aptos Display"/>
            </a:endParaRPr>
          </a:p>
          <a:p>
            <a:pPr>
              <a:defRPr sz="2850" b="1">
                <a:solidFill>
                  <a:srgbClr val="172126"/>
                </a:solidFill>
                <a:latin typeface="Aptos Display"/>
                <a:ea typeface="Aptos Display"/>
                <a:cs typeface="Aptos Display"/>
              </a:defRPr>
            </a:pPr>
            <a:r>
              <a:rPr lang="en-AU" sz="2850" b="1" dirty="0">
                <a:solidFill>
                  <a:srgbClr val="172126"/>
                </a:solidFill>
                <a:latin typeface="Aptos Display"/>
                <a:ea typeface="Aptos Display"/>
                <a:cs typeface="Aptos Display"/>
              </a:rPr>
              <a:t>I have already proven that it works for me when I maintain a repo by myself. I will test and improve its performance if it is leveraged in a team.</a:t>
            </a:r>
          </a:p>
          <a:p>
            <a:pPr>
              <a:defRPr sz="2850" b="1">
                <a:solidFill>
                  <a:srgbClr val="172126"/>
                </a:solidFill>
                <a:latin typeface="Aptos Display"/>
                <a:ea typeface="Aptos Display"/>
                <a:cs typeface="Aptos Display"/>
              </a:defRPr>
            </a:pPr>
            <a:endParaRPr lang="en-AU" sz="2850" b="1" dirty="0">
              <a:solidFill>
                <a:srgbClr val="172126"/>
              </a:solidFill>
              <a:latin typeface="Aptos Display"/>
              <a:ea typeface="Aptos Display"/>
              <a:cs typeface="Aptos Display"/>
            </a:endParaRPr>
          </a:p>
          <a:p>
            <a:pPr>
              <a:defRPr sz="2850" b="1">
                <a:solidFill>
                  <a:srgbClr val="172126"/>
                </a:solidFill>
                <a:latin typeface="Aptos Display"/>
                <a:ea typeface="Aptos Display"/>
                <a:cs typeface="Aptos Display"/>
              </a:defRPr>
            </a:pPr>
            <a:endParaRPr sz="2850" b="1" dirty="0">
              <a:solidFill>
                <a:srgbClr val="172126"/>
              </a:solidFill>
              <a:latin typeface="Aptos Display"/>
              <a:ea typeface="Aptos Display"/>
              <a:cs typeface="Aptos Display"/>
            </a:endParaRPr>
          </a:p>
        </p:txBody>
      </p:sp>
      <p:sp>
        <p:nvSpPr>
          <p:cNvPr id="45" name="Rectangle 44">
            <a:extLst>
              <a:ext uri="{FF2B5EF4-FFF2-40B4-BE49-F238E27FC236}">
                <a16:creationId xmlns:a16="http://schemas.microsoft.com/office/drawing/2014/main" id="{A49AC314-E796-BD28-F5F5-C43C4A3049A9}"/>
              </a:ext>
            </a:extLst>
          </p:cNvPr>
          <p:cNvSpPr>
            <a:spLocks noGrp="1"/>
          </p:cNvSpPr>
          <p:nvPr/>
        </p:nvSpPr>
        <p:spPr>
          <a:xfrm>
            <a:off x="819150" y="5905500"/>
            <a:ext cx="647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C75C2C"/>
                </a:solidFill>
                <a:latin typeface="Aptos"/>
                <a:ea typeface="Aptos"/>
                <a:cs typeface="Aptos"/>
              </a:defRPr>
            </a:pPr>
            <a:r>
              <a:rPr sz="975" b="1">
                <a:solidFill>
                  <a:srgbClr val="C75C2C"/>
                </a:solidFill>
                <a:latin typeface="Aptos"/>
                <a:ea typeface="Aptos"/>
                <a:cs typeface="Aptos"/>
              </a:rPr>
              <a:t>This is the non-negotiable: user-owned Markdown is strict no-touch by default.</a:t>
            </a:r>
          </a:p>
        </p:txBody>
      </p:sp>
      <p:sp>
        <p:nvSpPr>
          <p:cNvPr id="46" name="Rectangle 45">
            <a:extLst>
              <a:ext uri="{FF2B5EF4-FFF2-40B4-BE49-F238E27FC236}">
                <a16:creationId xmlns:a16="http://schemas.microsoft.com/office/drawing/2014/main" id="{B930FF06-CDCD-9872-5FD4-136E941476F1}"/>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DE9271AD-750B-530D-A51F-94D5C8AAA2EE}"/>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C2C156A5-7C43-D137-C326-8077AD9665C7}"/>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sz="900" b="1" dirty="0">
                <a:solidFill>
                  <a:srgbClr val="66706F"/>
                </a:solidFill>
                <a:latin typeface="Aptos"/>
                <a:ea typeface="Aptos"/>
                <a:cs typeface="Aptos"/>
              </a:rPr>
              <a:t>0</a:t>
            </a:r>
            <a:r>
              <a:rPr lang="en-US" sz="900" b="1" dirty="0">
                <a:solidFill>
                  <a:srgbClr val="66706F"/>
                </a:solidFill>
                <a:latin typeface="Aptos"/>
                <a:ea typeface="Aptos"/>
                <a:cs typeface="Aptos"/>
              </a:rPr>
              <a:t>9</a:t>
            </a:r>
            <a:endParaRPr sz="900" b="1" dirty="0">
              <a:solidFill>
                <a:srgbClr val="66706F"/>
              </a:solidFill>
              <a:latin typeface="Aptos"/>
              <a:ea typeface="Aptos"/>
              <a:cs typeface="Aptos"/>
            </a:endParaRPr>
          </a:p>
        </p:txBody>
      </p:sp>
    </p:spTree>
    <p:extLst>
      <p:ext uri="{BB962C8B-B14F-4D97-AF65-F5344CB8AC3E}">
        <p14:creationId xmlns:p14="http://schemas.microsoft.com/office/powerpoint/2010/main" val="2159326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E3FB-9CAF-AD2D-96EE-587DAC4871BF}"/>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579930F3-10F7-7970-B54B-BF48555E0CE3}"/>
              </a:ext>
            </a:extLst>
          </p:cNvPr>
          <p:cNvSpPr>
            <a:spLocks noGrp="1"/>
          </p:cNvSpPr>
          <p:nvPr/>
        </p:nvSpPr>
        <p:spPr>
          <a:xfrm>
            <a:off x="0" y="0"/>
            <a:ext cx="12192000" cy="6858000"/>
          </a:xfrm>
          <a:prstGeom prst="rect">
            <a:avLst/>
          </a:prstGeom>
          <a:solidFill>
            <a:srgbClr val="F9F6F0"/>
          </a:solidFill>
          <a:ln w="0">
            <a:solidFill>
              <a:srgbClr val="F9F6F0"/>
            </a:solidFill>
            <a:prstDash val="solid"/>
          </a:ln>
        </p:spPr>
        <p:txBody>
          <a:bodyPr/>
          <a:lstStyle/>
          <a:p>
            <a:endParaRPr lang="en-US"/>
          </a:p>
        </p:txBody>
      </p:sp>
      <p:sp>
        <p:nvSpPr>
          <p:cNvPr id="2" name="kicker-marker">
            <a:extLst>
              <a:ext uri="{FF2B5EF4-FFF2-40B4-BE49-F238E27FC236}">
                <a16:creationId xmlns:a16="http://schemas.microsoft.com/office/drawing/2014/main" id="{C9998DC4-75B8-D454-96AE-0B5619A4DA75}"/>
              </a:ext>
            </a:extLst>
          </p:cNvPr>
          <p:cNvSpPr>
            <a:spLocks noGrp="1"/>
          </p:cNvSpPr>
          <p:nvPr/>
        </p:nvSpPr>
        <p:spPr>
          <a:xfrm>
            <a:off x="552450" y="514350"/>
            <a:ext cx="66675" cy="66675"/>
          </a:xfrm>
          <a:prstGeom prst="ellipse">
            <a:avLst/>
          </a:prstGeom>
          <a:solidFill>
            <a:srgbClr val="1E7E78"/>
          </a:solidFill>
          <a:ln w="0">
            <a:solidFill>
              <a:srgbClr val="1E7E78"/>
            </a:solidFill>
            <a:prstDash val="solid"/>
          </a:ln>
        </p:spPr>
        <p:txBody>
          <a:bodyPr/>
          <a:lstStyle/>
          <a:p>
            <a:endParaRPr lang="en-US"/>
          </a:p>
        </p:txBody>
      </p:sp>
      <p:sp>
        <p:nvSpPr>
          <p:cNvPr id="3" name="Rectangle 2">
            <a:extLst>
              <a:ext uri="{FF2B5EF4-FFF2-40B4-BE49-F238E27FC236}">
                <a16:creationId xmlns:a16="http://schemas.microsoft.com/office/drawing/2014/main" id="{93EA5C30-FD64-541C-A36B-7D01E3892798}"/>
              </a:ext>
            </a:extLst>
          </p:cNvPr>
          <p:cNvSpPr>
            <a:spLocks noGrp="1"/>
          </p:cNvSpPr>
          <p:nvPr/>
        </p:nvSpPr>
        <p:spPr>
          <a:xfrm>
            <a:off x="723900" y="533400"/>
            <a:ext cx="552450" cy="9525"/>
          </a:xfrm>
          <a:prstGeom prst="rect">
            <a:avLst/>
          </a:prstGeom>
          <a:solidFill>
            <a:srgbClr val="BEC8C3"/>
          </a:solidFill>
          <a:ln w="0">
            <a:solidFill>
              <a:srgbClr val="BEC8C3"/>
            </a:solidFill>
            <a:prstDash val="solid"/>
          </a:ln>
        </p:spPr>
        <p:txBody>
          <a:bodyPr/>
          <a:lstStyle/>
          <a:p>
            <a:endParaRPr lang="en-US"/>
          </a:p>
        </p:txBody>
      </p:sp>
      <p:sp>
        <p:nvSpPr>
          <p:cNvPr id="4" name="kicker-label">
            <a:extLst>
              <a:ext uri="{FF2B5EF4-FFF2-40B4-BE49-F238E27FC236}">
                <a16:creationId xmlns:a16="http://schemas.microsoft.com/office/drawing/2014/main" id="{F1638C1D-C4C8-15D1-6B85-10286900598B}"/>
              </a:ext>
            </a:extLst>
          </p:cNvPr>
          <p:cNvSpPr>
            <a:spLocks noGrp="1"/>
          </p:cNvSpPr>
          <p:nvPr/>
        </p:nvSpPr>
        <p:spPr>
          <a:xfrm>
            <a:off x="1390650" y="447675"/>
            <a:ext cx="2476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713" b="1">
                <a:solidFill>
                  <a:srgbClr val="66706F"/>
                </a:solidFill>
                <a:latin typeface="Aptos"/>
                <a:ea typeface="Aptos"/>
                <a:cs typeface="Aptos"/>
              </a:defRPr>
            </a:pPr>
            <a:r>
              <a:rPr sz="713" b="1">
                <a:solidFill>
                  <a:srgbClr val="66706F"/>
                </a:solidFill>
                <a:latin typeface="Aptos"/>
                <a:ea typeface="Aptos"/>
                <a:cs typeface="Aptos"/>
              </a:rPr>
              <a:t>DESIGN DECISION</a:t>
            </a:r>
          </a:p>
        </p:txBody>
      </p:sp>
      <p:sp>
        <p:nvSpPr>
          <p:cNvPr id="5" name="Rectangle 4">
            <a:extLst>
              <a:ext uri="{FF2B5EF4-FFF2-40B4-BE49-F238E27FC236}">
                <a16:creationId xmlns:a16="http://schemas.microsoft.com/office/drawing/2014/main" id="{CEE6EA09-5F80-7E5F-FB76-06A021238975}"/>
              </a:ext>
            </a:extLst>
          </p:cNvPr>
          <p:cNvSpPr>
            <a:spLocks noGrp="1"/>
          </p:cNvSpPr>
          <p:nvPr/>
        </p:nvSpPr>
        <p:spPr>
          <a:xfrm>
            <a:off x="552450" y="800100"/>
            <a:ext cx="7429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850" b="1">
                <a:solidFill>
                  <a:srgbClr val="172126"/>
                </a:solidFill>
                <a:latin typeface="Aptos Display"/>
                <a:ea typeface="Aptos Display"/>
                <a:cs typeface="Aptos Display"/>
              </a:defRPr>
            </a:pPr>
            <a:r>
              <a:rPr lang="en-AU" sz="2850" b="1" dirty="0">
                <a:solidFill>
                  <a:srgbClr val="172126"/>
                </a:solidFill>
                <a:latin typeface="Aptos Display"/>
                <a:ea typeface="Aptos Display"/>
                <a:cs typeface="Aptos Display"/>
              </a:rPr>
              <a:t>Questions?</a:t>
            </a:r>
          </a:p>
          <a:p>
            <a:pPr>
              <a:defRPr sz="2850" b="1">
                <a:solidFill>
                  <a:srgbClr val="172126"/>
                </a:solidFill>
                <a:latin typeface="Aptos Display"/>
                <a:ea typeface="Aptos Display"/>
                <a:cs typeface="Aptos Display"/>
              </a:defRPr>
            </a:pPr>
            <a:endParaRPr lang="en-AU" sz="2850" b="1" dirty="0">
              <a:solidFill>
                <a:srgbClr val="172126"/>
              </a:solidFill>
              <a:latin typeface="Aptos Display"/>
              <a:ea typeface="Aptos Display"/>
              <a:cs typeface="Aptos Display"/>
            </a:endParaRPr>
          </a:p>
          <a:p>
            <a:pPr>
              <a:defRPr sz="2850" b="1">
                <a:solidFill>
                  <a:srgbClr val="172126"/>
                </a:solidFill>
                <a:latin typeface="Aptos Display"/>
                <a:ea typeface="Aptos Display"/>
                <a:cs typeface="Aptos Display"/>
              </a:defRPr>
            </a:pPr>
            <a:endParaRPr sz="2850" b="1" dirty="0">
              <a:solidFill>
                <a:srgbClr val="172126"/>
              </a:solidFill>
              <a:latin typeface="Aptos Display"/>
              <a:ea typeface="Aptos Display"/>
              <a:cs typeface="Aptos Display"/>
            </a:endParaRPr>
          </a:p>
        </p:txBody>
      </p:sp>
      <p:sp>
        <p:nvSpPr>
          <p:cNvPr id="45" name="Rectangle 44">
            <a:extLst>
              <a:ext uri="{FF2B5EF4-FFF2-40B4-BE49-F238E27FC236}">
                <a16:creationId xmlns:a16="http://schemas.microsoft.com/office/drawing/2014/main" id="{532F77F4-21C3-2DA0-A11F-1DD213587431}"/>
              </a:ext>
            </a:extLst>
          </p:cNvPr>
          <p:cNvSpPr>
            <a:spLocks noGrp="1"/>
          </p:cNvSpPr>
          <p:nvPr/>
        </p:nvSpPr>
        <p:spPr>
          <a:xfrm>
            <a:off x="819150" y="5905500"/>
            <a:ext cx="647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C75C2C"/>
                </a:solidFill>
                <a:latin typeface="Aptos"/>
                <a:ea typeface="Aptos"/>
                <a:cs typeface="Aptos"/>
              </a:defRPr>
            </a:pPr>
            <a:r>
              <a:rPr sz="975" b="1">
                <a:solidFill>
                  <a:srgbClr val="C75C2C"/>
                </a:solidFill>
                <a:latin typeface="Aptos"/>
                <a:ea typeface="Aptos"/>
                <a:cs typeface="Aptos"/>
              </a:rPr>
              <a:t>This is the non-negotiable: user-owned Markdown is strict no-touch by default.</a:t>
            </a:r>
          </a:p>
        </p:txBody>
      </p:sp>
      <p:sp>
        <p:nvSpPr>
          <p:cNvPr id="46" name="Rectangle 45">
            <a:extLst>
              <a:ext uri="{FF2B5EF4-FFF2-40B4-BE49-F238E27FC236}">
                <a16:creationId xmlns:a16="http://schemas.microsoft.com/office/drawing/2014/main" id="{A93CCA65-A256-4689-CFCB-9D61923EBE84}"/>
              </a:ext>
            </a:extLst>
          </p:cNvPr>
          <p:cNvSpPr>
            <a:spLocks noGrp="1"/>
          </p:cNvSpPr>
          <p:nvPr/>
        </p:nvSpPr>
        <p:spPr>
          <a:xfrm>
            <a:off x="552450" y="6343650"/>
            <a:ext cx="9715500" cy="9525"/>
          </a:xfrm>
          <a:prstGeom prst="rect">
            <a:avLst/>
          </a:prstGeom>
          <a:solidFill>
            <a:srgbClr val="D6CCC0"/>
          </a:solidFill>
          <a:ln w="0">
            <a:solidFill>
              <a:srgbClr val="D6CCC0"/>
            </a:solidFill>
            <a:prstDash val="solid"/>
          </a:ln>
        </p:spPr>
        <p:txBody>
          <a:bodyPr/>
          <a:lstStyle/>
          <a:p>
            <a:endParaRPr lang="en-US"/>
          </a:p>
        </p:txBody>
      </p:sp>
      <p:sp>
        <p:nvSpPr>
          <p:cNvPr id="47" name="Rectangle 46">
            <a:extLst>
              <a:ext uri="{FF2B5EF4-FFF2-40B4-BE49-F238E27FC236}">
                <a16:creationId xmlns:a16="http://schemas.microsoft.com/office/drawing/2014/main" id="{BFDA9515-0660-0104-8BB2-E7B0DCC2E7D6}"/>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6706F"/>
                </a:solidFill>
                <a:latin typeface="Aptos"/>
                <a:ea typeface="Aptos"/>
                <a:cs typeface="Aptos"/>
              </a:defRPr>
            </a:pPr>
            <a:r>
              <a:rPr sz="638" b="0">
                <a:solidFill>
                  <a:srgbClr val="66706F"/>
                </a:solidFill>
                <a:latin typeface="Aptos"/>
                <a:ea typeface="Aptos"/>
                <a:cs typeface="Aptos"/>
              </a:rPr>
              <a:t>Source: constraints, decisions, package-managed convention</a:t>
            </a:r>
          </a:p>
        </p:txBody>
      </p:sp>
      <p:sp>
        <p:nvSpPr>
          <p:cNvPr id="48" name="Rectangle 47">
            <a:extLst>
              <a:ext uri="{FF2B5EF4-FFF2-40B4-BE49-F238E27FC236}">
                <a16:creationId xmlns:a16="http://schemas.microsoft.com/office/drawing/2014/main" id="{ADDBA080-A4B0-182A-D3C1-9B16517D5772}"/>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6706F"/>
                </a:solidFill>
                <a:latin typeface="Aptos"/>
                <a:ea typeface="Aptos"/>
                <a:cs typeface="Aptos"/>
              </a:defRPr>
            </a:pPr>
            <a:r>
              <a:rPr lang="en-AU" sz="900" b="1" dirty="0">
                <a:solidFill>
                  <a:srgbClr val="66706F"/>
                </a:solidFill>
                <a:latin typeface="Aptos"/>
                <a:ea typeface="Aptos"/>
                <a:cs typeface="Aptos"/>
              </a:rPr>
              <a:t>10</a:t>
            </a:r>
            <a:endParaRPr sz="900" b="1" dirty="0">
              <a:solidFill>
                <a:srgbClr val="66706F"/>
              </a:solidFill>
              <a:latin typeface="Aptos"/>
              <a:ea typeface="Aptos"/>
              <a:cs typeface="Aptos"/>
            </a:endParaRPr>
          </a:p>
        </p:txBody>
      </p:sp>
      <p:sp>
        <p:nvSpPr>
          <p:cNvPr id="6" name="Rectangle 5">
            <a:extLst>
              <a:ext uri="{FF2B5EF4-FFF2-40B4-BE49-F238E27FC236}">
                <a16:creationId xmlns:a16="http://schemas.microsoft.com/office/drawing/2014/main" id="{EBB54649-C47C-2623-F470-827579797480}"/>
              </a:ext>
            </a:extLst>
          </p:cNvPr>
          <p:cNvSpPr>
            <a:spLocks noGrp="1"/>
          </p:cNvSpPr>
          <p:nvPr/>
        </p:nvSpPr>
        <p:spPr>
          <a:xfrm>
            <a:off x="552450" y="2152650"/>
            <a:ext cx="5429250" cy="1701358"/>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200" b="0">
                <a:solidFill>
                  <a:srgbClr val="B8C5C8"/>
                </a:solidFill>
                <a:latin typeface="Aptos"/>
                <a:ea typeface="Aptos"/>
                <a:cs typeface="Aptos"/>
              </a:defRPr>
            </a:pPr>
            <a:r>
              <a:rPr lang="en-AU" sz="1600" b="1" dirty="0">
                <a:solidFill>
                  <a:srgbClr val="172126"/>
                </a:solidFill>
                <a:latin typeface="Aptos Display"/>
              </a:rPr>
              <a:t>Install it</a:t>
            </a:r>
          </a:p>
          <a:p>
            <a:pPr>
              <a:defRPr sz="1200" b="0">
                <a:solidFill>
                  <a:srgbClr val="B8C5C8"/>
                </a:solidFill>
                <a:latin typeface="Aptos"/>
                <a:ea typeface="Aptos"/>
                <a:cs typeface="Aptos"/>
              </a:defRPr>
            </a:pPr>
            <a:r>
              <a:rPr lang="en-AU" sz="1600" b="1" dirty="0">
                <a:solidFill>
                  <a:srgbClr val="172126"/>
                </a:solidFill>
                <a:latin typeface="Aptos Display"/>
              </a:rPr>
              <a:t> - </a:t>
            </a:r>
            <a:r>
              <a:rPr lang="en-AU" sz="1600" b="1" dirty="0" err="1">
                <a:solidFill>
                  <a:srgbClr val="172126"/>
                </a:solidFill>
                <a:latin typeface="Aptos Display"/>
              </a:rPr>
              <a:t>npm</a:t>
            </a:r>
            <a:r>
              <a:rPr lang="en-AU" sz="1600" b="1" dirty="0">
                <a:solidFill>
                  <a:srgbClr val="172126"/>
                </a:solidFill>
                <a:latin typeface="Aptos Display"/>
              </a:rPr>
              <a:t> install -g ai-wiki-toolkit</a:t>
            </a:r>
          </a:p>
          <a:p>
            <a:pPr>
              <a:defRPr sz="1200" b="0">
                <a:solidFill>
                  <a:srgbClr val="B8C5C8"/>
                </a:solidFill>
                <a:latin typeface="Aptos"/>
                <a:ea typeface="Aptos"/>
                <a:cs typeface="Aptos"/>
              </a:defRPr>
            </a:pPr>
            <a:endParaRPr lang="en-AU" sz="1600" b="1" dirty="0">
              <a:solidFill>
                <a:srgbClr val="172126"/>
              </a:solidFill>
              <a:latin typeface="Aptos Display"/>
            </a:endParaRPr>
          </a:p>
          <a:p>
            <a:pPr>
              <a:defRPr sz="1200" b="0">
                <a:solidFill>
                  <a:srgbClr val="B8C5C8"/>
                </a:solidFill>
                <a:latin typeface="Aptos"/>
                <a:ea typeface="Aptos"/>
                <a:cs typeface="Aptos"/>
              </a:defRPr>
            </a:pPr>
            <a:r>
              <a:rPr lang="en-AU" sz="1600" b="1" dirty="0">
                <a:solidFill>
                  <a:srgbClr val="172126"/>
                </a:solidFill>
                <a:latin typeface="Aptos Display"/>
              </a:rPr>
              <a:t>Enter your target repo, then run</a:t>
            </a:r>
          </a:p>
          <a:p>
            <a:pPr>
              <a:defRPr sz="1200" b="0">
                <a:solidFill>
                  <a:srgbClr val="B8C5C8"/>
                </a:solidFill>
                <a:latin typeface="Aptos"/>
                <a:ea typeface="Aptos"/>
                <a:cs typeface="Aptos"/>
              </a:defRPr>
            </a:pPr>
            <a:r>
              <a:rPr lang="en-AU" sz="1600" b="1" dirty="0">
                <a:solidFill>
                  <a:srgbClr val="172126"/>
                </a:solidFill>
                <a:latin typeface="Aptos Display"/>
              </a:rPr>
              <a:t> - </a:t>
            </a:r>
            <a:r>
              <a:rPr lang="en-AU" sz="1600" b="1" dirty="0" err="1">
                <a:solidFill>
                  <a:srgbClr val="172126"/>
                </a:solidFill>
                <a:latin typeface="Aptos Display"/>
              </a:rPr>
              <a:t>aiwiki</a:t>
            </a:r>
            <a:r>
              <a:rPr lang="en-AU" sz="1600" b="1" dirty="0">
                <a:solidFill>
                  <a:srgbClr val="172126"/>
                </a:solidFill>
                <a:latin typeface="Aptos Display"/>
              </a:rPr>
              <a:t>-toolkit install</a:t>
            </a:r>
          </a:p>
        </p:txBody>
      </p:sp>
    </p:spTree>
    <p:extLst>
      <p:ext uri="{BB962C8B-B14F-4D97-AF65-F5344CB8AC3E}">
        <p14:creationId xmlns:p14="http://schemas.microsoft.com/office/powerpoint/2010/main" val="45446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1DBED08-DC50-4A55-A185-30C0F4521A92}"/>
              </a:ext>
            </a:extLst>
          </p:cNvPr>
          <p:cNvSpPr>
            <a:spLocks noGrp="1"/>
          </p:cNvSpPr>
          <p:nvPr/>
        </p:nvSpPr>
        <p:spPr>
          <a:xfrm>
            <a:off x="0" y="0"/>
            <a:ext cx="12192000" cy="6858000"/>
          </a:xfrm>
          <a:prstGeom prst="rect">
            <a:avLst/>
          </a:prstGeom>
          <a:solidFill>
            <a:srgbClr val="101820"/>
          </a:solidFill>
          <a:ln w="0">
            <a:solidFill>
              <a:srgbClr val="101820"/>
            </a:solidFill>
            <a:prstDash val="solid"/>
          </a:ln>
        </p:spPr>
        <p:txBody>
          <a:bodyPr/>
          <a:lstStyle/>
          <a:p>
            <a:endParaRPr lang="en-US"/>
          </a:p>
        </p:txBody>
      </p:sp>
      <p:sp>
        <p:nvSpPr>
          <p:cNvPr id="2" name="Rectangle 1">
            <a:extLst>
              <a:ext uri="{FF2B5EF4-FFF2-40B4-BE49-F238E27FC236}">
                <a16:creationId xmlns:a16="http://schemas.microsoft.com/office/drawing/2014/main" id="{98BC0468-8B75-4120-8B10-5E7B0735182A}"/>
              </a:ext>
            </a:extLst>
          </p:cNvPr>
          <p:cNvSpPr>
            <a:spLocks noGrp="1"/>
          </p:cNvSpPr>
          <p:nvPr/>
        </p:nvSpPr>
        <p:spPr>
          <a:xfrm>
            <a:off x="0" y="0"/>
            <a:ext cx="12192000" cy="6858000"/>
          </a:xfrm>
          <a:prstGeom prst="rect">
            <a:avLst/>
          </a:prstGeom>
          <a:solidFill>
            <a:srgbClr val="101820"/>
          </a:solidFill>
          <a:ln w="0">
            <a:solidFill>
              <a:srgbClr val="101820"/>
            </a:solidFill>
            <a:prstDash val="solid"/>
          </a:ln>
        </p:spPr>
        <p:txBody>
          <a:bodyPr/>
          <a:lstStyle/>
          <a:p>
            <a:endParaRPr lang="en-US"/>
          </a:p>
        </p:txBody>
      </p:sp>
      <p:sp>
        <p:nvSpPr>
          <p:cNvPr id="3" name="Rectangle 2">
            <a:extLst>
              <a:ext uri="{FF2B5EF4-FFF2-40B4-BE49-F238E27FC236}">
                <a16:creationId xmlns:a16="http://schemas.microsoft.com/office/drawing/2014/main" id="{B297287A-3BF7-4195-8CF4-BF52101B88F6}"/>
              </a:ext>
            </a:extLst>
          </p:cNvPr>
          <p:cNvSpPr>
            <a:spLocks noGrp="1"/>
          </p:cNvSpPr>
          <p:nvPr/>
        </p:nvSpPr>
        <p:spPr>
          <a:xfrm>
            <a:off x="552450" y="495300"/>
            <a:ext cx="47625" cy="514350"/>
          </a:xfrm>
          <a:prstGeom prst="rect">
            <a:avLst/>
          </a:prstGeom>
          <a:solidFill>
            <a:srgbClr val="1E7E78"/>
          </a:solidFill>
          <a:ln w="0">
            <a:solidFill>
              <a:srgbClr val="1E7E78"/>
            </a:solidFill>
            <a:prstDash val="solid"/>
          </a:ln>
        </p:spPr>
        <p:txBody>
          <a:bodyPr/>
          <a:lstStyle/>
          <a:p>
            <a:endParaRPr lang="en-US"/>
          </a:p>
        </p:txBody>
      </p:sp>
      <p:sp>
        <p:nvSpPr>
          <p:cNvPr id="4" name="Rectangle 3">
            <a:extLst>
              <a:ext uri="{FF2B5EF4-FFF2-40B4-BE49-F238E27FC236}">
                <a16:creationId xmlns:a16="http://schemas.microsoft.com/office/drawing/2014/main" id="{D8CE6943-534C-439D-95CC-FF45227F9AF6}"/>
              </a:ext>
            </a:extLst>
          </p:cNvPr>
          <p:cNvSpPr>
            <a:spLocks noGrp="1"/>
          </p:cNvSpPr>
          <p:nvPr/>
        </p:nvSpPr>
        <p:spPr>
          <a:xfrm>
            <a:off x="742950" y="51435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B8C5C8"/>
                </a:solidFill>
                <a:latin typeface="Aptos"/>
                <a:ea typeface="Aptos"/>
                <a:cs typeface="Aptos"/>
              </a:defRPr>
            </a:pPr>
            <a:r>
              <a:rPr sz="713" b="1">
                <a:solidFill>
                  <a:srgbClr val="B8C5C8"/>
                </a:solidFill>
                <a:latin typeface="Aptos"/>
                <a:ea typeface="Aptos"/>
                <a:cs typeface="Aptos"/>
              </a:rPr>
              <a:t>CLOSING ASK</a:t>
            </a:r>
          </a:p>
        </p:txBody>
      </p:sp>
      <p:sp>
        <p:nvSpPr>
          <p:cNvPr id="5" name="Rectangle 4">
            <a:extLst>
              <a:ext uri="{FF2B5EF4-FFF2-40B4-BE49-F238E27FC236}">
                <a16:creationId xmlns:a16="http://schemas.microsoft.com/office/drawing/2014/main" id="{99B58495-7686-4B72-B946-C92E9A04622C}"/>
              </a:ext>
            </a:extLst>
          </p:cNvPr>
          <p:cNvSpPr>
            <a:spLocks noGrp="1"/>
          </p:cNvSpPr>
          <p:nvPr/>
        </p:nvSpPr>
        <p:spPr>
          <a:xfrm>
            <a:off x="552450" y="1485900"/>
            <a:ext cx="5905500" cy="1314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750" b="1">
                <a:solidFill>
                  <a:srgbClr val="FFFFFF"/>
                </a:solidFill>
                <a:latin typeface="Aptos Display"/>
                <a:ea typeface="Aptos Display"/>
                <a:cs typeface="Aptos Display"/>
              </a:defRPr>
            </a:pPr>
            <a:r>
              <a:rPr sz="3750" b="1" dirty="0">
                <a:solidFill>
                  <a:srgbClr val="FFFFFF"/>
                </a:solidFill>
                <a:latin typeface="Aptos Display"/>
                <a:ea typeface="Aptos Display"/>
                <a:cs typeface="Aptos Display"/>
              </a:rPr>
              <a:t>Try it in one repo.</a:t>
            </a:r>
          </a:p>
          <a:p>
            <a:pPr algn="l">
              <a:defRPr sz="3750" b="1">
                <a:solidFill>
                  <a:srgbClr val="FFFFFF"/>
                </a:solidFill>
                <a:latin typeface="Aptos Display"/>
                <a:ea typeface="Aptos Display"/>
                <a:cs typeface="Aptos Display"/>
              </a:defRPr>
            </a:pPr>
            <a:r>
              <a:rPr sz="3750" b="1" dirty="0">
                <a:solidFill>
                  <a:srgbClr val="FFFFFF"/>
                </a:solidFill>
                <a:latin typeface="Aptos Display"/>
                <a:ea typeface="Aptos Display"/>
                <a:cs typeface="Aptos Display"/>
              </a:rPr>
              <a:t>Watch the memory compound.</a:t>
            </a:r>
          </a:p>
        </p:txBody>
      </p:sp>
      <p:sp>
        <p:nvSpPr>
          <p:cNvPr id="7" name="Rectangle 6">
            <a:extLst>
              <a:ext uri="{FF2B5EF4-FFF2-40B4-BE49-F238E27FC236}">
                <a16:creationId xmlns:a16="http://schemas.microsoft.com/office/drawing/2014/main" id="{4AA42270-CDBD-4CDE-BE58-E29798B7D91C}"/>
              </a:ext>
            </a:extLst>
          </p:cNvPr>
          <p:cNvSpPr>
            <a:spLocks noGrp="1"/>
          </p:cNvSpPr>
          <p:nvPr/>
        </p:nvSpPr>
        <p:spPr>
          <a:xfrm>
            <a:off x="7067550" y="1428750"/>
            <a:ext cx="3352800" cy="3448050"/>
          </a:xfrm>
          <a:prstGeom prst="rect">
            <a:avLst/>
          </a:prstGeom>
          <a:solidFill>
            <a:srgbClr val="13242B"/>
          </a:solidFill>
          <a:ln w="9525">
            <a:solidFill>
              <a:srgbClr val="405159"/>
            </a:solidFill>
            <a:prstDash val="solid"/>
          </a:ln>
        </p:spPr>
        <p:txBody>
          <a:bodyPr/>
          <a:lstStyle/>
          <a:p>
            <a:endParaRPr lang="en-US"/>
          </a:p>
        </p:txBody>
      </p:sp>
      <p:sp>
        <p:nvSpPr>
          <p:cNvPr id="8" name="Rectangle 7">
            <a:extLst>
              <a:ext uri="{FF2B5EF4-FFF2-40B4-BE49-F238E27FC236}">
                <a16:creationId xmlns:a16="http://schemas.microsoft.com/office/drawing/2014/main" id="{864DB120-0C4C-4A10-B537-3E9C2158A46C}"/>
              </a:ext>
            </a:extLst>
          </p:cNvPr>
          <p:cNvSpPr>
            <a:spLocks noGrp="1"/>
          </p:cNvSpPr>
          <p:nvPr/>
        </p:nvSpPr>
        <p:spPr>
          <a:xfrm>
            <a:off x="7391400" y="1752600"/>
            <a:ext cx="2381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What to remember</a:t>
            </a:r>
          </a:p>
        </p:txBody>
      </p:sp>
      <p:sp>
        <p:nvSpPr>
          <p:cNvPr id="9" name="Rectangle 8">
            <a:extLst>
              <a:ext uri="{FF2B5EF4-FFF2-40B4-BE49-F238E27FC236}">
                <a16:creationId xmlns:a16="http://schemas.microsoft.com/office/drawing/2014/main" id="{09150A49-BEE3-4687-931C-8E837EF32654}"/>
              </a:ext>
            </a:extLst>
          </p:cNvPr>
          <p:cNvSpPr>
            <a:spLocks noGrp="1"/>
          </p:cNvSpPr>
          <p:nvPr/>
        </p:nvSpPr>
        <p:spPr>
          <a:xfrm>
            <a:off x="7429500" y="2324100"/>
            <a:ext cx="361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75C2C"/>
                </a:solidFill>
                <a:latin typeface="Aptos Display"/>
                <a:ea typeface="Aptos Display"/>
                <a:cs typeface="Aptos Display"/>
              </a:defRPr>
            </a:pPr>
            <a:r>
              <a:rPr sz="1350" b="1">
                <a:solidFill>
                  <a:srgbClr val="C75C2C"/>
                </a:solidFill>
                <a:latin typeface="Aptos Display"/>
                <a:ea typeface="Aptos Display"/>
                <a:cs typeface="Aptos Display"/>
              </a:rPr>
              <a:t>01</a:t>
            </a:r>
          </a:p>
        </p:txBody>
      </p:sp>
      <p:sp>
        <p:nvSpPr>
          <p:cNvPr id="10" name="Rectangle 9">
            <a:extLst>
              <a:ext uri="{FF2B5EF4-FFF2-40B4-BE49-F238E27FC236}">
                <a16:creationId xmlns:a16="http://schemas.microsoft.com/office/drawing/2014/main" id="{2324E750-EC86-4966-8503-166F556B536C}"/>
              </a:ext>
            </a:extLst>
          </p:cNvPr>
          <p:cNvSpPr>
            <a:spLocks noGrp="1"/>
          </p:cNvSpPr>
          <p:nvPr/>
        </p:nvSpPr>
        <p:spPr>
          <a:xfrm>
            <a:off x="7924800" y="23241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FFFFFF"/>
                </a:solidFill>
                <a:latin typeface="Aptos"/>
                <a:ea typeface="Aptos"/>
                <a:cs typeface="Aptos"/>
              </a:defRPr>
            </a:pPr>
            <a:r>
              <a:rPr sz="938" b="1">
                <a:solidFill>
                  <a:srgbClr val="FFFFFF"/>
                </a:solidFill>
                <a:latin typeface="Aptos"/>
                <a:ea typeface="Aptos"/>
                <a:cs typeface="Aptos"/>
              </a:rPr>
              <a:t>Repository-native</a:t>
            </a:r>
          </a:p>
        </p:txBody>
      </p:sp>
      <p:sp>
        <p:nvSpPr>
          <p:cNvPr id="11" name="Rectangle 10">
            <a:extLst>
              <a:ext uri="{FF2B5EF4-FFF2-40B4-BE49-F238E27FC236}">
                <a16:creationId xmlns:a16="http://schemas.microsoft.com/office/drawing/2014/main" id="{951C2116-ACFF-42DD-8650-2F0E445C4169}"/>
              </a:ext>
            </a:extLst>
          </p:cNvPr>
          <p:cNvSpPr>
            <a:spLocks noGrp="1"/>
          </p:cNvSpPr>
          <p:nvPr/>
        </p:nvSpPr>
        <p:spPr>
          <a:xfrm>
            <a:off x="7924800" y="2524125"/>
            <a:ext cx="1962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AAB8BB"/>
                </a:solidFill>
                <a:latin typeface="Aptos"/>
                <a:ea typeface="Aptos"/>
                <a:cs typeface="Aptos"/>
              </a:defRPr>
            </a:pPr>
            <a:r>
              <a:rPr sz="713" b="0">
                <a:solidFill>
                  <a:srgbClr val="AAB8BB"/>
                </a:solidFill>
                <a:latin typeface="Aptos"/>
                <a:ea typeface="Aptos"/>
                <a:cs typeface="Aptos"/>
              </a:rPr>
              <a:t>Markdown + git stay the source of truth.</a:t>
            </a:r>
          </a:p>
        </p:txBody>
      </p:sp>
      <p:sp>
        <p:nvSpPr>
          <p:cNvPr id="12" name="Rectangle 11">
            <a:extLst>
              <a:ext uri="{FF2B5EF4-FFF2-40B4-BE49-F238E27FC236}">
                <a16:creationId xmlns:a16="http://schemas.microsoft.com/office/drawing/2014/main" id="{D9363A8F-6390-41A0-9C0F-D119326B60EF}"/>
              </a:ext>
            </a:extLst>
          </p:cNvPr>
          <p:cNvSpPr>
            <a:spLocks noGrp="1"/>
          </p:cNvSpPr>
          <p:nvPr/>
        </p:nvSpPr>
        <p:spPr>
          <a:xfrm>
            <a:off x="7429500" y="2876550"/>
            <a:ext cx="361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E7E78"/>
                </a:solidFill>
                <a:latin typeface="Aptos Display"/>
                <a:ea typeface="Aptos Display"/>
                <a:cs typeface="Aptos Display"/>
              </a:defRPr>
            </a:pPr>
            <a:r>
              <a:rPr sz="1350" b="1">
                <a:solidFill>
                  <a:srgbClr val="1E7E78"/>
                </a:solidFill>
                <a:latin typeface="Aptos Display"/>
                <a:ea typeface="Aptos Display"/>
                <a:cs typeface="Aptos Display"/>
              </a:rPr>
              <a:t>02</a:t>
            </a:r>
          </a:p>
        </p:txBody>
      </p:sp>
      <p:sp>
        <p:nvSpPr>
          <p:cNvPr id="13" name="Rectangle 12">
            <a:extLst>
              <a:ext uri="{FF2B5EF4-FFF2-40B4-BE49-F238E27FC236}">
                <a16:creationId xmlns:a16="http://schemas.microsoft.com/office/drawing/2014/main" id="{297C55C8-C6AA-4F7E-A3B9-46DD79EF18DE}"/>
              </a:ext>
            </a:extLst>
          </p:cNvPr>
          <p:cNvSpPr>
            <a:spLocks noGrp="1"/>
          </p:cNvSpPr>
          <p:nvPr/>
        </p:nvSpPr>
        <p:spPr>
          <a:xfrm>
            <a:off x="7924800" y="28765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FFFFFF"/>
                </a:solidFill>
                <a:latin typeface="Aptos"/>
                <a:ea typeface="Aptos"/>
                <a:cs typeface="Aptos"/>
              </a:defRPr>
            </a:pPr>
            <a:r>
              <a:rPr sz="938" b="1">
                <a:solidFill>
                  <a:srgbClr val="FFFFFF"/>
                </a:solidFill>
                <a:latin typeface="Aptos"/>
                <a:ea typeface="Aptos"/>
                <a:cs typeface="Aptos"/>
              </a:rPr>
              <a:t>Task-aware</a:t>
            </a:r>
          </a:p>
        </p:txBody>
      </p:sp>
      <p:sp>
        <p:nvSpPr>
          <p:cNvPr id="14" name="Rectangle 13">
            <a:extLst>
              <a:ext uri="{FF2B5EF4-FFF2-40B4-BE49-F238E27FC236}">
                <a16:creationId xmlns:a16="http://schemas.microsoft.com/office/drawing/2014/main" id="{9F371E3D-70AD-4C83-906A-6439B77EC834}"/>
              </a:ext>
            </a:extLst>
          </p:cNvPr>
          <p:cNvSpPr>
            <a:spLocks noGrp="1"/>
          </p:cNvSpPr>
          <p:nvPr/>
        </p:nvSpPr>
        <p:spPr>
          <a:xfrm>
            <a:off x="7924800" y="3076575"/>
            <a:ext cx="1962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AAB8BB"/>
                </a:solidFill>
                <a:latin typeface="Aptos"/>
                <a:ea typeface="Aptos"/>
                <a:cs typeface="Aptos"/>
              </a:defRPr>
            </a:pPr>
            <a:r>
              <a:rPr sz="713" b="0">
                <a:solidFill>
                  <a:srgbClr val="AAB8BB"/>
                </a:solidFill>
                <a:latin typeface="Aptos"/>
                <a:ea typeface="Aptos"/>
                <a:cs typeface="Aptos"/>
              </a:rPr>
              <a:t>Agents start with relevant memory, not a giant prompt.</a:t>
            </a:r>
          </a:p>
        </p:txBody>
      </p:sp>
      <p:sp>
        <p:nvSpPr>
          <p:cNvPr id="15" name="Rectangle 14">
            <a:extLst>
              <a:ext uri="{FF2B5EF4-FFF2-40B4-BE49-F238E27FC236}">
                <a16:creationId xmlns:a16="http://schemas.microsoft.com/office/drawing/2014/main" id="{B5F02050-22E7-4D9B-9E5A-AAAC11F4C2A3}"/>
              </a:ext>
            </a:extLst>
          </p:cNvPr>
          <p:cNvSpPr>
            <a:spLocks noGrp="1"/>
          </p:cNvSpPr>
          <p:nvPr/>
        </p:nvSpPr>
        <p:spPr>
          <a:xfrm>
            <a:off x="7429500" y="3429000"/>
            <a:ext cx="361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75C2C"/>
                </a:solidFill>
                <a:latin typeface="Aptos Display"/>
                <a:ea typeface="Aptos Display"/>
                <a:cs typeface="Aptos Display"/>
              </a:defRPr>
            </a:pPr>
            <a:r>
              <a:rPr sz="1350" b="1">
                <a:solidFill>
                  <a:srgbClr val="C75C2C"/>
                </a:solidFill>
                <a:latin typeface="Aptos Display"/>
                <a:ea typeface="Aptos Display"/>
                <a:cs typeface="Aptos Display"/>
              </a:rPr>
              <a:t>03</a:t>
            </a:r>
          </a:p>
        </p:txBody>
      </p:sp>
      <p:sp>
        <p:nvSpPr>
          <p:cNvPr id="16" name="Rectangle 15">
            <a:extLst>
              <a:ext uri="{FF2B5EF4-FFF2-40B4-BE49-F238E27FC236}">
                <a16:creationId xmlns:a16="http://schemas.microsoft.com/office/drawing/2014/main" id="{C5F20B0F-CB07-4700-A92E-D473C4341058}"/>
              </a:ext>
            </a:extLst>
          </p:cNvPr>
          <p:cNvSpPr>
            <a:spLocks noGrp="1"/>
          </p:cNvSpPr>
          <p:nvPr/>
        </p:nvSpPr>
        <p:spPr>
          <a:xfrm>
            <a:off x="7924800" y="34290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FFFFFF"/>
                </a:solidFill>
                <a:latin typeface="Aptos"/>
                <a:ea typeface="Aptos"/>
                <a:cs typeface="Aptos"/>
              </a:defRPr>
            </a:pPr>
            <a:r>
              <a:rPr sz="938" b="1">
                <a:solidFill>
                  <a:srgbClr val="FFFFFF"/>
                </a:solidFill>
                <a:latin typeface="Aptos"/>
                <a:ea typeface="Aptos"/>
                <a:cs typeface="Aptos"/>
              </a:rPr>
              <a:t>Write-back</a:t>
            </a:r>
          </a:p>
        </p:txBody>
      </p:sp>
      <p:sp>
        <p:nvSpPr>
          <p:cNvPr id="17" name="Rectangle 16">
            <a:extLst>
              <a:ext uri="{FF2B5EF4-FFF2-40B4-BE49-F238E27FC236}">
                <a16:creationId xmlns:a16="http://schemas.microsoft.com/office/drawing/2014/main" id="{13BA6371-F717-4201-A9E2-1DA30763FE9F}"/>
              </a:ext>
            </a:extLst>
          </p:cNvPr>
          <p:cNvSpPr>
            <a:spLocks noGrp="1"/>
          </p:cNvSpPr>
          <p:nvPr/>
        </p:nvSpPr>
        <p:spPr>
          <a:xfrm>
            <a:off x="7924800" y="3629025"/>
            <a:ext cx="1962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AAB8BB"/>
                </a:solidFill>
                <a:latin typeface="Aptos"/>
                <a:ea typeface="Aptos"/>
                <a:cs typeface="Aptos"/>
              </a:defRPr>
            </a:pPr>
            <a:r>
              <a:rPr sz="713" b="0">
                <a:solidFill>
                  <a:srgbClr val="AAB8BB"/>
                </a:solidFill>
                <a:latin typeface="Aptos"/>
                <a:ea typeface="Aptos"/>
                <a:cs typeface="Aptos"/>
              </a:rPr>
              <a:t>Useful lessons can become durable team context.</a:t>
            </a:r>
          </a:p>
        </p:txBody>
      </p:sp>
      <p:sp>
        <p:nvSpPr>
          <p:cNvPr id="18" name="Rectangle 17">
            <a:extLst>
              <a:ext uri="{FF2B5EF4-FFF2-40B4-BE49-F238E27FC236}">
                <a16:creationId xmlns:a16="http://schemas.microsoft.com/office/drawing/2014/main" id="{6ECB75D0-C3D4-4F53-9A55-5BD2C5349A91}"/>
              </a:ext>
            </a:extLst>
          </p:cNvPr>
          <p:cNvSpPr>
            <a:spLocks noGrp="1"/>
          </p:cNvSpPr>
          <p:nvPr/>
        </p:nvSpPr>
        <p:spPr>
          <a:xfrm>
            <a:off x="7429500" y="3981450"/>
            <a:ext cx="361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E7E78"/>
                </a:solidFill>
                <a:latin typeface="Aptos Display"/>
                <a:ea typeface="Aptos Display"/>
                <a:cs typeface="Aptos Display"/>
              </a:defRPr>
            </a:pPr>
            <a:r>
              <a:rPr sz="1350" b="1">
                <a:solidFill>
                  <a:srgbClr val="1E7E78"/>
                </a:solidFill>
                <a:latin typeface="Aptos Display"/>
                <a:ea typeface="Aptos Display"/>
                <a:cs typeface="Aptos Display"/>
              </a:rPr>
              <a:t>04</a:t>
            </a:r>
          </a:p>
        </p:txBody>
      </p:sp>
      <p:sp>
        <p:nvSpPr>
          <p:cNvPr id="19" name="Rectangle 18">
            <a:extLst>
              <a:ext uri="{FF2B5EF4-FFF2-40B4-BE49-F238E27FC236}">
                <a16:creationId xmlns:a16="http://schemas.microsoft.com/office/drawing/2014/main" id="{C5F46B15-0075-4C53-9880-A33593E0B1DB}"/>
              </a:ext>
            </a:extLst>
          </p:cNvPr>
          <p:cNvSpPr>
            <a:spLocks noGrp="1"/>
          </p:cNvSpPr>
          <p:nvPr/>
        </p:nvSpPr>
        <p:spPr>
          <a:xfrm>
            <a:off x="7924800" y="39814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FFFFFF"/>
                </a:solidFill>
                <a:latin typeface="Aptos"/>
                <a:ea typeface="Aptos"/>
                <a:cs typeface="Aptos"/>
              </a:defRPr>
            </a:pPr>
            <a:r>
              <a:rPr sz="938" b="1">
                <a:solidFill>
                  <a:srgbClr val="FFFFFF"/>
                </a:solidFill>
                <a:latin typeface="Aptos"/>
                <a:ea typeface="Aptos"/>
                <a:cs typeface="Aptos"/>
              </a:rPr>
              <a:t>Strict boundaries</a:t>
            </a:r>
          </a:p>
        </p:txBody>
      </p:sp>
      <p:sp>
        <p:nvSpPr>
          <p:cNvPr id="20" name="Rectangle 19">
            <a:extLst>
              <a:ext uri="{FF2B5EF4-FFF2-40B4-BE49-F238E27FC236}">
                <a16:creationId xmlns:a16="http://schemas.microsoft.com/office/drawing/2014/main" id="{F6B8076B-3BD5-46D9-96DF-1FED51C2823C}"/>
              </a:ext>
            </a:extLst>
          </p:cNvPr>
          <p:cNvSpPr>
            <a:spLocks noGrp="1"/>
          </p:cNvSpPr>
          <p:nvPr/>
        </p:nvSpPr>
        <p:spPr>
          <a:xfrm>
            <a:off x="7924800" y="4181475"/>
            <a:ext cx="1962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AAB8BB"/>
                </a:solidFill>
                <a:latin typeface="Aptos"/>
                <a:ea typeface="Aptos"/>
                <a:cs typeface="Aptos"/>
              </a:defRPr>
            </a:pPr>
            <a:r>
              <a:rPr sz="713" b="0">
                <a:solidFill>
                  <a:srgbClr val="AAB8BB"/>
                </a:solidFill>
                <a:latin typeface="Aptos"/>
                <a:ea typeface="Aptos"/>
                <a:cs typeface="Aptos"/>
              </a:rPr>
              <a:t>Managed files evolve without touching user-owned docs.</a:t>
            </a:r>
          </a:p>
        </p:txBody>
      </p:sp>
      <p:sp>
        <p:nvSpPr>
          <p:cNvPr id="21" name="Rectangle 20">
            <a:extLst>
              <a:ext uri="{FF2B5EF4-FFF2-40B4-BE49-F238E27FC236}">
                <a16:creationId xmlns:a16="http://schemas.microsoft.com/office/drawing/2014/main" id="{539927A8-11E5-4EB1-9B3E-6875859C4C7A}"/>
              </a:ext>
            </a:extLst>
          </p:cNvPr>
          <p:cNvSpPr>
            <a:spLocks noGrp="1"/>
          </p:cNvSpPr>
          <p:nvPr/>
        </p:nvSpPr>
        <p:spPr>
          <a:xfrm>
            <a:off x="590550" y="4610100"/>
            <a:ext cx="5314950" cy="9525"/>
          </a:xfrm>
          <a:prstGeom prst="rect">
            <a:avLst/>
          </a:prstGeom>
          <a:solidFill>
            <a:srgbClr val="405159"/>
          </a:solidFill>
          <a:ln w="0">
            <a:solidFill>
              <a:srgbClr val="405159"/>
            </a:solidFill>
            <a:prstDash val="solid"/>
          </a:ln>
        </p:spPr>
        <p:txBody>
          <a:bodyPr/>
          <a:lstStyle/>
          <a:p>
            <a:endParaRPr lang="en-US"/>
          </a:p>
        </p:txBody>
      </p:sp>
      <p:sp>
        <p:nvSpPr>
          <p:cNvPr id="22" name="Rectangle 21">
            <a:extLst>
              <a:ext uri="{FF2B5EF4-FFF2-40B4-BE49-F238E27FC236}">
                <a16:creationId xmlns:a16="http://schemas.microsoft.com/office/drawing/2014/main" id="{C08BB8B0-B177-4DA5-8572-75BBFEF90AF4}"/>
              </a:ext>
            </a:extLst>
          </p:cNvPr>
          <p:cNvSpPr>
            <a:spLocks noGrp="1"/>
          </p:cNvSpPr>
          <p:nvPr/>
        </p:nvSpPr>
        <p:spPr>
          <a:xfrm>
            <a:off x="590550" y="48958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Display"/>
                <a:ea typeface="Aptos Display"/>
                <a:cs typeface="Aptos Display"/>
              </a:defRPr>
            </a:pPr>
            <a:r>
              <a:rPr sz="1500" b="1" dirty="0">
                <a:solidFill>
                  <a:srgbClr val="FFFFFF"/>
                </a:solidFill>
                <a:latin typeface="Aptos Display"/>
                <a:ea typeface="Aptos Display"/>
                <a:cs typeface="Aptos Display"/>
              </a:rPr>
              <a:t>Good Q&amp;A prompts</a:t>
            </a:r>
          </a:p>
        </p:txBody>
      </p:sp>
      <p:sp>
        <p:nvSpPr>
          <p:cNvPr id="23" name="Rectangle 22">
            <a:extLst>
              <a:ext uri="{FF2B5EF4-FFF2-40B4-BE49-F238E27FC236}">
                <a16:creationId xmlns:a16="http://schemas.microsoft.com/office/drawing/2014/main" id="{55CB722E-1D65-42DD-A687-48F87AE1D1D2}"/>
              </a:ext>
            </a:extLst>
          </p:cNvPr>
          <p:cNvSpPr>
            <a:spLocks noGrp="1"/>
          </p:cNvSpPr>
          <p:nvPr/>
        </p:nvSpPr>
        <p:spPr>
          <a:xfrm>
            <a:off x="590550" y="5219700"/>
            <a:ext cx="5334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B8C5C8"/>
                </a:solidFill>
                <a:latin typeface="Aptos"/>
                <a:ea typeface="Aptos"/>
                <a:cs typeface="Aptos"/>
              </a:defRPr>
            </a:pPr>
            <a:r>
              <a:rPr sz="938" b="0" dirty="0">
                <a:solidFill>
                  <a:srgbClr val="B8C5C8"/>
                </a:solidFill>
                <a:latin typeface="Aptos"/>
                <a:ea typeface="Aptos"/>
                <a:cs typeface="Aptos"/>
              </a:rPr>
              <a:t>Where should memory live? What should agents write back? How do we prevent package updates from overwriting team knowledge?</a:t>
            </a:r>
          </a:p>
        </p:txBody>
      </p:sp>
      <p:sp>
        <p:nvSpPr>
          <p:cNvPr id="24" name="Rectangle 23">
            <a:extLst>
              <a:ext uri="{FF2B5EF4-FFF2-40B4-BE49-F238E27FC236}">
                <a16:creationId xmlns:a16="http://schemas.microsoft.com/office/drawing/2014/main" id="{E2D9693A-6768-43D5-A756-7F3E017BF8E2}"/>
              </a:ext>
            </a:extLst>
          </p:cNvPr>
          <p:cNvSpPr>
            <a:spLocks noGrp="1"/>
          </p:cNvSpPr>
          <p:nvPr/>
        </p:nvSpPr>
        <p:spPr>
          <a:xfrm>
            <a:off x="552450" y="6343650"/>
            <a:ext cx="9715500" cy="9525"/>
          </a:xfrm>
          <a:prstGeom prst="rect">
            <a:avLst/>
          </a:prstGeom>
          <a:solidFill>
            <a:srgbClr val="37454C"/>
          </a:solidFill>
          <a:ln w="0">
            <a:solidFill>
              <a:srgbClr val="37454C"/>
            </a:solidFill>
            <a:prstDash val="solid"/>
          </a:ln>
        </p:spPr>
        <p:txBody>
          <a:bodyPr/>
          <a:lstStyle/>
          <a:p>
            <a:endParaRPr lang="en-US"/>
          </a:p>
        </p:txBody>
      </p:sp>
      <p:sp>
        <p:nvSpPr>
          <p:cNvPr id="25" name="Rectangle 24">
            <a:extLst>
              <a:ext uri="{FF2B5EF4-FFF2-40B4-BE49-F238E27FC236}">
                <a16:creationId xmlns:a16="http://schemas.microsoft.com/office/drawing/2014/main" id="{F28553A1-772C-4586-9119-DE5BDEE1D134}"/>
              </a:ext>
            </a:extLst>
          </p:cNvPr>
          <p:cNvSpPr>
            <a:spLocks noGrp="1"/>
          </p:cNvSpPr>
          <p:nvPr/>
        </p:nvSpPr>
        <p:spPr>
          <a:xfrm>
            <a:off x="552450" y="6457950"/>
            <a:ext cx="685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4A3A8"/>
                </a:solidFill>
                <a:latin typeface="Aptos"/>
                <a:ea typeface="Aptos"/>
                <a:cs typeface="Aptos"/>
              </a:defRPr>
            </a:pPr>
            <a:r>
              <a:rPr sz="638" b="0">
                <a:solidFill>
                  <a:srgbClr val="94A3A8"/>
                </a:solidFill>
                <a:latin typeface="Aptos"/>
                <a:ea typeface="Aptos"/>
                <a:cs typeface="Aptos"/>
              </a:rPr>
              <a:t>Next step: install in a small repo and run one complete task loop</a:t>
            </a:r>
          </a:p>
        </p:txBody>
      </p:sp>
      <p:sp>
        <p:nvSpPr>
          <p:cNvPr id="26" name="Rectangle 25">
            <a:extLst>
              <a:ext uri="{FF2B5EF4-FFF2-40B4-BE49-F238E27FC236}">
                <a16:creationId xmlns:a16="http://schemas.microsoft.com/office/drawing/2014/main" id="{F0F98A1B-07C2-4A5E-A9AD-A5D34E4F5BFD}"/>
              </a:ext>
            </a:extLst>
          </p:cNvPr>
          <p:cNvSpPr>
            <a:spLocks noGrp="1"/>
          </p:cNvSpPr>
          <p:nvPr/>
        </p:nvSpPr>
        <p:spPr>
          <a:xfrm>
            <a:off x="107251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94A3A8"/>
                </a:solidFill>
                <a:latin typeface="Aptos"/>
                <a:ea typeface="Aptos"/>
                <a:cs typeface="Aptos"/>
              </a:defRPr>
            </a:pPr>
            <a:r>
              <a:rPr sz="900" b="1">
                <a:solidFill>
                  <a:srgbClr val="94A3A8"/>
                </a:solidFill>
                <a:latin typeface="Aptos"/>
                <a:ea typeface="Aptos"/>
                <a:cs typeface="Aptos"/>
              </a:rPr>
              <a:t>08</a:t>
            </a:r>
          </a:p>
        </p:txBody>
      </p:sp>
    </p:spTree>
    <p:extLst>
      <p:ext uri="{BB962C8B-B14F-4D97-AF65-F5344CB8AC3E}">
        <p14:creationId xmlns:p14="http://schemas.microsoft.com/office/powerpoint/2010/main" val="13492052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6941</TotalTime>
  <Words>980</Words>
  <Application>Microsoft Macintosh PowerPoint</Application>
  <DocSecurity>0</DocSecurity>
  <PresentationFormat>Widescreen</PresentationFormat>
  <Paragraphs>200</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Aptos Mono</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Bocheng Yin</cp:lastModifiedBy>
  <cp:revision>4</cp:revision>
  <dcterms:created xsi:type="dcterms:W3CDTF">2026-05-10T12:00:30Z</dcterms:created>
  <dcterms:modified xsi:type="dcterms:W3CDTF">2026-05-21T09:17:03Z</dcterms:modified>
</cp:coreProperties>
</file>